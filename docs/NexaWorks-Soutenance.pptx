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le projet NexaWorks : la conception et la création d'une base de données pour suivre les problèmes des logiciels de l'entreprise. Je commencerai par vous montrer la solution qui fonctionne, puis je détaillerai comment je l'ai construite.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NexaWorks édite des logiciels, chacun en plusieurs versions, compatibles avec différents systèmes d'exploitation. L'entreprise n'a aucun outil pour tracer les problèmes rencontrés. Ma mission : concevoir et créer cette base de données, la remplir, et fournir les requêtes pour l'interroger.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je montre d'abord que ça marche. Je lance le programme en direct : il remplit la base puis exécute les 20 requêtes demandées. On voit tout de suite des résultats cohérents. Une fois rassurés que la solution fonctionne, je vais expliquer comment je l'ai construite.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modèle : six tables. Produit, Version qui appartient à un produit, OS, la table d'association Compatibilite qui relie versions et OS, Statut, et Ticket au centre. Un ticket concerne une compatibilité, donc une version sur un OS, et a un statut.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 choix : la 3e forme normale, le produit se déduit du ticket via sa version, on ne le stocke pas. Une table d'association pour le plusieurs-à-plusieurs entre versions et OS, avec une contrainte d'unicité. Une seule clé étrangère sur le ticket, vers une compatibilité déjà validée, ce qui garantit un couple compatible. Et le numéro de version en texte car ce n'est pas un nombre.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créé 25 tickets réalistes, en respectant la matrice de compatibilité : l'OS d'un ticket est toujours compatible avec sa version. Ils couvrent les 4 produits, les 12 versions, les 6 OS, au moins 3 de chaque, avec un mélange de 14 résolus et 11 en cours, comme demandé.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premier ticket : les cours à 0,00 sur un PC français, à cause du format des nombres, virgule contre point. En forçant un format fixe, le programme lit correctement le point décimal : la solution répond directement au problème. Le second : le solde qui ne se rafraîchit pas ; on prévient l'affichage du changement, et il se met à jour automatiquement.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choisi le Code-First : on écrit des classes C# pour chaque table, puis EF Core génère la base à partir d'une migration. C'est l'approche la plus courante en entreprise. En bonus, j'ai aussi écrit le schéma entièrement en SQL pur.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remplir la base, un code crée les objets et les relie par leurs propriétés de navigation, puis un seul enregistrement envoie tout d'un coup dans une transaction. Au total : 4 produits, 6 OS, 2 statuts, 12 versions, 44 compatibilités et 25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cœur de l'optimisation : les 20 requêtes ne varient que par cinq critères : statut, produit, version, période, mots-clés. J'en ai fait une seule requête paramétrée, où chaque critère est optionnel. Un paramètre vide est ignoré. Cette unique requête répond aux 20 demandes, bien en dessous de la limite de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fourni la requête de deux façons : en LINQ dans le projet .NET, et en procédure stockée T-SQL dans la base. La version LINQ construit les filtres à la volée et se traduit en une seule requête SQL ; la procédure utilise le motif paramètre-vide-ou-condition. Les deux donnent exactement les mêmes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documentation, un fichier Excel reprend les 20 demandes avec pour chacune le but, les paramètres, le résultat attendu et le résultat obtenu. Enfin, une sauvegarde complète de la base au format .bak, restaurable ailleurs, est déposée sur GitHub avec l'ensemble du projet.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bilan, ce projet m'a fait progresser sur la modélisation et la normalisation, sur la création d'une base en Code-First avec EF Core, sur l'interrogation en LINQ et en SQL avec l'optimisation des requêtes, et sur la rigueur des livrables. Je vous remercie et je réponds à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367528" y="868680"/>
            <a:ext cx="1463040" cy="1463040"/>
          </a:xfrm>
          <a:prstGeom prst="roundRect">
            <a:avLst>
              <a:gd name="adj" fmla="val 7500"/>
            </a:avLst>
          </a:prstGeom>
          <a:solidFill>
            <a:srgbClr val="FFFFFF"/>
          </a:solidFill>
          <a:ln w="12700">
            <a:solidFill>
              <a:srgbClr val="30363D"/>
            </a:solidFill>
            <a:prstDash val="solid"/>
          </a:ln>
          <a:effectLst>
            <a:outerShdw sx="100000" sy="100000" kx="0" ky="0" algn="bl" rotWithShape="0" blurRad="101600" dist="38100" dir="5400000">
              <a:srgbClr val="000000">
                <a:alpha val="45000"/>
              </a:srgbClr>
            </a:outerShdw>
          </a:effectLst>
        </p:spPr>
      </p:sp>
      <p:pic>
        <p:nvPicPr>
          <p:cNvPr id="3" name="Image 0" descr="logo.png">    </p:cNvPr>
          <p:cNvPicPr>
            <a:picLocks noChangeAspect="1"/>
          </p:cNvPicPr>
          <p:nvPr/>
        </p:nvPicPr>
        <p:blipFill>
          <a:blip r:embed="rId1"/>
          <a:stretch>
            <a:fillRect/>
          </a:stretch>
        </p:blipFill>
        <p:spPr>
          <a:xfrm>
            <a:off x="5486400" y="987552"/>
            <a:ext cx="1225296" cy="1225296"/>
          </a:xfrm>
          <a:prstGeom prst="rect">
            <a:avLst/>
          </a:prstGeom>
        </p:spPr>
      </p:pic>
      <p:sp>
        <p:nvSpPr>
          <p:cNvPr id="4" name="Text 1"/>
          <p:cNvSpPr/>
          <p:nvPr/>
        </p:nvSpPr>
        <p:spPr>
          <a:xfrm>
            <a:off x="914400" y="2697480"/>
            <a:ext cx="10360152" cy="914400"/>
          </a:xfrm>
          <a:prstGeom prst="rect">
            <a:avLst/>
          </a:prstGeom>
          <a:noFill/>
          <a:ln/>
        </p:spPr>
        <p:txBody>
          <a:bodyPr wrap="square" lIns="0" tIns="0" rIns="0" bIns="0" rtlCol="0" anchor="ctr"/>
          <a:lstStyle/>
          <a:p>
            <a:pPr algn="ctr" indent="0" marL="0">
              <a:buNone/>
            </a:pPr>
            <a:r>
              <a:rPr lang="en-US" sz="5200" b="1" dirty="0">
                <a:solidFill>
                  <a:srgbClr val="E6EDF3"/>
                </a:solidFill>
                <a:latin typeface="Consolas" pitchFamily="34" charset="0"/>
                <a:ea typeface="Consolas" pitchFamily="34" charset="-122"/>
                <a:cs typeface="Consolas" pitchFamily="34" charset="-120"/>
              </a:rPr>
              <a:t>NexaWorks</a:t>
            </a:r>
            <a:endParaRPr lang="en-US" sz="5200" dirty="0"/>
          </a:p>
        </p:txBody>
      </p:sp>
      <p:sp>
        <p:nvSpPr>
          <p:cNvPr id="5" name="Text 2"/>
          <p:cNvSpPr/>
          <p:nvPr/>
        </p:nvSpPr>
        <p:spPr>
          <a:xfrm>
            <a:off x="914400" y="3657600"/>
            <a:ext cx="10360152" cy="457200"/>
          </a:xfrm>
          <a:prstGeom prst="rect">
            <a:avLst/>
          </a:prstGeom>
          <a:noFill/>
          <a:ln/>
        </p:spPr>
        <p:txBody>
          <a:bodyPr wrap="square" lIns="0" tIns="0" rIns="0" bIns="0" rtlCol="0" anchor="ctr"/>
          <a:lstStyle/>
          <a:p>
            <a:pPr algn="ctr" indent="0" marL="0">
              <a:buNone/>
            </a:pPr>
            <a:r>
              <a:rPr lang="en-US" sz="2000" dirty="0">
                <a:solidFill>
                  <a:srgbClr val="79C0FF"/>
                </a:solidFill>
                <a:latin typeface="Calibri" pitchFamily="34" charset="0"/>
                <a:ea typeface="Calibri" pitchFamily="34" charset="-122"/>
                <a:cs typeface="Calibri" pitchFamily="34" charset="-120"/>
              </a:rPr>
              <a:t>Base de données de suivi des problèmes logiciels</a:t>
            </a:r>
            <a:endParaRPr lang="en-US" sz="2000" dirty="0"/>
          </a:p>
        </p:txBody>
      </p:sp>
      <p:sp>
        <p:nvSpPr>
          <p:cNvPr id="6" name="Text 3"/>
          <p:cNvSpPr/>
          <p:nvPr/>
        </p:nvSpPr>
        <p:spPr>
          <a:xfrm>
            <a:off x="914400" y="4343400"/>
            <a:ext cx="10360152" cy="457200"/>
          </a:xfrm>
          <a:prstGeom prst="rect">
            <a:avLst/>
          </a:prstGeom>
          <a:noFill/>
          <a:ln/>
        </p:spPr>
        <p:txBody>
          <a:bodyPr wrap="square" lIns="0" tIns="0" rIns="0" bIns="0" rtlCol="0" anchor="ctr"/>
          <a:lstStyle/>
          <a:p>
            <a:pPr algn="ctr" indent="0" marL="0">
              <a:buNone/>
            </a:pPr>
            <a:r>
              <a:rPr lang="en-US" sz="1400" dirty="0">
                <a:solidFill>
                  <a:srgbClr val="8B949E"/>
                </a:solidFill>
                <a:latin typeface="Calibri" pitchFamily="34" charset="0"/>
                <a:ea typeface="Calibri" pitchFamily="34" charset="-122"/>
                <a:cs typeface="Calibri" pitchFamily="34" charset="-120"/>
              </a:rPr>
              <a:t>Projet 6 — Conception et création d'une base de données pour une application .NET</a:t>
            </a:r>
            <a:endParaRPr lang="en-US" sz="1400" dirty="0"/>
          </a:p>
        </p:txBody>
      </p:sp>
      <p:sp>
        <p:nvSpPr>
          <p:cNvPr id="7" name="Text 4"/>
          <p:cNvSpPr/>
          <p:nvPr/>
        </p:nvSpPr>
        <p:spPr>
          <a:xfrm>
            <a:off x="914400" y="5806440"/>
            <a:ext cx="10360152" cy="365760"/>
          </a:xfrm>
          <a:prstGeom prst="rect">
            <a:avLst/>
          </a:prstGeom>
          <a:noFill/>
          <a:ln/>
        </p:spPr>
        <p:txBody>
          <a:bodyPr wrap="square" lIns="0" tIns="0" rIns="0" bIns="0" rtlCol="0" anchor="ctr"/>
          <a:lstStyle/>
          <a:p>
            <a:pPr algn="ctr" indent="0" marL="0">
              <a:buNone/>
            </a:pPr>
            <a:r>
              <a:rPr lang="en-US" sz="1500" dirty="0">
                <a:solidFill>
                  <a:srgbClr val="7EE787"/>
                </a:solidFill>
                <a:latin typeface="Consolas" pitchFamily="34" charset="0"/>
                <a:ea typeface="Consolas" pitchFamily="34" charset="-122"/>
                <a:cs typeface="Consolas" pitchFamily="34" charset="-120"/>
              </a:rPr>
              <a:t>&gt; </a:t>
            </a:r>
            <a:pPr algn="ctr" indent="0" marL="0">
              <a:buNone/>
            </a:pPr>
            <a:r>
              <a:rPr lang="en-US" sz="1500" dirty="0">
                <a:solidFill>
                  <a:srgbClr val="8B949E"/>
                </a:solidFill>
                <a:latin typeface="Consolas" pitchFamily="34" charset="0"/>
                <a:ea typeface="Consolas" pitchFamily="34" charset="-122"/>
                <a:cs typeface="Consolas" pitchFamily="34" charset="-120"/>
              </a:rPr>
              <a:t>présenté par </a:t>
            </a:r>
            <a:pPr algn="ctr" indent="0" marL="0">
              <a:buNone/>
            </a:pPr>
            <a:r>
              <a:rPr lang="en-US" sz="1500" dirty="0">
                <a:solidFill>
                  <a:srgbClr val="FF7B72"/>
                </a:solidFill>
                <a:latin typeface="Consolas" pitchFamily="34" charset="0"/>
                <a:ea typeface="Consolas" pitchFamily="34" charset="-122"/>
                <a:cs typeface="Consolas" pitchFamily="34" charset="-120"/>
              </a:rPr>
              <a:t>Dominique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dirty="0">
                <a:solidFill>
                  <a:srgbClr val="7EE787"/>
                </a:solidFill>
                <a:latin typeface="Consolas" pitchFamily="34" charset="0"/>
                <a:ea typeface="Consolas" pitchFamily="34" charset="-122"/>
                <a:cs typeface="Consolas" pitchFamily="34" charset="-120"/>
              </a:rPr>
              <a:t>// le projet</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indent="0" marL="0">
              <a:buNone/>
            </a:pPr>
            <a:r>
              <a:rPr lang="en-US" sz="2600" b="1" dirty="0">
                <a:solidFill>
                  <a:srgbClr val="E6EDF3"/>
                </a:solidFill>
                <a:latin typeface="Consolas" pitchFamily="34" charset="0"/>
                <a:ea typeface="Consolas" pitchFamily="34" charset="-122"/>
                <a:cs typeface="Consolas" pitchFamily="34" charset="-120"/>
              </a:rPr>
              <a:t>Le contexte et le besoin</a:t>
            </a:r>
            <a:endParaRPr lang="en-US" sz="2600" dirty="0"/>
          </a:p>
        </p:txBody>
      </p:sp>
      <p:sp>
        <p:nvSpPr>
          <p:cNvPr id="4" name="Shape 2"/>
          <p:cNvSpPr/>
          <p:nvPr/>
        </p:nvSpPr>
        <p:spPr>
          <a:xfrm>
            <a:off x="548640" y="1783080"/>
            <a:ext cx="5577840" cy="4206240"/>
          </a:xfrm>
          <a:prstGeom prst="roundRect">
            <a:avLst>
              <a:gd name="adj" fmla="val 1304"/>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5" name="Text 3"/>
          <p:cNvSpPr/>
          <p:nvPr/>
        </p:nvSpPr>
        <p:spPr>
          <a:xfrm>
            <a:off x="868680" y="2057400"/>
            <a:ext cx="5029200" cy="45720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NexaWorks édite plusieurs logiciels.</a:t>
            </a:r>
            <a:endParaRPr lang="en-US" sz="1600" dirty="0"/>
          </a:p>
        </p:txBody>
      </p:sp>
      <p:sp>
        <p:nvSpPr>
          <p:cNvPr id="6" name="Shape 4"/>
          <p:cNvSpPr/>
          <p:nvPr/>
        </p:nvSpPr>
        <p:spPr>
          <a:xfrm>
            <a:off x="868680" y="2852928"/>
            <a:ext cx="128016" cy="128016"/>
          </a:xfrm>
          <a:prstGeom prst="rect">
            <a:avLst/>
          </a:prstGeom>
          <a:solidFill>
            <a:srgbClr val="FF7B72"/>
          </a:solidFill>
          <a:ln/>
        </p:spPr>
      </p:sp>
      <p:sp>
        <p:nvSpPr>
          <p:cNvPr id="7" name="Text 5"/>
          <p:cNvSpPr/>
          <p:nvPr/>
        </p:nvSpPr>
        <p:spPr>
          <a:xfrm>
            <a:off x="1161288" y="2743200"/>
            <a:ext cx="464515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Des produits  </a:t>
            </a:r>
            <a:pPr indent="0" marL="0">
              <a:buNone/>
            </a:pPr>
            <a:r>
              <a:rPr lang="en-US" sz="1450" dirty="0">
                <a:solidFill>
                  <a:srgbClr val="8B949E"/>
                </a:solidFill>
                <a:latin typeface="Calibri" pitchFamily="34" charset="0"/>
                <a:ea typeface="Calibri" pitchFamily="34" charset="-122"/>
                <a:cs typeface="Calibri" pitchFamily="34" charset="-120"/>
              </a:rPr>
              <a:t>chacun en plusieurs versions (1.0, 1.1, 2.0...).</a:t>
            </a:r>
            <a:endParaRPr lang="en-US" sz="1450" dirty="0"/>
          </a:p>
        </p:txBody>
      </p:sp>
      <p:sp>
        <p:nvSpPr>
          <p:cNvPr id="8" name="Shape 6"/>
          <p:cNvSpPr/>
          <p:nvPr/>
        </p:nvSpPr>
        <p:spPr>
          <a:xfrm>
            <a:off x="868680" y="3584448"/>
            <a:ext cx="128016" cy="128016"/>
          </a:xfrm>
          <a:prstGeom prst="rect">
            <a:avLst/>
          </a:prstGeom>
          <a:solidFill>
            <a:srgbClr val="FF7B72"/>
          </a:solidFill>
          <a:ln/>
        </p:spPr>
      </p:sp>
      <p:sp>
        <p:nvSpPr>
          <p:cNvPr id="9" name="Text 7"/>
          <p:cNvSpPr/>
          <p:nvPr/>
        </p:nvSpPr>
        <p:spPr>
          <a:xfrm>
            <a:off x="1161288" y="3474720"/>
            <a:ext cx="464515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Des systèmes d'exploitation  </a:t>
            </a:r>
            <a:pPr indent="0" marL="0">
              <a:buNone/>
            </a:pPr>
            <a:r>
              <a:rPr lang="en-US" sz="1450" dirty="0">
                <a:solidFill>
                  <a:srgbClr val="8B949E"/>
                </a:solidFill>
                <a:latin typeface="Calibri" pitchFamily="34" charset="0"/>
                <a:ea typeface="Calibri" pitchFamily="34" charset="-122"/>
                <a:cs typeface="Calibri" pitchFamily="34" charset="-120"/>
              </a:rPr>
              <a:t>Windows, MacOS, Linux, Android, iOS, Windows Mobile.</a:t>
            </a:r>
            <a:endParaRPr lang="en-US" sz="1450" dirty="0"/>
          </a:p>
        </p:txBody>
      </p:sp>
      <p:sp>
        <p:nvSpPr>
          <p:cNvPr id="10" name="Shape 8"/>
          <p:cNvSpPr/>
          <p:nvPr/>
        </p:nvSpPr>
        <p:spPr>
          <a:xfrm>
            <a:off x="868680" y="4315968"/>
            <a:ext cx="128016" cy="128016"/>
          </a:xfrm>
          <a:prstGeom prst="rect">
            <a:avLst/>
          </a:prstGeom>
          <a:solidFill>
            <a:srgbClr val="FF7B72"/>
          </a:solidFill>
          <a:ln/>
        </p:spPr>
      </p:sp>
      <p:sp>
        <p:nvSpPr>
          <p:cNvPr id="11" name="Text 9"/>
          <p:cNvSpPr/>
          <p:nvPr/>
        </p:nvSpPr>
        <p:spPr>
          <a:xfrm>
            <a:off x="1161288" y="4206240"/>
            <a:ext cx="464515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Des problèmes  </a:t>
            </a:r>
            <a:pPr indent="0" marL="0">
              <a:buNone/>
            </a:pPr>
            <a:r>
              <a:rPr lang="en-US" sz="1450" dirty="0">
                <a:solidFill>
                  <a:srgbClr val="8B949E"/>
                </a:solidFill>
                <a:latin typeface="Calibri" pitchFamily="34" charset="0"/>
                <a:ea typeface="Calibri" pitchFamily="34" charset="-122"/>
                <a:cs typeface="Calibri" pitchFamily="34" charset="-120"/>
              </a:rPr>
              <a:t>des tickets à suivre par version et par OS.</a:t>
            </a:r>
            <a:endParaRPr lang="en-US" sz="1450" dirty="0"/>
          </a:p>
        </p:txBody>
      </p:sp>
      <p:sp>
        <p:nvSpPr>
          <p:cNvPr id="12" name="Shape 10"/>
          <p:cNvSpPr/>
          <p:nvPr/>
        </p:nvSpPr>
        <p:spPr>
          <a:xfrm>
            <a:off x="868680" y="5047488"/>
            <a:ext cx="128016" cy="128016"/>
          </a:xfrm>
          <a:prstGeom prst="rect">
            <a:avLst/>
          </a:prstGeom>
          <a:solidFill>
            <a:srgbClr val="FF7B72"/>
          </a:solidFill>
          <a:ln/>
        </p:spPr>
      </p:sp>
      <p:sp>
        <p:nvSpPr>
          <p:cNvPr id="13" name="Text 11"/>
          <p:cNvSpPr/>
          <p:nvPr/>
        </p:nvSpPr>
        <p:spPr>
          <a:xfrm>
            <a:off x="1161288" y="4937760"/>
            <a:ext cx="464515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Aucun outil existant  </a:t>
            </a:r>
            <a:pPr indent="0" marL="0">
              <a:buNone/>
            </a:pPr>
            <a:r>
              <a:rPr lang="en-US" sz="1450" dirty="0">
                <a:solidFill>
                  <a:srgbClr val="8B949E"/>
                </a:solidFill>
                <a:latin typeface="Calibri" pitchFamily="34" charset="0"/>
                <a:ea typeface="Calibri" pitchFamily="34" charset="-122"/>
                <a:cs typeface="Calibri" pitchFamily="34" charset="-120"/>
              </a:rPr>
              <a:t>d'où la mission : concevoir et créer la base.</a:t>
            </a:r>
            <a:endParaRPr lang="en-US" sz="1450" dirty="0"/>
          </a:p>
        </p:txBody>
      </p:sp>
      <p:sp>
        <p:nvSpPr>
          <p:cNvPr id="14" name="Shape 12"/>
          <p:cNvSpPr/>
          <p:nvPr/>
        </p:nvSpPr>
        <p:spPr>
          <a:xfrm>
            <a:off x="6400800" y="1783080"/>
            <a:ext cx="5212080" cy="4206240"/>
          </a:xfrm>
          <a:prstGeom prst="roundRect">
            <a:avLst>
              <a:gd name="adj" fmla="val 1304"/>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15" name="Text 13"/>
          <p:cNvSpPr/>
          <p:nvPr/>
        </p:nvSpPr>
        <p:spPr>
          <a:xfrm>
            <a:off x="6720840" y="2057400"/>
            <a:ext cx="4572000" cy="365760"/>
          </a:xfrm>
          <a:prstGeom prst="rect">
            <a:avLst/>
          </a:prstGeom>
          <a:noFill/>
          <a:ln/>
        </p:spPr>
        <p:txBody>
          <a:bodyPr wrap="square" lIns="0" tIns="0" rIns="0" bIns="0" rtlCol="0" anchor="ctr"/>
          <a:lstStyle/>
          <a:p>
            <a:pPr indent="0" marL="0">
              <a:buNone/>
            </a:pPr>
            <a:r>
              <a:rPr lang="en-US" sz="1400" dirty="0">
                <a:solidFill>
                  <a:srgbClr val="7EE787"/>
                </a:solidFill>
                <a:latin typeface="Consolas" pitchFamily="34" charset="0"/>
                <a:ea typeface="Consolas" pitchFamily="34" charset="-122"/>
                <a:cs typeface="Consolas" pitchFamily="34" charset="-120"/>
              </a:rPr>
              <a:t>// ma mission</a:t>
            </a:r>
            <a:endParaRPr lang="en-US" sz="1400" dirty="0"/>
          </a:p>
        </p:txBody>
      </p:sp>
      <p:sp>
        <p:nvSpPr>
          <p:cNvPr id="16" name="Text 14"/>
          <p:cNvSpPr/>
          <p:nvPr/>
        </p:nvSpPr>
        <p:spPr>
          <a:xfrm>
            <a:off x="6720840" y="2606040"/>
            <a:ext cx="4572000" cy="1828800"/>
          </a:xfrm>
          <a:prstGeom prst="rect">
            <a:avLst/>
          </a:prstGeom>
          <a:noFill/>
          <a:ln/>
        </p:spPr>
        <p:txBody>
          <a:bodyPr wrap="square" lIns="0" tIns="0" rIns="0" bIns="0" rtlCol="0" anchor="t"/>
          <a:lstStyle/>
          <a:p>
            <a:pPr indent="0" marL="0">
              <a:lnSpc>
                <a:spcPct val="120000"/>
              </a:lnSpc>
              <a:buNone/>
            </a:pPr>
            <a:r>
              <a:rPr lang="en-US" sz="1600" dirty="0">
                <a:solidFill>
                  <a:srgbClr val="E6EDF3"/>
                </a:solidFill>
                <a:latin typeface="Calibri" pitchFamily="34" charset="0"/>
                <a:ea typeface="Calibri" pitchFamily="34" charset="-122"/>
                <a:cs typeface="Calibri" pitchFamily="34" charset="-120"/>
              </a:rPr>
              <a:t>Concevoir le modèle de données, créer la base, la remplir de données d'exemple, puis fournir les requêtes pour l'interroger.</a:t>
            </a:r>
            <a:endParaRPr lang="en-US" sz="1600" dirty="0"/>
          </a:p>
        </p:txBody>
      </p:sp>
      <p:sp>
        <p:nvSpPr>
          <p:cNvPr id="17" name="Text 15"/>
          <p:cNvSpPr/>
          <p:nvPr/>
        </p:nvSpPr>
        <p:spPr>
          <a:xfrm>
            <a:off x="6720840" y="4892040"/>
            <a:ext cx="4572000" cy="822960"/>
          </a:xfrm>
          <a:prstGeom prst="rect">
            <a:avLst/>
          </a:prstGeom>
          <a:noFill/>
          <a:ln/>
        </p:spPr>
        <p:txBody>
          <a:bodyPr wrap="square" lIns="0" tIns="0" rIns="0" bIns="0" rtlCol="0" anchor="t"/>
          <a:lstStyle/>
          <a:p>
            <a:pPr indent="0" marL="0">
              <a:buNone/>
            </a:pPr>
            <a:r>
              <a:rPr lang="en-US" sz="1350" i="1" dirty="0">
                <a:solidFill>
                  <a:srgbClr val="8B949E"/>
                </a:solidFill>
                <a:latin typeface="Calibri" pitchFamily="34" charset="0"/>
                <a:ea typeface="Calibri" pitchFamily="34" charset="-122"/>
                <a:cs typeface="Calibri" pitchFamily="34" charset="-120"/>
              </a:rPr>
              <a:t>L'équipe branchera ensuite une API et un site web sur cette base.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dirty="0">
                <a:solidFill>
                  <a:srgbClr val="7EE787"/>
                </a:solidFill>
                <a:latin typeface="Consolas" pitchFamily="34" charset="0"/>
                <a:ea typeface="Consolas" pitchFamily="34" charset="-122"/>
                <a:cs typeface="Consolas" pitchFamily="34" charset="-120"/>
              </a:rPr>
              <a:t>// démonstration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indent="0" marL="0">
              <a:buNone/>
            </a:pPr>
            <a:r>
              <a:rPr lang="en-US" sz="2600" b="1" dirty="0">
                <a:solidFill>
                  <a:srgbClr val="E6EDF3"/>
                </a:solidFill>
                <a:latin typeface="Consolas" pitchFamily="34" charset="0"/>
                <a:ea typeface="Consolas" pitchFamily="34" charset="-122"/>
                <a:cs typeface="Consolas" pitchFamily="34" charset="-120"/>
              </a:rPr>
              <a:t>La solution en fonctionnement</a:t>
            </a:r>
            <a:endParaRPr lang="en-US" sz="2600" dirty="0"/>
          </a:p>
        </p:txBody>
      </p:sp>
      <p:sp>
        <p:nvSpPr>
          <p:cNvPr id="4" name="Text 2"/>
          <p:cNvSpPr/>
          <p:nvPr/>
        </p:nvSpPr>
        <p:spPr>
          <a:xfrm>
            <a:off x="548640" y="1600200"/>
            <a:ext cx="10972800" cy="365760"/>
          </a:xfrm>
          <a:prstGeom prst="rect">
            <a:avLst/>
          </a:prstGeom>
          <a:noFill/>
          <a:ln/>
        </p:spPr>
        <p:txBody>
          <a:bodyPr wrap="square" lIns="0" tIns="0" rIns="0" bIns="0" rtlCol="0" anchor="ctr"/>
          <a:lstStyle/>
          <a:p>
            <a:pPr indent="0" marL="0">
              <a:buNone/>
            </a:pPr>
            <a:r>
              <a:rPr lang="en-US" sz="1500" i="1" dirty="0">
                <a:solidFill>
                  <a:srgbClr val="8B949E"/>
                </a:solidFill>
                <a:latin typeface="Calibri" pitchFamily="34" charset="0"/>
                <a:ea typeface="Calibri" pitchFamily="34" charset="-122"/>
                <a:cs typeface="Calibri" pitchFamily="34" charset="-120"/>
              </a:rPr>
              <a:t>Avant les explications : la base est créée, remplie et interrogeable.</a:t>
            </a:r>
            <a:endParaRPr lang="en-US" sz="1500" dirty="0"/>
          </a:p>
        </p:txBody>
      </p:sp>
      <p:sp>
        <p:nvSpPr>
          <p:cNvPr id="5" name="Text 3"/>
          <p:cNvSpPr/>
          <p:nvPr/>
        </p:nvSpPr>
        <p:spPr>
          <a:xfrm>
            <a:off x="548640" y="2103120"/>
            <a:ext cx="2651760" cy="777240"/>
          </a:xfrm>
          <a:prstGeom prst="rect">
            <a:avLst/>
          </a:prstGeom>
          <a:noFill/>
          <a:ln/>
        </p:spPr>
        <p:txBody>
          <a:bodyPr wrap="square" lIns="0" tIns="0" rIns="0" bIns="0" rtlCol="0" anchor="ctr"/>
          <a:lstStyle/>
          <a:p>
            <a:pPr algn="ctr" indent="0" marL="0">
              <a:buNone/>
            </a:pPr>
            <a:r>
              <a:rPr lang="en-US" sz="4600" b="1" dirty="0">
                <a:solidFill>
                  <a:srgbClr val="FF7B72"/>
                </a:solidFill>
                <a:latin typeface="Consolas" pitchFamily="34" charset="0"/>
                <a:ea typeface="Consolas" pitchFamily="34" charset="-122"/>
                <a:cs typeface="Consolas" pitchFamily="34" charset="-120"/>
              </a:rPr>
              <a:t>25</a:t>
            </a:r>
            <a:endParaRPr lang="en-US" sz="4600" dirty="0"/>
          </a:p>
        </p:txBody>
      </p:sp>
      <p:sp>
        <p:nvSpPr>
          <p:cNvPr id="6" name="Text 4"/>
          <p:cNvSpPr/>
          <p:nvPr/>
        </p:nvSpPr>
        <p:spPr>
          <a:xfrm>
            <a:off x="548640" y="2889504"/>
            <a:ext cx="2651760" cy="457200"/>
          </a:xfrm>
          <a:prstGeom prst="rect">
            <a:avLst/>
          </a:prstGeom>
          <a:noFill/>
          <a:ln/>
        </p:spPr>
        <p:txBody>
          <a:bodyPr wrap="square" lIns="0" tIns="0" rIns="0" bIns="0" rtlCol="0" anchor="ctr"/>
          <a:lstStyle/>
          <a:p>
            <a:pPr algn="ctr" indent="0" marL="0">
              <a:buNone/>
            </a:pPr>
            <a:r>
              <a:rPr lang="en-US" sz="1250" dirty="0">
                <a:solidFill>
                  <a:srgbClr val="8B949E"/>
                </a:solidFill>
                <a:latin typeface="Calibri" pitchFamily="34" charset="0"/>
                <a:ea typeface="Calibri" pitchFamily="34" charset="-122"/>
                <a:cs typeface="Calibri" pitchFamily="34" charset="-120"/>
              </a:rPr>
              <a:t>tickets enregistrés</a:t>
            </a:r>
            <a:endParaRPr lang="en-US" sz="1250" dirty="0"/>
          </a:p>
        </p:txBody>
      </p:sp>
      <p:sp>
        <p:nvSpPr>
          <p:cNvPr id="7" name="Text 5"/>
          <p:cNvSpPr/>
          <p:nvPr/>
        </p:nvSpPr>
        <p:spPr>
          <a:xfrm>
            <a:off x="3291840" y="2103120"/>
            <a:ext cx="2651760" cy="777240"/>
          </a:xfrm>
          <a:prstGeom prst="rect">
            <a:avLst/>
          </a:prstGeom>
          <a:noFill/>
          <a:ln/>
        </p:spPr>
        <p:txBody>
          <a:bodyPr wrap="square" lIns="0" tIns="0" rIns="0" bIns="0" rtlCol="0" anchor="ctr"/>
          <a:lstStyle/>
          <a:p>
            <a:pPr algn="ctr" indent="0" marL="0">
              <a:buNone/>
            </a:pPr>
            <a:r>
              <a:rPr lang="en-US" sz="4600" b="1" dirty="0">
                <a:solidFill>
                  <a:srgbClr val="79C0FF"/>
                </a:solidFill>
                <a:latin typeface="Consolas" pitchFamily="34" charset="0"/>
                <a:ea typeface="Consolas" pitchFamily="34" charset="-122"/>
                <a:cs typeface="Consolas" pitchFamily="34" charset="-120"/>
              </a:rPr>
              <a:t>20</a:t>
            </a:r>
            <a:endParaRPr lang="en-US" sz="4600" dirty="0"/>
          </a:p>
        </p:txBody>
      </p:sp>
      <p:sp>
        <p:nvSpPr>
          <p:cNvPr id="8" name="Text 6"/>
          <p:cNvSpPr/>
          <p:nvPr/>
        </p:nvSpPr>
        <p:spPr>
          <a:xfrm>
            <a:off x="3291840" y="2889504"/>
            <a:ext cx="2651760" cy="457200"/>
          </a:xfrm>
          <a:prstGeom prst="rect">
            <a:avLst/>
          </a:prstGeom>
          <a:noFill/>
          <a:ln/>
        </p:spPr>
        <p:txBody>
          <a:bodyPr wrap="square" lIns="0" tIns="0" rIns="0" bIns="0" rtlCol="0" anchor="ctr"/>
          <a:lstStyle/>
          <a:p>
            <a:pPr algn="ctr" indent="0" marL="0">
              <a:buNone/>
            </a:pPr>
            <a:r>
              <a:rPr lang="en-US" sz="1250" dirty="0">
                <a:solidFill>
                  <a:srgbClr val="8B949E"/>
                </a:solidFill>
                <a:latin typeface="Calibri" pitchFamily="34" charset="0"/>
                <a:ea typeface="Calibri" pitchFamily="34" charset="-122"/>
                <a:cs typeface="Calibri" pitchFamily="34" charset="-120"/>
              </a:rPr>
              <a:t>requêtes couvertes</a:t>
            </a:r>
            <a:endParaRPr lang="en-US" sz="1250" dirty="0"/>
          </a:p>
        </p:txBody>
      </p:sp>
      <p:sp>
        <p:nvSpPr>
          <p:cNvPr id="9" name="Text 7"/>
          <p:cNvSpPr/>
          <p:nvPr/>
        </p:nvSpPr>
        <p:spPr>
          <a:xfrm>
            <a:off x="6035040" y="2103120"/>
            <a:ext cx="2651760" cy="777240"/>
          </a:xfrm>
          <a:prstGeom prst="rect">
            <a:avLst/>
          </a:prstGeom>
          <a:noFill/>
          <a:ln/>
        </p:spPr>
        <p:txBody>
          <a:bodyPr wrap="square" lIns="0" tIns="0" rIns="0" bIns="0" rtlCol="0" anchor="ctr"/>
          <a:lstStyle/>
          <a:p>
            <a:pPr algn="ctr" indent="0" marL="0">
              <a:buNone/>
            </a:pPr>
            <a:r>
              <a:rPr lang="en-US" sz="4600" b="1" dirty="0">
                <a:solidFill>
                  <a:srgbClr val="7EE787"/>
                </a:solidFill>
                <a:latin typeface="Consolas" pitchFamily="34" charset="0"/>
                <a:ea typeface="Consolas" pitchFamily="34" charset="-122"/>
                <a:cs typeface="Consolas" pitchFamily="34" charset="-120"/>
              </a:rPr>
              <a:t>6</a:t>
            </a:r>
            <a:endParaRPr lang="en-US" sz="4600" dirty="0"/>
          </a:p>
        </p:txBody>
      </p:sp>
      <p:sp>
        <p:nvSpPr>
          <p:cNvPr id="10" name="Text 8"/>
          <p:cNvSpPr/>
          <p:nvPr/>
        </p:nvSpPr>
        <p:spPr>
          <a:xfrm>
            <a:off x="6035040" y="2889504"/>
            <a:ext cx="2651760" cy="457200"/>
          </a:xfrm>
          <a:prstGeom prst="rect">
            <a:avLst/>
          </a:prstGeom>
          <a:noFill/>
          <a:ln/>
        </p:spPr>
        <p:txBody>
          <a:bodyPr wrap="square" lIns="0" tIns="0" rIns="0" bIns="0" rtlCol="0" anchor="ctr"/>
          <a:lstStyle/>
          <a:p>
            <a:pPr algn="ctr" indent="0" marL="0">
              <a:buNone/>
            </a:pPr>
            <a:r>
              <a:rPr lang="en-US" sz="1250" dirty="0">
                <a:solidFill>
                  <a:srgbClr val="8B949E"/>
                </a:solidFill>
                <a:latin typeface="Calibri" pitchFamily="34" charset="0"/>
                <a:ea typeface="Calibri" pitchFamily="34" charset="-122"/>
                <a:cs typeface="Calibri" pitchFamily="34" charset="-120"/>
              </a:rPr>
              <a:t>tables reliées</a:t>
            </a:r>
            <a:endParaRPr lang="en-US" sz="1250" dirty="0"/>
          </a:p>
        </p:txBody>
      </p:sp>
      <p:sp>
        <p:nvSpPr>
          <p:cNvPr id="11" name="Shape 9"/>
          <p:cNvSpPr/>
          <p:nvPr/>
        </p:nvSpPr>
        <p:spPr>
          <a:xfrm>
            <a:off x="548640" y="3520440"/>
            <a:ext cx="11064240" cy="2880360"/>
          </a:xfrm>
          <a:prstGeom prst="roundRect">
            <a:avLst>
              <a:gd name="adj" fmla="val 1905"/>
            </a:avLst>
          </a:prstGeom>
          <a:solidFill>
            <a:srgbClr val="10151C"/>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12" name="Text 10"/>
          <p:cNvSpPr/>
          <p:nvPr/>
        </p:nvSpPr>
        <p:spPr>
          <a:xfrm>
            <a:off x="777240" y="3685032"/>
            <a:ext cx="10652760" cy="2560320"/>
          </a:xfrm>
          <a:prstGeom prst="rect">
            <a:avLst/>
          </a:prstGeom>
          <a:noFill/>
          <a:ln/>
        </p:spPr>
        <p:txBody>
          <a:bodyPr wrap="square" lIns="0" tIns="0" rIns="0" bIns="0" rtlCol="0" anchor="t"/>
          <a:lstStyle/>
          <a:p>
            <a:pPr indent="0" marL="0">
              <a:lnSpc>
                <a:spcPct val="118000"/>
              </a:lnSpc>
              <a:buNone/>
            </a:pPr>
            <a:r>
              <a:rPr lang="en-US" sz="1400" dirty="0">
                <a:solidFill>
                  <a:srgbClr val="7EE787"/>
                </a:solidFill>
                <a:latin typeface="Consolas" pitchFamily="34" charset="0"/>
                <a:ea typeface="Consolas" pitchFamily="34" charset="-122"/>
                <a:cs typeface="Consolas" pitchFamily="34" charset="-120"/>
              </a:rPr>
              <a:t>&gt; dotnet run</a:t>
            </a:r>
            <a:endParaRPr lang="en-US" sz="1400" dirty="0"/>
          </a:p>
          <a:p>
            <a:pPr indent="0" marL="0">
              <a:lnSpc>
                <a:spcPct val="118000"/>
              </a:lnSpc>
              <a:buNone/>
            </a:pPr>
            <a:r>
              <a:rPr lang="en-US" sz="1400" dirty="0">
                <a:solidFill>
                  <a:srgbClr val="E6EDF3"/>
                </a:solidFill>
                <a:latin typeface="Consolas" pitchFamily="34" charset="0"/>
                <a:ea typeface="Consolas" pitchFamily="34" charset="-122"/>
                <a:cs typeface="Consolas" pitchFamily="34" charset="-120"/>
              </a:rPr>
              <a:t>En cours (tous les produits)          : </a:t>
            </a:r>
            <a:pPr indent="0" marL="0">
              <a:lnSpc>
                <a:spcPct val="118000"/>
              </a:lnSpc>
              <a:buNone/>
            </a:pPr>
            <a:r>
              <a:rPr lang="en-US" sz="1400" dirty="0">
                <a:solidFill>
                  <a:srgbClr val="E3B341"/>
                </a:solidFill>
                <a:latin typeface="Consolas" pitchFamily="34" charset="0"/>
                <a:ea typeface="Consolas" pitchFamily="34" charset="-122"/>
                <a:cs typeface="Consolas" pitchFamily="34" charset="-120"/>
              </a:rPr>
              <a:t>11 tickets</a:t>
            </a:r>
            <a:endParaRPr lang="en-US" sz="1400" dirty="0"/>
          </a:p>
          <a:p>
            <a:pPr indent="0" marL="0">
              <a:lnSpc>
                <a:spcPct val="118000"/>
              </a:lnSpc>
              <a:buNone/>
            </a:pPr>
            <a:r>
              <a:rPr lang="en-US" sz="1400" dirty="0">
                <a:solidFill>
                  <a:srgbClr val="E6EDF3"/>
                </a:solidFill>
                <a:latin typeface="Consolas" pitchFamily="34" charset="0"/>
                <a:ea typeface="Consolas" pitchFamily="34" charset="-122"/>
                <a:cs typeface="Consolas" pitchFamily="34" charset="-120"/>
              </a:rPr>
              <a:t>Résolus, Trader en Herbe, version 1.2 : </a:t>
            </a:r>
            <a:pPr indent="0" marL="0">
              <a:lnSpc>
                <a:spcPct val="118000"/>
              </a:lnSpc>
              <a:buNone/>
            </a:pPr>
            <a:r>
              <a:rPr lang="en-US" sz="1400" dirty="0">
                <a:solidFill>
                  <a:srgbClr val="E3B341"/>
                </a:solidFill>
                <a:latin typeface="Consolas" pitchFamily="34" charset="0"/>
                <a:ea typeface="Consolas" pitchFamily="34" charset="-122"/>
                <a:cs typeface="Consolas" pitchFamily="34" charset="-120"/>
              </a:rPr>
              <a:t> 2 tickets</a:t>
            </a:r>
            <a:endParaRPr lang="en-US" sz="1400" dirty="0"/>
          </a:p>
          <a:p>
            <a:pPr indent="0" marL="0">
              <a:lnSpc>
                <a:spcPct val="118000"/>
              </a:lnSpc>
              <a:buNone/>
            </a:pPr>
            <a:r>
              <a:rPr lang="en-US" sz="1400" dirty="0">
                <a:solidFill>
                  <a:srgbClr val="E6EDF3"/>
                </a:solidFill>
                <a:latin typeface="Consolas" pitchFamily="34" charset="0"/>
                <a:ea typeface="Consolas" pitchFamily="34" charset="-122"/>
                <a:cs typeface="Consolas" pitchFamily="34" charset="-120"/>
              </a:rPr>
              <a:t>Contenant le mot-clé </a:t>
            </a:r>
            <a:pPr indent="0" marL="0">
              <a:lnSpc>
                <a:spcPct val="118000"/>
              </a:lnSpc>
              <a:buNone/>
            </a:pPr>
            <a:r>
              <a:rPr lang="en-US" sz="1400" dirty="0">
                <a:solidFill>
                  <a:srgbClr val="79C0FF"/>
                </a:solidFill>
                <a:latin typeface="Consolas" pitchFamily="34" charset="0"/>
                <a:ea typeface="Consolas" pitchFamily="34" charset="-122"/>
                <a:cs typeface="Consolas" pitchFamily="34" charset="-120"/>
              </a:rPr>
              <a:t>"batterie"</a:t>
            </a:r>
            <a:pPr indent="0" marL="0">
              <a:lnSpc>
                <a:spcPct val="118000"/>
              </a:lnSpc>
              <a:buNone/>
            </a:pPr>
            <a:r>
              <a:rPr lang="en-US" sz="1400" dirty="0">
                <a:solidFill>
                  <a:srgbClr val="E3B341"/>
                </a:solidFill>
                <a:latin typeface="Consolas" pitchFamily="34" charset="0"/>
                <a:ea typeface="Consolas" pitchFamily="34" charset="-122"/>
                <a:cs typeface="Consolas" pitchFamily="34" charset="-120"/>
              </a:rPr>
              <a:t>          :  1 ticket</a:t>
            </a:r>
            <a:endParaRPr lang="en-US" sz="1400" dirty="0"/>
          </a:p>
          <a:p>
            <a:pPr indent="0" marL="0">
              <a:lnSpc>
                <a:spcPct val="118000"/>
              </a:lnSpc>
              <a:buNone/>
            </a:pPr>
            <a:r>
              <a:rPr lang="en-US" sz="1400" dirty="0">
                <a:solidFill>
                  <a:srgbClr val="E6EDF3"/>
                </a:solidFill>
                <a:latin typeface="Consolas" pitchFamily="34" charset="0"/>
                <a:ea typeface="Consolas" pitchFamily="34" charset="-122"/>
                <a:cs typeface="Consolas" pitchFamily="34" charset="-120"/>
              </a:rPr>
              <a:t>Rencontrés en juin 2026               : </a:t>
            </a:r>
            <a:pPr indent="0" marL="0">
              <a:lnSpc>
                <a:spcPct val="118000"/>
              </a:lnSpc>
              <a:buNone/>
            </a:pPr>
            <a:r>
              <a:rPr lang="en-US" sz="1400" dirty="0">
                <a:solidFill>
                  <a:srgbClr val="E3B341"/>
                </a:solidFill>
                <a:latin typeface="Consolas" pitchFamily="34" charset="0"/>
                <a:ea typeface="Consolas" pitchFamily="34" charset="-122"/>
                <a:cs typeface="Consolas" pitchFamily="34" charset="-120"/>
              </a:rPr>
              <a:t> 5 tickets</a:t>
            </a:r>
            <a:endParaRPr lang="en-US" sz="1400" dirty="0"/>
          </a:p>
          <a:p>
            <a:pPr indent="0" marL="0">
              <a:lnSpc>
                <a:spcPct val="118000"/>
              </a:lnSpc>
              <a:buNone/>
            </a:pPr>
            <a:r>
              <a:rPr lang="en-US" sz="1400" dirty="0">
                <a:solidFill>
                  <a:srgbClr val="8B949E"/>
                </a:solidFill>
                <a:latin typeface="Consolas" pitchFamily="34" charset="0"/>
                <a:ea typeface="Consolas" pitchFamily="34" charset="-122"/>
                <a:cs typeface="Consolas" pitchFamily="34" charset="-120"/>
              </a:rPr>
              <a:t>...  les 20 demandes répondent, résultats justes.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dirty="0">
                <a:solidFill>
                  <a:srgbClr val="7EE787"/>
                </a:solidFill>
                <a:latin typeface="Consolas" pitchFamily="34" charset="0"/>
                <a:ea typeface="Consolas" pitchFamily="34" charset="-122"/>
                <a:cs typeface="Consolas" pitchFamily="34" charset="-120"/>
              </a:rPr>
              <a:t>// conception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indent="0" marL="0">
              <a:buNone/>
            </a:pPr>
            <a:r>
              <a:rPr lang="en-US" sz="2600" b="1" dirty="0">
                <a:solidFill>
                  <a:srgbClr val="E6EDF3"/>
                </a:solidFill>
                <a:latin typeface="Consolas" pitchFamily="34" charset="0"/>
                <a:ea typeface="Consolas" pitchFamily="34" charset="-122"/>
                <a:cs typeface="Consolas" pitchFamily="34" charset="-120"/>
              </a:rPr>
              <a:t>Le modèle entité-association</a:t>
            </a:r>
            <a:endParaRPr lang="en-US" sz="2600" dirty="0"/>
          </a:p>
        </p:txBody>
      </p:sp>
      <p:sp>
        <p:nvSpPr>
          <p:cNvPr id="4" name="Shape 2"/>
          <p:cNvSpPr/>
          <p:nvPr/>
        </p:nvSpPr>
        <p:spPr>
          <a:xfrm>
            <a:off x="603504" y="2148840"/>
            <a:ext cx="10972800" cy="4206240"/>
          </a:xfrm>
          <a:prstGeom prst="roundRect">
            <a:avLst>
              <a:gd name="adj" fmla="val 1304"/>
            </a:avLst>
          </a:prstGeom>
          <a:solidFill>
            <a:srgbClr val="FFFFFF"/>
          </a:solidFill>
          <a:ln w="12700">
            <a:solidFill>
              <a:srgbClr val="30363D"/>
            </a:solidFill>
            <a:prstDash val="solid"/>
          </a:ln>
          <a:effectLst>
            <a:outerShdw sx="100000" sy="100000" kx="0" ky="0" algn="bl" rotWithShape="0" blurRad="101600" dist="38100" dir="5400000">
              <a:srgbClr val="000000">
                <a:alpha val="45000"/>
              </a:srgbClr>
            </a:outerShdw>
          </a:effectLst>
        </p:spPr>
      </p:sp>
      <p:pic>
        <p:nvPicPr>
          <p:cNvPr id="5" name="Image 0" descr="schema_crop.png">    </p:cNvPr>
          <p:cNvPicPr>
            <a:picLocks noChangeAspect="1"/>
          </p:cNvPicPr>
          <p:nvPr/>
        </p:nvPicPr>
        <p:blipFill>
          <a:blip r:embed="rId1"/>
          <a:stretch>
            <a:fillRect/>
          </a:stretch>
        </p:blipFill>
        <p:spPr>
          <a:xfrm>
            <a:off x="868680" y="2514600"/>
            <a:ext cx="10424160" cy="3474720"/>
          </a:xfrm>
          <a:prstGeom prst="rect">
            <a:avLst/>
          </a:prstGeom>
        </p:spPr>
      </p:pic>
      <p:sp>
        <p:nvSpPr>
          <p:cNvPr id="6" name="Text 3"/>
          <p:cNvSpPr/>
          <p:nvPr/>
        </p:nvSpPr>
        <p:spPr>
          <a:xfrm>
            <a:off x="548640" y="6400800"/>
            <a:ext cx="11064240" cy="365760"/>
          </a:xfrm>
          <a:prstGeom prst="rect">
            <a:avLst/>
          </a:prstGeom>
          <a:noFill/>
          <a:ln/>
        </p:spPr>
        <p:txBody>
          <a:bodyPr wrap="square" lIns="0" tIns="0" rIns="0" bIns="0" rtlCol="0" anchor="ctr"/>
          <a:lstStyle/>
          <a:p>
            <a:pPr algn="ctr" indent="0" marL="0">
              <a:buNone/>
            </a:pPr>
            <a:r>
              <a:rPr lang="en-US" sz="1300" i="1" dirty="0">
                <a:solidFill>
                  <a:srgbClr val="8B949E"/>
                </a:solidFill>
                <a:latin typeface="Calibri" pitchFamily="34" charset="0"/>
                <a:ea typeface="Calibri" pitchFamily="34" charset="-122"/>
                <a:cs typeface="Calibri" pitchFamily="34" charset="-120"/>
              </a:rPr>
              <a:t>Six tables : Produit, Version, OS, Compatibilite, Statut et Ticket, reliées par leurs clés.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dirty="0">
                <a:solidFill>
                  <a:srgbClr val="7EE787"/>
                </a:solidFill>
                <a:latin typeface="Consolas" pitchFamily="34" charset="0"/>
                <a:ea typeface="Consolas" pitchFamily="34" charset="-122"/>
                <a:cs typeface="Consolas" pitchFamily="34" charset="-120"/>
              </a:rPr>
              <a:t>// conception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indent="0" marL="0">
              <a:buNone/>
            </a:pPr>
            <a:r>
              <a:rPr lang="en-US" sz="2600" b="1" dirty="0">
                <a:solidFill>
                  <a:srgbClr val="E6EDF3"/>
                </a:solidFill>
                <a:latin typeface="Consolas" pitchFamily="34" charset="0"/>
                <a:ea typeface="Consolas" pitchFamily="34" charset="-122"/>
                <a:cs typeface="Consolas" pitchFamily="34" charset="-120"/>
              </a:rPr>
              <a:t>Les choix de conception</a:t>
            </a:r>
            <a:endParaRPr lang="en-US" sz="2600" dirty="0"/>
          </a:p>
        </p:txBody>
      </p:sp>
      <p:sp>
        <p:nvSpPr>
          <p:cNvPr id="4" name="Shape 2"/>
          <p:cNvSpPr/>
          <p:nvPr/>
        </p:nvSpPr>
        <p:spPr>
          <a:xfrm>
            <a:off x="640080" y="1938528"/>
            <a:ext cx="128016" cy="128016"/>
          </a:xfrm>
          <a:prstGeom prst="rect">
            <a:avLst/>
          </a:prstGeom>
          <a:solidFill>
            <a:srgbClr val="FF7B72"/>
          </a:solidFill>
          <a:ln/>
        </p:spPr>
      </p:sp>
      <p:sp>
        <p:nvSpPr>
          <p:cNvPr id="5" name="Text 3"/>
          <p:cNvSpPr/>
          <p:nvPr/>
        </p:nvSpPr>
        <p:spPr>
          <a:xfrm>
            <a:off x="932688" y="1828800"/>
            <a:ext cx="510235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3e forme normale  </a:t>
            </a:r>
            <a:pPr indent="0" marL="0">
              <a:buNone/>
            </a:pPr>
            <a:r>
              <a:rPr lang="en-US" sz="1450" dirty="0">
                <a:solidFill>
                  <a:srgbClr val="8B949E"/>
                </a:solidFill>
                <a:latin typeface="Calibri" pitchFamily="34" charset="0"/>
                <a:ea typeface="Calibri" pitchFamily="34" charset="-122"/>
                <a:cs typeface="Calibri" pitchFamily="34" charset="-120"/>
              </a:rPr>
              <a:t>le produit d'un ticket n'est pas stocké, il se déduit.</a:t>
            </a:r>
            <a:endParaRPr lang="en-US" sz="1450" dirty="0"/>
          </a:p>
        </p:txBody>
      </p:sp>
      <p:sp>
        <p:nvSpPr>
          <p:cNvPr id="6" name="Shape 4"/>
          <p:cNvSpPr/>
          <p:nvPr/>
        </p:nvSpPr>
        <p:spPr>
          <a:xfrm>
            <a:off x="640080" y="2761488"/>
            <a:ext cx="128016" cy="128016"/>
          </a:xfrm>
          <a:prstGeom prst="rect">
            <a:avLst/>
          </a:prstGeom>
          <a:solidFill>
            <a:srgbClr val="FF7B72"/>
          </a:solidFill>
          <a:ln/>
        </p:spPr>
      </p:sp>
      <p:sp>
        <p:nvSpPr>
          <p:cNvPr id="7" name="Text 5"/>
          <p:cNvSpPr/>
          <p:nvPr/>
        </p:nvSpPr>
        <p:spPr>
          <a:xfrm>
            <a:off x="932688" y="2651760"/>
            <a:ext cx="510235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Table d'association Compatibilite  </a:t>
            </a:r>
            <a:pPr indent="0" marL="0">
              <a:buNone/>
            </a:pPr>
            <a:r>
              <a:rPr lang="en-US" sz="1450" dirty="0">
                <a:solidFill>
                  <a:srgbClr val="8B949E"/>
                </a:solidFill>
                <a:latin typeface="Calibri" pitchFamily="34" charset="0"/>
                <a:ea typeface="Calibri" pitchFamily="34" charset="-122"/>
                <a:cs typeface="Calibri" pitchFamily="34" charset="-120"/>
              </a:rPr>
              <a:t>pour le plusieurs-à-plusieurs version / OS.</a:t>
            </a:r>
            <a:endParaRPr lang="en-US" sz="1450" dirty="0"/>
          </a:p>
        </p:txBody>
      </p:sp>
      <p:sp>
        <p:nvSpPr>
          <p:cNvPr id="8" name="Shape 6"/>
          <p:cNvSpPr/>
          <p:nvPr/>
        </p:nvSpPr>
        <p:spPr>
          <a:xfrm>
            <a:off x="640080" y="3584448"/>
            <a:ext cx="128016" cy="128016"/>
          </a:xfrm>
          <a:prstGeom prst="rect">
            <a:avLst/>
          </a:prstGeom>
          <a:solidFill>
            <a:srgbClr val="FF7B72"/>
          </a:solidFill>
          <a:ln/>
        </p:spPr>
      </p:sp>
      <p:sp>
        <p:nvSpPr>
          <p:cNvPr id="9" name="Text 7"/>
          <p:cNvSpPr/>
          <p:nvPr/>
        </p:nvSpPr>
        <p:spPr>
          <a:xfrm>
            <a:off x="932688" y="3474720"/>
            <a:ext cx="510235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Contrainte d'unicité  </a:t>
            </a:r>
            <a:pPr indent="0" marL="0">
              <a:buNone/>
            </a:pPr>
            <a:r>
              <a:rPr lang="en-US" sz="1450" dirty="0">
                <a:solidFill>
                  <a:srgbClr val="8B949E"/>
                </a:solidFill>
                <a:latin typeface="Calibri" pitchFamily="34" charset="0"/>
                <a:ea typeface="Calibri" pitchFamily="34" charset="-122"/>
                <a:cs typeface="Calibri" pitchFamily="34" charset="-120"/>
              </a:rPr>
              <a:t>interdit deux fois le même couple version + OS.</a:t>
            </a:r>
            <a:endParaRPr lang="en-US" sz="1450" dirty="0"/>
          </a:p>
        </p:txBody>
      </p:sp>
      <p:sp>
        <p:nvSpPr>
          <p:cNvPr id="10" name="Shape 8"/>
          <p:cNvSpPr/>
          <p:nvPr/>
        </p:nvSpPr>
        <p:spPr>
          <a:xfrm>
            <a:off x="640080" y="4407408"/>
            <a:ext cx="128016" cy="128016"/>
          </a:xfrm>
          <a:prstGeom prst="rect">
            <a:avLst/>
          </a:prstGeom>
          <a:solidFill>
            <a:srgbClr val="FF7B72"/>
          </a:solidFill>
          <a:ln/>
        </p:spPr>
      </p:sp>
      <p:sp>
        <p:nvSpPr>
          <p:cNvPr id="11" name="Text 9"/>
          <p:cNvSpPr/>
          <p:nvPr/>
        </p:nvSpPr>
        <p:spPr>
          <a:xfrm>
            <a:off x="932688" y="4297680"/>
            <a:ext cx="510235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Une seule clé étrangère sur le ticket  </a:t>
            </a:r>
            <a:pPr indent="0" marL="0">
              <a:buNone/>
            </a:pPr>
            <a:r>
              <a:rPr lang="en-US" sz="1450" dirty="0">
                <a:solidFill>
                  <a:srgbClr val="8B949E"/>
                </a:solidFill>
                <a:latin typeface="Calibri" pitchFamily="34" charset="0"/>
                <a:ea typeface="Calibri" pitchFamily="34" charset="-122"/>
                <a:cs typeface="Calibri" pitchFamily="34" charset="-120"/>
              </a:rPr>
              <a:t>vers une compatibilité déjà validée.</a:t>
            </a:r>
            <a:endParaRPr lang="en-US" sz="1450" dirty="0"/>
          </a:p>
        </p:txBody>
      </p:sp>
      <p:sp>
        <p:nvSpPr>
          <p:cNvPr id="12" name="Shape 10"/>
          <p:cNvSpPr/>
          <p:nvPr/>
        </p:nvSpPr>
        <p:spPr>
          <a:xfrm>
            <a:off x="640080" y="5230368"/>
            <a:ext cx="128016" cy="128016"/>
          </a:xfrm>
          <a:prstGeom prst="rect">
            <a:avLst/>
          </a:prstGeom>
          <a:solidFill>
            <a:srgbClr val="FF7B72"/>
          </a:solidFill>
          <a:ln/>
        </p:spPr>
      </p:sp>
      <p:sp>
        <p:nvSpPr>
          <p:cNvPr id="13" name="Text 11"/>
          <p:cNvSpPr/>
          <p:nvPr/>
        </p:nvSpPr>
        <p:spPr>
          <a:xfrm>
            <a:off x="932688" y="5120640"/>
            <a:ext cx="510235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Numéro de version en texte  </a:t>
            </a:r>
            <a:pPr indent="0" marL="0">
              <a:buNone/>
            </a:pPr>
            <a:r>
              <a:rPr lang="en-US" sz="1450" dirty="0">
                <a:solidFill>
                  <a:srgbClr val="8B949E"/>
                </a:solidFill>
                <a:latin typeface="Calibri" pitchFamily="34" charset="0"/>
                <a:ea typeface="Calibri" pitchFamily="34" charset="-122"/>
                <a:cs typeface="Calibri" pitchFamily="34" charset="-120"/>
              </a:rPr>
              <a:t>« 1.2 » est une étiquette, pas un nombre.</a:t>
            </a:r>
            <a:endParaRPr lang="en-US" sz="1450" dirty="0"/>
          </a:p>
        </p:txBody>
      </p:sp>
      <p:sp>
        <p:nvSpPr>
          <p:cNvPr id="14" name="Shape 12"/>
          <p:cNvSpPr/>
          <p:nvPr/>
        </p:nvSpPr>
        <p:spPr>
          <a:xfrm>
            <a:off x="6400800" y="1828800"/>
            <a:ext cx="5212080" cy="4114800"/>
          </a:xfrm>
          <a:prstGeom prst="roundRect">
            <a:avLst>
              <a:gd name="adj" fmla="val 1333"/>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15" name="Text 13"/>
          <p:cNvSpPr/>
          <p:nvPr/>
        </p:nvSpPr>
        <p:spPr>
          <a:xfrm>
            <a:off x="6720840" y="2057400"/>
            <a:ext cx="4572000" cy="365760"/>
          </a:xfrm>
          <a:prstGeom prst="rect">
            <a:avLst/>
          </a:prstGeom>
          <a:noFill/>
          <a:ln/>
        </p:spPr>
        <p:txBody>
          <a:bodyPr wrap="square" lIns="0" tIns="0" rIns="0" bIns="0" rtlCol="0" anchor="ctr"/>
          <a:lstStyle/>
          <a:p>
            <a:pPr indent="0" marL="0">
              <a:buNone/>
            </a:pPr>
            <a:r>
              <a:rPr lang="en-US" sz="1400" dirty="0">
                <a:solidFill>
                  <a:srgbClr val="7EE787"/>
                </a:solidFill>
                <a:latin typeface="Consolas" pitchFamily="34" charset="0"/>
                <a:ea typeface="Consolas" pitchFamily="34" charset="-122"/>
                <a:cs typeface="Consolas" pitchFamily="34" charset="-120"/>
              </a:rPr>
              <a:t>// à retenir</a:t>
            </a:r>
            <a:endParaRPr lang="en-US" sz="1400" dirty="0"/>
          </a:p>
        </p:txBody>
      </p:sp>
      <p:sp>
        <p:nvSpPr>
          <p:cNvPr id="16" name="Text 14"/>
          <p:cNvSpPr/>
          <p:nvPr/>
        </p:nvSpPr>
        <p:spPr>
          <a:xfrm>
            <a:off x="6720840" y="2606040"/>
            <a:ext cx="4572000" cy="3108960"/>
          </a:xfrm>
          <a:prstGeom prst="rect">
            <a:avLst/>
          </a:prstGeom>
          <a:noFill/>
          <a:ln/>
        </p:spPr>
        <p:txBody>
          <a:bodyPr wrap="square" lIns="0" tIns="0" rIns="0" bIns="0" rtlCol="0" anchor="t"/>
          <a:lstStyle/>
          <a:p>
            <a:pPr indent="0" marL="0">
              <a:lnSpc>
                <a:spcPct val="115000"/>
              </a:lnSpc>
              <a:buNone/>
            </a:pPr>
            <a:r>
              <a:rPr lang="en-US" sz="1450" b="1" dirty="0">
                <a:solidFill>
                  <a:srgbClr val="E6EDF3"/>
                </a:solidFill>
                <a:latin typeface="Calibri" pitchFamily="34" charset="0"/>
                <a:ea typeface="Calibri" pitchFamily="34" charset="-122"/>
                <a:cs typeface="Calibri" pitchFamily="34" charset="-120"/>
              </a:rPr>
              <a:t>La 3e forme normale </a:t>
            </a:r>
            <a:pPr indent="0" marL="0">
              <a:lnSpc>
                <a:spcPct val="115000"/>
              </a:lnSpc>
              <a:buNone/>
            </a:pPr>
            <a:r>
              <a:rPr lang="en-US" sz="1450" dirty="0">
                <a:solidFill>
                  <a:srgbClr val="8B949E"/>
                </a:solidFill>
                <a:latin typeface="Calibri" pitchFamily="34" charset="0"/>
                <a:ea typeface="Calibri" pitchFamily="34" charset="-122"/>
                <a:cs typeface="Calibri" pitchFamily="34" charset="-120"/>
              </a:rPr>
              <a:t>évite de stocker deux fois la même information : chaque donnée vit à un seul endroit.
</a:t>
            </a:r>
            <a:pPr indent="0" marL="0">
              <a:lnSpc>
                <a:spcPct val="115000"/>
              </a:lnSpc>
              <a:buNone/>
            </a:pPr>
            <a:r>
              <a:rPr lang="en-US" sz="1450" b="1" dirty="0">
                <a:solidFill>
                  <a:srgbClr val="E6EDF3"/>
                </a:solidFill>
                <a:latin typeface="Calibri" pitchFamily="34" charset="0"/>
                <a:ea typeface="Calibri" pitchFamily="34" charset="-122"/>
                <a:cs typeface="Calibri" pitchFamily="34" charset="-120"/>
              </a:rPr>
              <a:t>Les contraintes </a:t>
            </a:r>
            <a:pPr indent="0" marL="0">
              <a:lnSpc>
                <a:spcPct val="115000"/>
              </a:lnSpc>
              <a:buNone/>
            </a:pPr>
            <a:r>
              <a:rPr lang="en-US" sz="1450" dirty="0">
                <a:solidFill>
                  <a:srgbClr val="8B949E"/>
                </a:solidFill>
                <a:latin typeface="Calibri" pitchFamily="34" charset="0"/>
                <a:ea typeface="Calibri" pitchFamily="34" charset="-122"/>
                <a:cs typeface="Calibri" pitchFamily="34" charset="-120"/>
              </a:rPr>
              <a:t>(clé étrangère, unicité) font que la base </a:t>
            </a:r>
            <a:pPr indent="0" marL="0">
              <a:lnSpc>
                <a:spcPct val="115000"/>
              </a:lnSpc>
              <a:buNone/>
            </a:pPr>
            <a:r>
              <a:rPr lang="en-US" sz="1450" b="1" dirty="0">
                <a:solidFill>
                  <a:srgbClr val="FF7B72"/>
                </a:solidFill>
                <a:latin typeface="Calibri" pitchFamily="34" charset="0"/>
                <a:ea typeface="Calibri" pitchFamily="34" charset="-122"/>
                <a:cs typeface="Calibri" pitchFamily="34" charset="-120"/>
              </a:rPr>
              <a:t>refuse elle-même les incohérences</a:t>
            </a:r>
            <a:pPr indent="0" marL="0">
              <a:lnSpc>
                <a:spcPct val="115000"/>
              </a:lnSpc>
              <a:buNone/>
            </a:pPr>
            <a:r>
              <a:rPr lang="en-US" sz="1450" dirty="0">
                <a:solidFill>
                  <a:srgbClr val="8B949E"/>
                </a:solidFill>
                <a:latin typeface="Calibri" pitchFamily="34" charset="0"/>
                <a:ea typeface="Calibri" pitchFamily="34" charset="-122"/>
                <a:cs typeface="Calibri" pitchFamily="34" charset="-120"/>
              </a:rPr>
              <a:t>, sans compter sur le code.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dirty="0">
                <a:solidFill>
                  <a:srgbClr val="7EE787"/>
                </a:solidFill>
                <a:latin typeface="Consolas" pitchFamily="34" charset="0"/>
                <a:ea typeface="Consolas" pitchFamily="34" charset="-122"/>
                <a:cs typeface="Consolas" pitchFamily="34" charset="-120"/>
              </a:rPr>
              <a:t>// données</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indent="0" marL="0">
              <a:buNone/>
            </a:pPr>
            <a:r>
              <a:rPr lang="en-US" sz="2600" b="1" dirty="0">
                <a:solidFill>
                  <a:srgbClr val="E6EDF3"/>
                </a:solidFill>
                <a:latin typeface="Consolas" pitchFamily="34" charset="0"/>
                <a:ea typeface="Consolas" pitchFamily="34" charset="-122"/>
                <a:cs typeface="Consolas" pitchFamily="34" charset="-120"/>
              </a:rPr>
              <a:t>Les 25 tickets d'exemple</a:t>
            </a:r>
            <a:endParaRPr lang="en-US" sz="2600" dirty="0"/>
          </a:p>
        </p:txBody>
      </p:sp>
      <p:sp>
        <p:nvSpPr>
          <p:cNvPr id="4" name="Text 2"/>
          <p:cNvSpPr/>
          <p:nvPr/>
        </p:nvSpPr>
        <p:spPr>
          <a:xfrm>
            <a:off x="548640" y="1645920"/>
            <a:ext cx="10972800" cy="365760"/>
          </a:xfrm>
          <a:prstGeom prst="rect">
            <a:avLst/>
          </a:prstGeom>
          <a:noFill/>
          <a:ln/>
        </p:spPr>
        <p:txBody>
          <a:bodyPr wrap="square" lIns="0" tIns="0" rIns="0" bIns="0" rtlCol="0" anchor="ctr"/>
          <a:lstStyle/>
          <a:p>
            <a:pPr indent="0" marL="0">
              <a:buNone/>
            </a:pPr>
            <a:r>
              <a:rPr lang="en-US" sz="1500" i="1" dirty="0">
                <a:solidFill>
                  <a:srgbClr val="8B949E"/>
                </a:solidFill>
                <a:latin typeface="Calibri" pitchFamily="34" charset="0"/>
                <a:ea typeface="Calibri" pitchFamily="34" charset="-122"/>
                <a:cs typeface="Calibri" pitchFamily="34" charset="-120"/>
              </a:rPr>
              <a:t>Des problèmes réalistes, couvrant largement produits, versions et OS.</a:t>
            </a:r>
            <a:endParaRPr lang="en-US" sz="1500" dirty="0"/>
          </a:p>
        </p:txBody>
      </p:sp>
      <p:sp>
        <p:nvSpPr>
          <p:cNvPr id="5" name="Text 3"/>
          <p:cNvSpPr/>
          <p:nvPr/>
        </p:nvSpPr>
        <p:spPr>
          <a:xfrm>
            <a:off x="548640" y="2240280"/>
            <a:ext cx="2651760" cy="777240"/>
          </a:xfrm>
          <a:prstGeom prst="rect">
            <a:avLst/>
          </a:prstGeom>
          <a:noFill/>
          <a:ln/>
        </p:spPr>
        <p:txBody>
          <a:bodyPr wrap="square" lIns="0" tIns="0" rIns="0" bIns="0" rtlCol="0" anchor="ctr"/>
          <a:lstStyle/>
          <a:p>
            <a:pPr algn="ctr" indent="0" marL="0">
              <a:buNone/>
            </a:pPr>
            <a:r>
              <a:rPr lang="en-US" sz="4600" b="1" dirty="0">
                <a:solidFill>
                  <a:srgbClr val="FF7B72"/>
                </a:solidFill>
                <a:latin typeface="Consolas" pitchFamily="34" charset="0"/>
                <a:ea typeface="Consolas" pitchFamily="34" charset="-122"/>
                <a:cs typeface="Consolas" pitchFamily="34" charset="-120"/>
              </a:rPr>
              <a:t>4</a:t>
            </a:r>
            <a:endParaRPr lang="en-US" sz="4600" dirty="0"/>
          </a:p>
        </p:txBody>
      </p:sp>
      <p:sp>
        <p:nvSpPr>
          <p:cNvPr id="6" name="Text 4"/>
          <p:cNvSpPr/>
          <p:nvPr/>
        </p:nvSpPr>
        <p:spPr>
          <a:xfrm>
            <a:off x="548640" y="3026664"/>
            <a:ext cx="2651760" cy="457200"/>
          </a:xfrm>
          <a:prstGeom prst="rect">
            <a:avLst/>
          </a:prstGeom>
          <a:noFill/>
          <a:ln/>
        </p:spPr>
        <p:txBody>
          <a:bodyPr wrap="square" lIns="0" tIns="0" rIns="0" bIns="0" rtlCol="0" anchor="ctr"/>
          <a:lstStyle/>
          <a:p>
            <a:pPr algn="ctr" indent="0" marL="0">
              <a:buNone/>
            </a:pPr>
            <a:r>
              <a:rPr lang="en-US" sz="1250" dirty="0">
                <a:solidFill>
                  <a:srgbClr val="8B949E"/>
                </a:solidFill>
                <a:latin typeface="Calibri" pitchFamily="34" charset="0"/>
                <a:ea typeface="Calibri" pitchFamily="34" charset="-122"/>
                <a:cs typeface="Calibri" pitchFamily="34" charset="-120"/>
              </a:rPr>
              <a:t>produits</a:t>
            </a:r>
            <a:endParaRPr lang="en-US" sz="1250" dirty="0"/>
          </a:p>
        </p:txBody>
      </p:sp>
      <p:sp>
        <p:nvSpPr>
          <p:cNvPr id="7" name="Text 5"/>
          <p:cNvSpPr/>
          <p:nvPr/>
        </p:nvSpPr>
        <p:spPr>
          <a:xfrm>
            <a:off x="3291840" y="2240280"/>
            <a:ext cx="2651760" cy="777240"/>
          </a:xfrm>
          <a:prstGeom prst="rect">
            <a:avLst/>
          </a:prstGeom>
          <a:noFill/>
          <a:ln/>
        </p:spPr>
        <p:txBody>
          <a:bodyPr wrap="square" lIns="0" tIns="0" rIns="0" bIns="0" rtlCol="0" anchor="ctr"/>
          <a:lstStyle/>
          <a:p>
            <a:pPr algn="ctr" indent="0" marL="0">
              <a:buNone/>
            </a:pPr>
            <a:r>
              <a:rPr lang="en-US" sz="4600" b="1" dirty="0">
                <a:solidFill>
                  <a:srgbClr val="79C0FF"/>
                </a:solidFill>
                <a:latin typeface="Consolas" pitchFamily="34" charset="0"/>
                <a:ea typeface="Consolas" pitchFamily="34" charset="-122"/>
                <a:cs typeface="Consolas" pitchFamily="34" charset="-120"/>
              </a:rPr>
              <a:t>12</a:t>
            </a:r>
            <a:endParaRPr lang="en-US" sz="4600" dirty="0"/>
          </a:p>
        </p:txBody>
      </p:sp>
      <p:sp>
        <p:nvSpPr>
          <p:cNvPr id="8" name="Text 6"/>
          <p:cNvSpPr/>
          <p:nvPr/>
        </p:nvSpPr>
        <p:spPr>
          <a:xfrm>
            <a:off x="3291840" y="3026664"/>
            <a:ext cx="2651760" cy="457200"/>
          </a:xfrm>
          <a:prstGeom prst="rect">
            <a:avLst/>
          </a:prstGeom>
          <a:noFill/>
          <a:ln/>
        </p:spPr>
        <p:txBody>
          <a:bodyPr wrap="square" lIns="0" tIns="0" rIns="0" bIns="0" rtlCol="0" anchor="ctr"/>
          <a:lstStyle/>
          <a:p>
            <a:pPr algn="ctr" indent="0" marL="0">
              <a:buNone/>
            </a:pPr>
            <a:r>
              <a:rPr lang="en-US" sz="1250" dirty="0">
                <a:solidFill>
                  <a:srgbClr val="8B949E"/>
                </a:solidFill>
                <a:latin typeface="Calibri" pitchFamily="34" charset="0"/>
                <a:ea typeface="Calibri" pitchFamily="34" charset="-122"/>
                <a:cs typeface="Calibri" pitchFamily="34" charset="-120"/>
              </a:rPr>
              <a:t>versions</a:t>
            </a:r>
            <a:endParaRPr lang="en-US" sz="1250" dirty="0"/>
          </a:p>
        </p:txBody>
      </p:sp>
      <p:sp>
        <p:nvSpPr>
          <p:cNvPr id="9" name="Text 7"/>
          <p:cNvSpPr/>
          <p:nvPr/>
        </p:nvSpPr>
        <p:spPr>
          <a:xfrm>
            <a:off x="6035040" y="2240280"/>
            <a:ext cx="2651760" cy="777240"/>
          </a:xfrm>
          <a:prstGeom prst="rect">
            <a:avLst/>
          </a:prstGeom>
          <a:noFill/>
          <a:ln/>
        </p:spPr>
        <p:txBody>
          <a:bodyPr wrap="square" lIns="0" tIns="0" rIns="0" bIns="0" rtlCol="0" anchor="ctr"/>
          <a:lstStyle/>
          <a:p>
            <a:pPr algn="ctr" indent="0" marL="0">
              <a:buNone/>
            </a:pPr>
            <a:r>
              <a:rPr lang="en-US" sz="4600" b="1" dirty="0">
                <a:solidFill>
                  <a:srgbClr val="D2A8FF"/>
                </a:solidFill>
                <a:latin typeface="Consolas" pitchFamily="34" charset="0"/>
                <a:ea typeface="Consolas" pitchFamily="34" charset="-122"/>
                <a:cs typeface="Consolas" pitchFamily="34" charset="-120"/>
              </a:rPr>
              <a:t>6</a:t>
            </a:r>
            <a:endParaRPr lang="en-US" sz="4600" dirty="0"/>
          </a:p>
        </p:txBody>
      </p:sp>
      <p:sp>
        <p:nvSpPr>
          <p:cNvPr id="10" name="Text 8"/>
          <p:cNvSpPr/>
          <p:nvPr/>
        </p:nvSpPr>
        <p:spPr>
          <a:xfrm>
            <a:off x="6035040" y="3026664"/>
            <a:ext cx="2651760" cy="457200"/>
          </a:xfrm>
          <a:prstGeom prst="rect">
            <a:avLst/>
          </a:prstGeom>
          <a:noFill/>
          <a:ln/>
        </p:spPr>
        <p:txBody>
          <a:bodyPr wrap="square" lIns="0" tIns="0" rIns="0" bIns="0" rtlCol="0" anchor="ctr"/>
          <a:lstStyle/>
          <a:p>
            <a:pPr algn="ctr" indent="0" marL="0">
              <a:buNone/>
            </a:pPr>
            <a:r>
              <a:rPr lang="en-US" sz="1250" dirty="0">
                <a:solidFill>
                  <a:srgbClr val="8B949E"/>
                </a:solidFill>
                <a:latin typeface="Calibri" pitchFamily="34" charset="0"/>
                <a:ea typeface="Calibri" pitchFamily="34" charset="-122"/>
                <a:cs typeface="Calibri" pitchFamily="34" charset="-120"/>
              </a:rPr>
              <a:t>systèmes d'OS</a:t>
            </a:r>
            <a:endParaRPr lang="en-US" sz="1250" dirty="0"/>
          </a:p>
        </p:txBody>
      </p:sp>
      <p:sp>
        <p:nvSpPr>
          <p:cNvPr id="11" name="Text 9"/>
          <p:cNvSpPr/>
          <p:nvPr/>
        </p:nvSpPr>
        <p:spPr>
          <a:xfrm>
            <a:off x="8778240" y="2240280"/>
            <a:ext cx="2834640" cy="777240"/>
          </a:xfrm>
          <a:prstGeom prst="rect">
            <a:avLst/>
          </a:prstGeom>
          <a:noFill/>
          <a:ln/>
        </p:spPr>
        <p:txBody>
          <a:bodyPr wrap="square" lIns="0" tIns="0" rIns="0" bIns="0" rtlCol="0" anchor="ctr"/>
          <a:lstStyle/>
          <a:p>
            <a:pPr algn="ctr" indent="0" marL="0">
              <a:buNone/>
            </a:pPr>
            <a:r>
              <a:rPr lang="en-US" sz="4600" b="1" dirty="0">
                <a:solidFill>
                  <a:srgbClr val="E3B341"/>
                </a:solidFill>
                <a:latin typeface="Consolas" pitchFamily="34" charset="0"/>
                <a:ea typeface="Consolas" pitchFamily="34" charset="-122"/>
                <a:cs typeface="Consolas" pitchFamily="34" charset="-120"/>
              </a:rPr>
              <a:t>25</a:t>
            </a:r>
            <a:endParaRPr lang="en-US" sz="4600" dirty="0"/>
          </a:p>
        </p:txBody>
      </p:sp>
      <p:sp>
        <p:nvSpPr>
          <p:cNvPr id="12" name="Text 10"/>
          <p:cNvSpPr/>
          <p:nvPr/>
        </p:nvSpPr>
        <p:spPr>
          <a:xfrm>
            <a:off x="8778240" y="3026664"/>
            <a:ext cx="2834640" cy="457200"/>
          </a:xfrm>
          <a:prstGeom prst="rect">
            <a:avLst/>
          </a:prstGeom>
          <a:noFill/>
          <a:ln/>
        </p:spPr>
        <p:txBody>
          <a:bodyPr wrap="square" lIns="0" tIns="0" rIns="0" bIns="0" rtlCol="0" anchor="ctr"/>
          <a:lstStyle/>
          <a:p>
            <a:pPr algn="ctr" indent="0" marL="0">
              <a:buNone/>
            </a:pPr>
            <a:r>
              <a:rPr lang="en-US" sz="1250" dirty="0">
                <a:solidFill>
                  <a:srgbClr val="8B949E"/>
                </a:solidFill>
                <a:latin typeface="Calibri" pitchFamily="34" charset="0"/>
                <a:ea typeface="Calibri" pitchFamily="34" charset="-122"/>
                <a:cs typeface="Calibri" pitchFamily="34" charset="-120"/>
              </a:rPr>
              <a:t>tickets</a:t>
            </a:r>
            <a:endParaRPr lang="en-US" sz="1250" dirty="0"/>
          </a:p>
        </p:txBody>
      </p:sp>
      <p:sp>
        <p:nvSpPr>
          <p:cNvPr id="13" name="Shape 11"/>
          <p:cNvSpPr/>
          <p:nvPr/>
        </p:nvSpPr>
        <p:spPr>
          <a:xfrm>
            <a:off x="548640" y="3794760"/>
            <a:ext cx="5394960" cy="2240280"/>
          </a:xfrm>
          <a:prstGeom prst="roundRect">
            <a:avLst>
              <a:gd name="adj" fmla="val 2449"/>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14" name="Text 12"/>
          <p:cNvSpPr/>
          <p:nvPr/>
        </p:nvSpPr>
        <p:spPr>
          <a:xfrm>
            <a:off x="868680" y="4114800"/>
            <a:ext cx="4572000" cy="502920"/>
          </a:xfrm>
          <a:prstGeom prst="rect">
            <a:avLst/>
          </a:prstGeom>
          <a:noFill/>
          <a:ln/>
        </p:spPr>
        <p:txBody>
          <a:bodyPr wrap="square" lIns="0" tIns="0" rIns="0" bIns="0" rtlCol="0" anchor="ctr"/>
          <a:lstStyle/>
          <a:p>
            <a:pPr indent="0" marL="0">
              <a:buNone/>
            </a:pPr>
            <a:r>
              <a:rPr lang="en-US" sz="2200" b="1" dirty="0">
                <a:solidFill>
                  <a:srgbClr val="7EE787"/>
                </a:solidFill>
                <a:latin typeface="Consolas" pitchFamily="34" charset="0"/>
                <a:ea typeface="Consolas" pitchFamily="34" charset="-122"/>
                <a:cs typeface="Consolas" pitchFamily="34" charset="-120"/>
              </a:rPr>
              <a:t>14 tickets résolus</a:t>
            </a:r>
            <a:endParaRPr lang="en-US" sz="2200" dirty="0"/>
          </a:p>
        </p:txBody>
      </p:sp>
      <p:sp>
        <p:nvSpPr>
          <p:cNvPr id="15" name="Text 13"/>
          <p:cNvSpPr/>
          <p:nvPr/>
        </p:nvSpPr>
        <p:spPr>
          <a:xfrm>
            <a:off x="868680" y="4709160"/>
            <a:ext cx="4572000" cy="457200"/>
          </a:xfrm>
          <a:prstGeom prst="rect">
            <a:avLst/>
          </a:prstGeom>
          <a:noFill/>
          <a:ln/>
        </p:spPr>
        <p:txBody>
          <a:bodyPr wrap="square" lIns="0" tIns="0" rIns="0" bIns="0" rtlCol="0" anchor="ctr"/>
          <a:lstStyle/>
          <a:p>
            <a:pPr indent="0" marL="0">
              <a:buNone/>
            </a:pPr>
            <a:r>
              <a:rPr lang="en-US" sz="1400" dirty="0">
                <a:solidFill>
                  <a:srgbClr val="8B949E"/>
                </a:solidFill>
                <a:latin typeface="Calibri" pitchFamily="34" charset="0"/>
                <a:ea typeface="Calibri" pitchFamily="34" charset="-122"/>
                <a:cs typeface="Calibri" pitchFamily="34" charset="-120"/>
              </a:rPr>
              <a:t>avec leur date et leur solution.</a:t>
            </a:r>
            <a:endParaRPr lang="en-US" sz="1400" dirty="0"/>
          </a:p>
        </p:txBody>
      </p:sp>
      <p:sp>
        <p:nvSpPr>
          <p:cNvPr id="16" name="Shape 14"/>
          <p:cNvSpPr/>
          <p:nvPr/>
        </p:nvSpPr>
        <p:spPr>
          <a:xfrm>
            <a:off x="6126480" y="3794760"/>
            <a:ext cx="5486400" cy="2240280"/>
          </a:xfrm>
          <a:prstGeom prst="roundRect">
            <a:avLst>
              <a:gd name="adj" fmla="val 2449"/>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17" name="Text 15"/>
          <p:cNvSpPr/>
          <p:nvPr/>
        </p:nvSpPr>
        <p:spPr>
          <a:xfrm>
            <a:off x="6446520" y="4114800"/>
            <a:ext cx="4572000" cy="502920"/>
          </a:xfrm>
          <a:prstGeom prst="rect">
            <a:avLst/>
          </a:prstGeom>
          <a:noFill/>
          <a:ln/>
        </p:spPr>
        <p:txBody>
          <a:bodyPr wrap="square" lIns="0" tIns="0" rIns="0" bIns="0" rtlCol="0" anchor="ctr"/>
          <a:lstStyle/>
          <a:p>
            <a:pPr indent="0" marL="0">
              <a:buNone/>
            </a:pPr>
            <a:r>
              <a:rPr lang="en-US" sz="2200" b="1" dirty="0">
                <a:solidFill>
                  <a:srgbClr val="FF7B72"/>
                </a:solidFill>
                <a:latin typeface="Consolas" pitchFamily="34" charset="0"/>
                <a:ea typeface="Consolas" pitchFamily="34" charset="-122"/>
                <a:cs typeface="Consolas" pitchFamily="34" charset="-120"/>
              </a:rPr>
              <a:t>11 tickets en cours</a:t>
            </a:r>
            <a:endParaRPr lang="en-US" sz="2200" dirty="0"/>
          </a:p>
        </p:txBody>
      </p:sp>
      <p:sp>
        <p:nvSpPr>
          <p:cNvPr id="18" name="Text 16"/>
          <p:cNvSpPr/>
          <p:nvPr/>
        </p:nvSpPr>
        <p:spPr>
          <a:xfrm>
            <a:off x="6446520" y="4709160"/>
            <a:ext cx="4846320" cy="457200"/>
          </a:xfrm>
          <a:prstGeom prst="rect">
            <a:avLst/>
          </a:prstGeom>
          <a:noFill/>
          <a:ln/>
        </p:spPr>
        <p:txBody>
          <a:bodyPr wrap="square" lIns="0" tIns="0" rIns="0" bIns="0" rtlCol="0" anchor="ctr"/>
          <a:lstStyle/>
          <a:p>
            <a:pPr indent="0" marL="0">
              <a:buNone/>
            </a:pPr>
            <a:r>
              <a:rPr lang="en-US" sz="1400" dirty="0">
                <a:solidFill>
                  <a:srgbClr val="8B949E"/>
                </a:solidFill>
                <a:latin typeface="Calibri" pitchFamily="34" charset="0"/>
                <a:ea typeface="Calibri" pitchFamily="34" charset="-122"/>
                <a:cs typeface="Calibri" pitchFamily="34" charset="-120"/>
              </a:rPr>
              <a:t>sans date ni solution de résolution.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dirty="0">
                <a:solidFill>
                  <a:srgbClr val="7EE787"/>
                </a:solidFill>
                <a:latin typeface="Consolas" pitchFamily="34" charset="0"/>
                <a:ea typeface="Consolas" pitchFamily="34" charset="-122"/>
                <a:cs typeface="Consolas" pitchFamily="34" charset="-120"/>
              </a:rPr>
              <a:t>// données</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indent="0" marL="0">
              <a:buNone/>
            </a:pPr>
            <a:r>
              <a:rPr lang="en-US" sz="2600" b="1" dirty="0">
                <a:solidFill>
                  <a:srgbClr val="E6EDF3"/>
                </a:solidFill>
                <a:latin typeface="Consolas" pitchFamily="34" charset="0"/>
                <a:ea typeface="Consolas" pitchFamily="34" charset="-122"/>
                <a:cs typeface="Consolas" pitchFamily="34" charset="-120"/>
              </a:rPr>
              <a:t>Deux tickets expliqués</a:t>
            </a:r>
            <a:endParaRPr lang="en-US" sz="2600" dirty="0"/>
          </a:p>
        </p:txBody>
      </p:sp>
      <p:sp>
        <p:nvSpPr>
          <p:cNvPr id="4" name="Shape 2"/>
          <p:cNvSpPr/>
          <p:nvPr/>
        </p:nvSpPr>
        <p:spPr>
          <a:xfrm>
            <a:off x="548640" y="1783080"/>
            <a:ext cx="5486400" cy="4297680"/>
          </a:xfrm>
          <a:prstGeom prst="roundRect">
            <a:avLst>
              <a:gd name="adj" fmla="val 1277"/>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5" name="Text 3"/>
          <p:cNvSpPr/>
          <p:nvPr/>
        </p:nvSpPr>
        <p:spPr>
          <a:xfrm>
            <a:off x="822960" y="2011680"/>
            <a:ext cx="4937760" cy="457200"/>
          </a:xfrm>
          <a:prstGeom prst="rect">
            <a:avLst/>
          </a:prstGeom>
          <a:noFill/>
          <a:ln/>
        </p:spPr>
        <p:txBody>
          <a:bodyPr wrap="square" lIns="0" tIns="0" rIns="0" bIns="0" rtlCol="0" anchor="ctr"/>
          <a:lstStyle/>
          <a:p>
            <a:pPr indent="0" marL="0">
              <a:buNone/>
            </a:pPr>
            <a:r>
              <a:rPr lang="en-US" sz="1500" b="1" dirty="0">
                <a:solidFill>
                  <a:srgbClr val="FF7B72"/>
                </a:solidFill>
                <a:latin typeface="Consolas" pitchFamily="34" charset="0"/>
                <a:ea typeface="Consolas" pitchFamily="34" charset="-122"/>
                <a:cs typeface="Consolas" pitchFamily="34" charset="-120"/>
              </a:rPr>
              <a:t>Ticket 1 — Trader en Herbe 1.0 / Windows</a:t>
            </a:r>
            <a:endParaRPr lang="en-US" sz="1500" dirty="0"/>
          </a:p>
        </p:txBody>
      </p:sp>
      <p:sp>
        <p:nvSpPr>
          <p:cNvPr id="6" name="Text 4"/>
          <p:cNvSpPr/>
          <p:nvPr/>
        </p:nvSpPr>
        <p:spPr>
          <a:xfrm>
            <a:off x="822960" y="2560320"/>
            <a:ext cx="4983480" cy="3291840"/>
          </a:xfrm>
          <a:prstGeom prst="rect">
            <a:avLst/>
          </a:prstGeom>
          <a:noFill/>
          <a:ln/>
        </p:spPr>
        <p:txBody>
          <a:bodyPr wrap="square" lIns="0" tIns="0" rIns="0" bIns="0" rtlCol="0" anchor="t"/>
          <a:lstStyle/>
          <a:p>
            <a:pPr indent="0" marL="0">
              <a:lnSpc>
                <a:spcPct val="115000"/>
              </a:lnSpc>
              <a:buNone/>
            </a:pPr>
            <a:r>
              <a:rPr lang="en-US" sz="1400" b="1" dirty="0">
                <a:solidFill>
                  <a:srgbClr val="E6EDF3"/>
                </a:solidFill>
                <a:latin typeface="Calibri" pitchFamily="34" charset="0"/>
                <a:ea typeface="Calibri" pitchFamily="34" charset="-122"/>
                <a:cs typeface="Calibri" pitchFamily="34" charset="-120"/>
              </a:rPr>
              <a:t>Problème : </a:t>
            </a:r>
            <a:pPr indent="0" marL="0">
              <a:lnSpc>
                <a:spcPct val="115000"/>
              </a:lnSpc>
              <a:buNone/>
            </a:pPr>
            <a:r>
              <a:rPr lang="en-US" sz="1400" dirty="0">
                <a:solidFill>
                  <a:srgbClr val="8B949E"/>
                </a:solidFill>
                <a:latin typeface="Calibri" pitchFamily="34" charset="0"/>
                <a:ea typeface="Calibri" pitchFamily="34" charset="-122"/>
                <a:cs typeface="Calibri" pitchFamily="34" charset="-120"/>
              </a:rPr>
              <a:t>sur un PC en langue française, tous les cours de bourse s'affichent à 0,00.
</a:t>
            </a:r>
            <a:pPr indent="0" marL="0">
              <a:lnSpc>
                <a:spcPct val="115000"/>
              </a:lnSpc>
              <a:buNone/>
            </a:pPr>
            <a:r>
              <a:rPr lang="en-US" sz="1400" b="1" dirty="0">
                <a:solidFill>
                  <a:srgbClr val="7EE787"/>
                </a:solidFill>
                <a:latin typeface="Calibri" pitchFamily="34" charset="0"/>
                <a:ea typeface="Calibri" pitchFamily="34" charset="-122"/>
                <a:cs typeface="Calibri" pitchFamily="34" charset="-120"/>
              </a:rPr>
              <a:t>Solution : </a:t>
            </a:r>
            <a:pPr indent="0" marL="0">
              <a:lnSpc>
                <a:spcPct val="115000"/>
              </a:lnSpc>
              <a:buNone/>
            </a:pPr>
            <a:r>
              <a:rPr lang="en-US" sz="1400" dirty="0">
                <a:solidFill>
                  <a:srgbClr val="8B949E"/>
                </a:solidFill>
                <a:latin typeface="Calibri" pitchFamily="34" charset="0"/>
                <a:ea typeface="Calibri" pitchFamily="34" charset="-122"/>
                <a:cs typeface="Calibri" pitchFamily="34" charset="-120"/>
              </a:rPr>
              <a:t>le programme lisait les prix au format local (virgule) alors que le service renvoie un point décimal. On force un format fixe (InvariantCulture), et les prix se lisent correctement.</a:t>
            </a:r>
            <a:endParaRPr lang="en-US" sz="1400" dirty="0"/>
          </a:p>
        </p:txBody>
      </p:sp>
      <p:sp>
        <p:nvSpPr>
          <p:cNvPr id="7" name="Shape 5"/>
          <p:cNvSpPr/>
          <p:nvPr/>
        </p:nvSpPr>
        <p:spPr>
          <a:xfrm>
            <a:off x="6172200" y="1783080"/>
            <a:ext cx="5440680" cy="4297680"/>
          </a:xfrm>
          <a:prstGeom prst="roundRect">
            <a:avLst>
              <a:gd name="adj" fmla="val 1277"/>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8" name="Text 6"/>
          <p:cNvSpPr/>
          <p:nvPr/>
        </p:nvSpPr>
        <p:spPr>
          <a:xfrm>
            <a:off x="6446520" y="2011680"/>
            <a:ext cx="5029200" cy="457200"/>
          </a:xfrm>
          <a:prstGeom prst="rect">
            <a:avLst/>
          </a:prstGeom>
          <a:noFill/>
          <a:ln/>
        </p:spPr>
        <p:txBody>
          <a:bodyPr wrap="square" lIns="0" tIns="0" rIns="0" bIns="0" rtlCol="0" anchor="ctr"/>
          <a:lstStyle/>
          <a:p>
            <a:pPr indent="0" marL="0">
              <a:buNone/>
            </a:pPr>
            <a:r>
              <a:rPr lang="en-US" sz="1500" b="1" dirty="0">
                <a:solidFill>
                  <a:srgbClr val="FF7B72"/>
                </a:solidFill>
                <a:latin typeface="Consolas" pitchFamily="34" charset="0"/>
                <a:ea typeface="Consolas" pitchFamily="34" charset="-122"/>
                <a:cs typeface="Consolas" pitchFamily="34" charset="-120"/>
              </a:rPr>
              <a:t>Ticket 6 — Trader en Herbe 1.2 / Windows Mobile</a:t>
            </a:r>
            <a:endParaRPr lang="en-US" sz="1500" dirty="0"/>
          </a:p>
        </p:txBody>
      </p:sp>
      <p:sp>
        <p:nvSpPr>
          <p:cNvPr id="9" name="Text 7"/>
          <p:cNvSpPr/>
          <p:nvPr/>
        </p:nvSpPr>
        <p:spPr>
          <a:xfrm>
            <a:off x="6446520" y="2560320"/>
            <a:ext cx="4937760" cy="3291840"/>
          </a:xfrm>
          <a:prstGeom prst="rect">
            <a:avLst/>
          </a:prstGeom>
          <a:noFill/>
          <a:ln/>
        </p:spPr>
        <p:txBody>
          <a:bodyPr wrap="square" lIns="0" tIns="0" rIns="0" bIns="0" rtlCol="0" anchor="t"/>
          <a:lstStyle/>
          <a:p>
            <a:pPr indent="0" marL="0">
              <a:lnSpc>
                <a:spcPct val="115000"/>
              </a:lnSpc>
              <a:buNone/>
            </a:pPr>
            <a:r>
              <a:rPr lang="en-US" sz="1400" b="1" dirty="0">
                <a:solidFill>
                  <a:srgbClr val="E6EDF3"/>
                </a:solidFill>
                <a:latin typeface="Calibri" pitchFamily="34" charset="0"/>
                <a:ea typeface="Calibri" pitchFamily="34" charset="-122"/>
                <a:cs typeface="Calibri" pitchFamily="34" charset="-120"/>
              </a:rPr>
              <a:t>Problème : </a:t>
            </a:r>
            <a:pPr indent="0" marL="0">
              <a:lnSpc>
                <a:spcPct val="115000"/>
              </a:lnSpc>
              <a:buNone/>
            </a:pPr>
            <a:r>
              <a:rPr lang="en-US" sz="1400" dirty="0">
                <a:solidFill>
                  <a:srgbClr val="8B949E"/>
                </a:solidFill>
                <a:latin typeface="Calibri" pitchFamily="34" charset="0"/>
                <a:ea typeface="Calibri" pitchFamily="34" charset="-122"/>
                <a:cs typeface="Calibri" pitchFamily="34" charset="-120"/>
              </a:rPr>
              <a:t>après une vente, le solde du portefeuille ne se met pas à jour à l'écran.
</a:t>
            </a:r>
            <a:pPr indent="0" marL="0">
              <a:lnSpc>
                <a:spcPct val="115000"/>
              </a:lnSpc>
              <a:buNone/>
            </a:pPr>
            <a:r>
              <a:rPr lang="en-US" sz="1400" b="1" dirty="0">
                <a:solidFill>
                  <a:srgbClr val="7EE787"/>
                </a:solidFill>
                <a:latin typeface="Calibri" pitchFamily="34" charset="0"/>
                <a:ea typeface="Calibri" pitchFamily="34" charset="-122"/>
                <a:cs typeface="Calibri" pitchFamily="34" charset="-120"/>
              </a:rPr>
              <a:t>Solution : </a:t>
            </a:r>
            <a:pPr indent="0" marL="0">
              <a:lnSpc>
                <a:spcPct val="115000"/>
              </a:lnSpc>
              <a:buNone/>
            </a:pPr>
            <a:r>
              <a:rPr lang="en-US" sz="1400" dirty="0">
                <a:solidFill>
                  <a:srgbClr val="8B949E"/>
                </a:solidFill>
                <a:latin typeface="Calibri" pitchFamily="34" charset="0"/>
                <a:ea typeface="Calibri" pitchFamily="34" charset="-122"/>
                <a:cs typeface="Calibri" pitchFamily="34" charset="-120"/>
              </a:rPr>
              <a:t>la donnée changeait en mémoire mais l'écran n'était pas prévenu. On ajoute la notification de changement (INotifyPropertyChanged) et l'affichage se met à jour tout seul.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dirty="0">
                <a:solidFill>
                  <a:srgbClr val="7EE787"/>
                </a:solidFill>
                <a:latin typeface="Consolas" pitchFamily="34" charset="0"/>
                <a:ea typeface="Consolas" pitchFamily="34" charset="-122"/>
                <a:cs typeface="Consolas" pitchFamily="34" charset="-120"/>
              </a:rPr>
              <a:t>// création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indent="0" marL="0">
              <a:buNone/>
            </a:pPr>
            <a:r>
              <a:rPr lang="en-US" sz="2600" b="1" dirty="0">
                <a:solidFill>
                  <a:srgbClr val="E6EDF3"/>
                </a:solidFill>
                <a:latin typeface="Consolas" pitchFamily="34" charset="0"/>
                <a:ea typeface="Consolas" pitchFamily="34" charset="-122"/>
                <a:cs typeface="Consolas" pitchFamily="34" charset="-120"/>
              </a:rPr>
              <a:t>La création : Code-First (Entity Framework Core)</a:t>
            </a:r>
            <a:endParaRPr lang="en-US" sz="2600" dirty="0"/>
          </a:p>
        </p:txBody>
      </p:sp>
      <p:sp>
        <p:nvSpPr>
          <p:cNvPr id="4" name="Shape 2"/>
          <p:cNvSpPr/>
          <p:nvPr/>
        </p:nvSpPr>
        <p:spPr>
          <a:xfrm>
            <a:off x="640080" y="1892808"/>
            <a:ext cx="128016" cy="128016"/>
          </a:xfrm>
          <a:prstGeom prst="rect">
            <a:avLst/>
          </a:prstGeom>
          <a:solidFill>
            <a:srgbClr val="FF7B72"/>
          </a:solidFill>
          <a:ln/>
        </p:spPr>
      </p:sp>
      <p:sp>
        <p:nvSpPr>
          <p:cNvPr id="5" name="Text 3"/>
          <p:cNvSpPr/>
          <p:nvPr/>
        </p:nvSpPr>
        <p:spPr>
          <a:xfrm>
            <a:off x="932688" y="1783080"/>
            <a:ext cx="528523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Pourquoi Code-First  </a:t>
            </a:r>
            <a:pPr indent="0" marL="0">
              <a:buNone/>
            </a:pPr>
            <a:r>
              <a:rPr lang="en-US" sz="1450" dirty="0">
                <a:solidFill>
                  <a:srgbClr val="8B949E"/>
                </a:solidFill>
                <a:latin typeface="Calibri" pitchFamily="34" charset="0"/>
                <a:ea typeface="Calibri" pitchFamily="34" charset="-122"/>
                <a:cs typeface="Calibri" pitchFamily="34" charset="-120"/>
              </a:rPr>
              <a:t>l'approche courante en entreprise, valorisée en entretien.</a:t>
            </a:r>
            <a:endParaRPr lang="en-US" sz="1450" dirty="0"/>
          </a:p>
        </p:txBody>
      </p:sp>
      <p:sp>
        <p:nvSpPr>
          <p:cNvPr id="6" name="Shape 4"/>
          <p:cNvSpPr/>
          <p:nvPr/>
        </p:nvSpPr>
        <p:spPr>
          <a:xfrm>
            <a:off x="640080" y="2670048"/>
            <a:ext cx="128016" cy="128016"/>
          </a:xfrm>
          <a:prstGeom prst="rect">
            <a:avLst/>
          </a:prstGeom>
          <a:solidFill>
            <a:srgbClr val="FF7B72"/>
          </a:solidFill>
          <a:ln/>
        </p:spPr>
      </p:sp>
      <p:sp>
        <p:nvSpPr>
          <p:cNvPr id="7" name="Text 5"/>
          <p:cNvSpPr/>
          <p:nvPr/>
        </p:nvSpPr>
        <p:spPr>
          <a:xfrm>
            <a:off x="932688" y="2560320"/>
            <a:ext cx="528523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Le principe  </a:t>
            </a:r>
            <a:pPr indent="0" marL="0">
              <a:buNone/>
            </a:pPr>
            <a:r>
              <a:rPr lang="en-US" sz="1450" dirty="0">
                <a:solidFill>
                  <a:srgbClr val="8B949E"/>
                </a:solidFill>
                <a:latin typeface="Calibri" pitchFamily="34" charset="0"/>
                <a:ea typeface="Calibri" pitchFamily="34" charset="-122"/>
                <a:cs typeface="Calibri" pitchFamily="34" charset="-120"/>
              </a:rPr>
              <a:t>j'écris des classes C#, EF Core en génère la base.</a:t>
            </a:r>
            <a:endParaRPr lang="en-US" sz="1450" dirty="0"/>
          </a:p>
        </p:txBody>
      </p:sp>
      <p:sp>
        <p:nvSpPr>
          <p:cNvPr id="8" name="Shape 6"/>
          <p:cNvSpPr/>
          <p:nvPr/>
        </p:nvSpPr>
        <p:spPr>
          <a:xfrm>
            <a:off x="640080" y="3447288"/>
            <a:ext cx="128016" cy="128016"/>
          </a:xfrm>
          <a:prstGeom prst="rect">
            <a:avLst/>
          </a:prstGeom>
          <a:solidFill>
            <a:srgbClr val="FF7B72"/>
          </a:solidFill>
          <a:ln/>
        </p:spPr>
      </p:sp>
      <p:sp>
        <p:nvSpPr>
          <p:cNvPr id="9" name="Text 7"/>
          <p:cNvSpPr/>
          <p:nvPr/>
        </p:nvSpPr>
        <p:spPr>
          <a:xfrm>
            <a:off x="932688" y="3337560"/>
            <a:ext cx="528523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.NET 10 et EF Core 10  </a:t>
            </a:r>
            <a:pPr indent="0" marL="0">
              <a:buNone/>
            </a:pPr>
            <a:r>
              <a:rPr lang="en-US" sz="1450" dirty="0">
                <a:solidFill>
                  <a:srgbClr val="8B949E"/>
                </a:solidFill>
                <a:latin typeface="Calibri" pitchFamily="34" charset="0"/>
                <a:ea typeface="Calibri" pitchFamily="34" charset="-122"/>
                <a:cs typeface="Calibri" pitchFamily="34" charset="-120"/>
              </a:rPr>
              <a:t>les versions les plus récentes.</a:t>
            </a:r>
            <a:endParaRPr lang="en-US" sz="1450" dirty="0"/>
          </a:p>
        </p:txBody>
      </p:sp>
      <p:sp>
        <p:nvSpPr>
          <p:cNvPr id="10" name="Shape 8"/>
          <p:cNvSpPr/>
          <p:nvPr/>
        </p:nvSpPr>
        <p:spPr>
          <a:xfrm>
            <a:off x="640080" y="4224528"/>
            <a:ext cx="128016" cy="128016"/>
          </a:xfrm>
          <a:prstGeom prst="rect">
            <a:avLst/>
          </a:prstGeom>
          <a:solidFill>
            <a:srgbClr val="FF7B72"/>
          </a:solidFill>
          <a:ln/>
        </p:spPr>
      </p:sp>
      <p:sp>
        <p:nvSpPr>
          <p:cNvPr id="11" name="Text 9"/>
          <p:cNvSpPr/>
          <p:nvPr/>
        </p:nvSpPr>
        <p:spPr>
          <a:xfrm>
            <a:off x="932688" y="4114800"/>
            <a:ext cx="528523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En complément  </a:t>
            </a:r>
            <a:pPr indent="0" marL="0">
              <a:buNone/>
            </a:pPr>
            <a:r>
              <a:rPr lang="en-US" sz="1450" dirty="0">
                <a:solidFill>
                  <a:srgbClr val="8B949E"/>
                </a:solidFill>
                <a:latin typeface="Calibri" pitchFamily="34" charset="0"/>
                <a:ea typeface="Calibri" pitchFamily="34" charset="-122"/>
                <a:cs typeface="Calibri" pitchFamily="34" charset="-120"/>
              </a:rPr>
              <a:t>le même schéma aussi en SQL pur (SSMS).</a:t>
            </a:r>
            <a:endParaRPr lang="en-US" sz="1450" dirty="0"/>
          </a:p>
        </p:txBody>
      </p:sp>
      <p:sp>
        <p:nvSpPr>
          <p:cNvPr id="12" name="Shape 10"/>
          <p:cNvSpPr/>
          <p:nvPr/>
        </p:nvSpPr>
        <p:spPr>
          <a:xfrm>
            <a:off x="6400800" y="1828800"/>
            <a:ext cx="5212080" cy="4206240"/>
          </a:xfrm>
          <a:prstGeom prst="roundRect">
            <a:avLst>
              <a:gd name="adj" fmla="val 1304"/>
            </a:avLst>
          </a:prstGeom>
          <a:solidFill>
            <a:srgbClr val="10151C"/>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13" name="Text 11"/>
          <p:cNvSpPr/>
          <p:nvPr/>
        </p:nvSpPr>
        <p:spPr>
          <a:xfrm>
            <a:off x="6629400" y="1993392"/>
            <a:ext cx="4800600" cy="3886200"/>
          </a:xfrm>
          <a:prstGeom prst="rect">
            <a:avLst/>
          </a:prstGeom>
          <a:noFill/>
          <a:ln/>
        </p:spPr>
        <p:txBody>
          <a:bodyPr wrap="square" lIns="0" tIns="0" rIns="0" bIns="0" rtlCol="0" anchor="t"/>
          <a:lstStyle/>
          <a:p>
            <a:pPr indent="0" marL="0">
              <a:lnSpc>
                <a:spcPct val="118000"/>
              </a:lnSpc>
              <a:buNone/>
            </a:pPr>
            <a:r>
              <a:rPr lang="en-US" sz="1250" dirty="0">
                <a:solidFill>
                  <a:srgbClr val="FF7B72"/>
                </a:solidFill>
                <a:latin typeface="Consolas" pitchFamily="34" charset="0"/>
                <a:ea typeface="Consolas" pitchFamily="34" charset="-122"/>
                <a:cs typeface="Consolas" pitchFamily="34" charset="-120"/>
              </a:rPr>
              <a:t>public class </a:t>
            </a:r>
            <a:pPr indent="0" marL="0">
              <a:lnSpc>
                <a:spcPct val="118000"/>
              </a:lnSpc>
              <a:buNone/>
            </a:pPr>
            <a:r>
              <a:rPr lang="en-US" sz="1250" dirty="0">
                <a:solidFill>
                  <a:srgbClr val="79C0FF"/>
                </a:solidFill>
                <a:latin typeface="Consolas" pitchFamily="34" charset="0"/>
                <a:ea typeface="Consolas" pitchFamily="34" charset="-122"/>
                <a:cs typeface="Consolas" pitchFamily="34" charset="-120"/>
              </a:rPr>
              <a:t>Ticket</a:t>
            </a:r>
            <a:endParaRPr lang="en-US" sz="1250" dirty="0"/>
          </a:p>
          <a:p>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18000"/>
              </a:lnSpc>
              <a:buNone/>
            </a:pPr>
            <a:r>
              <a:rPr lang="en-US" sz="1250" dirty="0">
                <a:solidFill>
                  <a:srgbClr val="FF7B72"/>
                </a:solidFill>
                <a:latin typeface="Consolas" pitchFamily="34" charset="0"/>
                <a:ea typeface="Consolas" pitchFamily="34" charset="-122"/>
                <a:cs typeface="Consolas" pitchFamily="34" charset="-120"/>
              </a:rPr>
              <a:t>    public int </a:t>
            </a:r>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Id { get; set; }</a:t>
            </a:r>
            <a:endParaRPr lang="en-US" sz="1250" dirty="0"/>
          </a:p>
          <a:p>
            <a:pPr indent="0" marL="0">
              <a:lnSpc>
                <a:spcPct val="118000"/>
              </a:lnSpc>
              <a:buNone/>
            </a:pPr>
            <a:r>
              <a:rPr lang="en-US" sz="1250" dirty="0">
                <a:solidFill>
                  <a:srgbClr val="FF7B72"/>
                </a:solidFill>
                <a:latin typeface="Consolas" pitchFamily="34" charset="0"/>
                <a:ea typeface="Consolas" pitchFamily="34" charset="-122"/>
                <a:cs typeface="Consolas" pitchFamily="34" charset="-120"/>
              </a:rPr>
              <a:t>    public DateOnly </a:t>
            </a:r>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DateCreation</a:t>
            </a:r>
            <a:endParaRPr lang="en-US" sz="1250" dirty="0"/>
          </a:p>
          <a:p>
            <a:pPr indent="0" marL="0">
              <a:lnSpc>
                <a:spcPct val="118000"/>
              </a:lnSpc>
              <a:buNone/>
            </a:pPr>
            <a:r>
              <a:rPr lang="en-US" sz="1250" dirty="0">
                <a:solidFill>
                  <a:srgbClr val="FF7B72"/>
                </a:solidFill>
                <a:latin typeface="Consolas" pitchFamily="34" charset="0"/>
                <a:ea typeface="Consolas" pitchFamily="34" charset="-122"/>
                <a:cs typeface="Consolas" pitchFamily="34" charset="-120"/>
              </a:rPr>
              <a:t>    public string </a:t>
            </a:r>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Probleme</a:t>
            </a:r>
            <a:endParaRPr lang="en-US" sz="1250" dirty="0"/>
          </a:p>
          <a:p>
            <a:pPr indent="0" marL="0">
              <a:lnSpc>
                <a:spcPct val="118000"/>
              </a:lnSpc>
              <a:buNone/>
            </a:pPr>
            <a:r>
              <a:rPr lang="en-US" sz="1250" dirty="0">
                <a:solidFill>
                  <a:srgbClr val="FF7B72"/>
                </a:solidFill>
                <a:latin typeface="Consolas" pitchFamily="34" charset="0"/>
                <a:ea typeface="Consolas" pitchFamily="34" charset="-122"/>
                <a:cs typeface="Consolas" pitchFamily="34" charset="-120"/>
              </a:rPr>
              <a:t>    public int </a:t>
            </a:r>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CompatibiliteId</a:t>
            </a:r>
            <a:endParaRPr lang="en-US" sz="1250" dirty="0"/>
          </a:p>
          <a:p>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18000"/>
              </a:lnSpc>
              <a:buNone/>
            </a:pPr>
            <a:r>
              <a:rPr lang="en-US" sz="1250" dirty="0">
                <a:solidFill>
                  <a:srgbClr val="7EE787"/>
                </a:solidFill>
                <a:latin typeface="Consolas" pitchFamily="34" charset="0"/>
                <a:ea typeface="Consolas" pitchFamily="34" charset="-122"/>
                <a:cs typeface="Consolas" pitchFamily="34" charset="-120"/>
              </a:rPr>
              <a:t>&gt; dotnet ef migrations add Init</a:t>
            </a:r>
            <a:endParaRPr lang="en-US" sz="1250" dirty="0"/>
          </a:p>
          <a:p>
            <a:pPr indent="0" marL="0">
              <a:lnSpc>
                <a:spcPct val="118000"/>
              </a:lnSpc>
              <a:buNone/>
            </a:pPr>
            <a:r>
              <a:rPr lang="en-US" sz="1250" dirty="0">
                <a:solidFill>
                  <a:srgbClr val="7EE787"/>
                </a:solidFill>
                <a:latin typeface="Consolas" pitchFamily="34" charset="0"/>
                <a:ea typeface="Consolas" pitchFamily="34" charset="-122"/>
                <a:cs typeface="Consolas" pitchFamily="34" charset="-120"/>
              </a:rPr>
              <a:t>&gt; dotnet ef database update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dirty="0">
                <a:solidFill>
                  <a:srgbClr val="7EE787"/>
                </a:solidFill>
                <a:latin typeface="Consolas" pitchFamily="34" charset="0"/>
                <a:ea typeface="Consolas" pitchFamily="34" charset="-122"/>
                <a:cs typeface="Consolas" pitchFamily="34" charset="-120"/>
              </a:rPr>
              <a:t>// données</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indent="0" marL="0">
              <a:buNone/>
            </a:pPr>
            <a:r>
              <a:rPr lang="en-US" sz="2600" b="1" dirty="0">
                <a:solidFill>
                  <a:srgbClr val="E6EDF3"/>
                </a:solidFill>
                <a:latin typeface="Consolas" pitchFamily="34" charset="0"/>
                <a:ea typeface="Consolas" pitchFamily="34" charset="-122"/>
                <a:cs typeface="Consolas" pitchFamily="34" charset="-120"/>
              </a:rPr>
              <a:t>Le remplissage de la base</a:t>
            </a:r>
            <a:endParaRPr lang="en-US" sz="2600" dirty="0"/>
          </a:p>
        </p:txBody>
      </p:sp>
      <p:sp>
        <p:nvSpPr>
          <p:cNvPr id="4" name="Text 2"/>
          <p:cNvSpPr/>
          <p:nvPr/>
        </p:nvSpPr>
        <p:spPr>
          <a:xfrm>
            <a:off x="548640" y="1645920"/>
            <a:ext cx="10972800" cy="365760"/>
          </a:xfrm>
          <a:prstGeom prst="rect">
            <a:avLst/>
          </a:prstGeom>
          <a:noFill/>
          <a:ln/>
        </p:spPr>
        <p:txBody>
          <a:bodyPr wrap="square" lIns="0" tIns="0" rIns="0" bIns="0" rtlCol="0" anchor="ctr"/>
          <a:lstStyle/>
          <a:p>
            <a:pPr indent="0" marL="0">
              <a:buNone/>
            </a:pPr>
            <a:r>
              <a:rPr lang="en-US" sz="1500" i="1" dirty="0">
                <a:solidFill>
                  <a:srgbClr val="8B949E"/>
                </a:solidFill>
                <a:latin typeface="Calibri" pitchFamily="34" charset="0"/>
                <a:ea typeface="Calibri" pitchFamily="34" charset="-122"/>
                <a:cs typeface="Calibri" pitchFamily="34" charset="-120"/>
              </a:rPr>
              <a:t>Un code de remplissage crée les objets, les relie, et enregistre en une fois.</a:t>
            </a:r>
            <a:endParaRPr lang="en-US" sz="1500" dirty="0"/>
          </a:p>
        </p:txBody>
      </p:sp>
      <p:sp>
        <p:nvSpPr>
          <p:cNvPr id="5" name="Shape 3"/>
          <p:cNvSpPr/>
          <p:nvPr/>
        </p:nvSpPr>
        <p:spPr>
          <a:xfrm>
            <a:off x="548640" y="2286000"/>
            <a:ext cx="3520440" cy="1600200"/>
          </a:xfrm>
          <a:prstGeom prst="roundRect">
            <a:avLst>
              <a:gd name="adj" fmla="val 3429"/>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6" name="Text 4"/>
          <p:cNvSpPr/>
          <p:nvPr/>
        </p:nvSpPr>
        <p:spPr>
          <a:xfrm>
            <a:off x="548640" y="2423160"/>
            <a:ext cx="3520440" cy="822960"/>
          </a:xfrm>
          <a:prstGeom prst="rect">
            <a:avLst/>
          </a:prstGeom>
          <a:noFill/>
          <a:ln/>
        </p:spPr>
        <p:txBody>
          <a:bodyPr wrap="square" lIns="0" tIns="0" rIns="0" bIns="0" rtlCol="0" anchor="ctr"/>
          <a:lstStyle/>
          <a:p>
            <a:pPr algn="ctr" indent="0" marL="0">
              <a:buNone/>
            </a:pPr>
            <a:r>
              <a:rPr lang="en-US" sz="4000" b="1" dirty="0">
                <a:solidFill>
                  <a:srgbClr val="FF7B72"/>
                </a:solidFill>
                <a:latin typeface="Consolas" pitchFamily="34" charset="0"/>
                <a:ea typeface="Consolas" pitchFamily="34" charset="-122"/>
                <a:cs typeface="Consolas" pitchFamily="34" charset="-120"/>
              </a:rPr>
              <a:t>4</a:t>
            </a:r>
            <a:endParaRPr lang="en-US" sz="4000" dirty="0"/>
          </a:p>
        </p:txBody>
      </p:sp>
      <p:sp>
        <p:nvSpPr>
          <p:cNvPr id="7" name="Text 5"/>
          <p:cNvSpPr/>
          <p:nvPr/>
        </p:nvSpPr>
        <p:spPr>
          <a:xfrm>
            <a:off x="548640" y="3246120"/>
            <a:ext cx="3520440" cy="457200"/>
          </a:xfrm>
          <a:prstGeom prst="rect">
            <a:avLst/>
          </a:prstGeom>
          <a:noFill/>
          <a:ln/>
        </p:spPr>
        <p:txBody>
          <a:bodyPr wrap="square" lIns="0" tIns="0" rIns="0" bIns="0" rtlCol="0" anchor="ctr"/>
          <a:lstStyle/>
          <a:p>
            <a:pPr algn="ctr" indent="0" marL="0">
              <a:buNone/>
            </a:pPr>
            <a:r>
              <a:rPr lang="en-US" sz="1400" dirty="0">
                <a:solidFill>
                  <a:srgbClr val="8B949E"/>
                </a:solidFill>
                <a:latin typeface="Calibri" pitchFamily="34" charset="0"/>
                <a:ea typeface="Calibri" pitchFamily="34" charset="-122"/>
                <a:cs typeface="Calibri" pitchFamily="34" charset="-120"/>
              </a:rPr>
              <a:t>produits</a:t>
            </a:r>
            <a:endParaRPr lang="en-US" sz="1400" dirty="0"/>
          </a:p>
        </p:txBody>
      </p:sp>
      <p:sp>
        <p:nvSpPr>
          <p:cNvPr id="8" name="Shape 6"/>
          <p:cNvSpPr/>
          <p:nvPr/>
        </p:nvSpPr>
        <p:spPr>
          <a:xfrm>
            <a:off x="4343400" y="2286000"/>
            <a:ext cx="3520440" cy="1600200"/>
          </a:xfrm>
          <a:prstGeom prst="roundRect">
            <a:avLst>
              <a:gd name="adj" fmla="val 3429"/>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9" name="Text 7"/>
          <p:cNvSpPr/>
          <p:nvPr/>
        </p:nvSpPr>
        <p:spPr>
          <a:xfrm>
            <a:off x="4343400" y="2423160"/>
            <a:ext cx="3520440" cy="822960"/>
          </a:xfrm>
          <a:prstGeom prst="rect">
            <a:avLst/>
          </a:prstGeom>
          <a:noFill/>
          <a:ln/>
        </p:spPr>
        <p:txBody>
          <a:bodyPr wrap="square" lIns="0" tIns="0" rIns="0" bIns="0" rtlCol="0" anchor="ctr"/>
          <a:lstStyle/>
          <a:p>
            <a:pPr algn="ctr" indent="0" marL="0">
              <a:buNone/>
            </a:pPr>
            <a:r>
              <a:rPr lang="en-US" sz="4000" b="1" dirty="0">
                <a:solidFill>
                  <a:srgbClr val="79C0FF"/>
                </a:solidFill>
                <a:latin typeface="Consolas" pitchFamily="34" charset="0"/>
                <a:ea typeface="Consolas" pitchFamily="34" charset="-122"/>
                <a:cs typeface="Consolas" pitchFamily="34" charset="-120"/>
              </a:rPr>
              <a:t>6</a:t>
            </a:r>
            <a:endParaRPr lang="en-US" sz="4000" dirty="0"/>
          </a:p>
        </p:txBody>
      </p:sp>
      <p:sp>
        <p:nvSpPr>
          <p:cNvPr id="10" name="Text 8"/>
          <p:cNvSpPr/>
          <p:nvPr/>
        </p:nvSpPr>
        <p:spPr>
          <a:xfrm>
            <a:off x="4343400" y="3246120"/>
            <a:ext cx="3520440" cy="457200"/>
          </a:xfrm>
          <a:prstGeom prst="rect">
            <a:avLst/>
          </a:prstGeom>
          <a:noFill/>
          <a:ln/>
        </p:spPr>
        <p:txBody>
          <a:bodyPr wrap="square" lIns="0" tIns="0" rIns="0" bIns="0" rtlCol="0" anchor="ctr"/>
          <a:lstStyle/>
          <a:p>
            <a:pPr algn="ctr" indent="0" marL="0">
              <a:buNone/>
            </a:pPr>
            <a:r>
              <a:rPr lang="en-US" sz="1400" dirty="0">
                <a:solidFill>
                  <a:srgbClr val="8B949E"/>
                </a:solidFill>
                <a:latin typeface="Calibri" pitchFamily="34" charset="0"/>
                <a:ea typeface="Calibri" pitchFamily="34" charset="-122"/>
                <a:cs typeface="Calibri" pitchFamily="34" charset="-120"/>
              </a:rPr>
              <a:t>OS</a:t>
            </a:r>
            <a:endParaRPr lang="en-US" sz="1400" dirty="0"/>
          </a:p>
        </p:txBody>
      </p:sp>
      <p:sp>
        <p:nvSpPr>
          <p:cNvPr id="11" name="Shape 9"/>
          <p:cNvSpPr/>
          <p:nvPr/>
        </p:nvSpPr>
        <p:spPr>
          <a:xfrm>
            <a:off x="8138160" y="2286000"/>
            <a:ext cx="3520440" cy="1600200"/>
          </a:xfrm>
          <a:prstGeom prst="roundRect">
            <a:avLst>
              <a:gd name="adj" fmla="val 3429"/>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12" name="Text 10"/>
          <p:cNvSpPr/>
          <p:nvPr/>
        </p:nvSpPr>
        <p:spPr>
          <a:xfrm>
            <a:off x="8138160" y="2423160"/>
            <a:ext cx="3520440" cy="822960"/>
          </a:xfrm>
          <a:prstGeom prst="rect">
            <a:avLst/>
          </a:prstGeom>
          <a:noFill/>
          <a:ln/>
        </p:spPr>
        <p:txBody>
          <a:bodyPr wrap="square" lIns="0" tIns="0" rIns="0" bIns="0" rtlCol="0" anchor="ctr"/>
          <a:lstStyle/>
          <a:p>
            <a:pPr algn="ctr" indent="0" marL="0">
              <a:buNone/>
            </a:pPr>
            <a:r>
              <a:rPr lang="en-US" sz="4000" b="1" dirty="0">
                <a:solidFill>
                  <a:srgbClr val="D2A8FF"/>
                </a:solidFill>
                <a:latin typeface="Consolas" pitchFamily="34" charset="0"/>
                <a:ea typeface="Consolas" pitchFamily="34" charset="-122"/>
                <a:cs typeface="Consolas" pitchFamily="34" charset="-120"/>
              </a:rPr>
              <a:t>2</a:t>
            </a:r>
            <a:endParaRPr lang="en-US" sz="4000" dirty="0"/>
          </a:p>
        </p:txBody>
      </p:sp>
      <p:sp>
        <p:nvSpPr>
          <p:cNvPr id="13" name="Text 11"/>
          <p:cNvSpPr/>
          <p:nvPr/>
        </p:nvSpPr>
        <p:spPr>
          <a:xfrm>
            <a:off x="8138160" y="3246120"/>
            <a:ext cx="3520440" cy="457200"/>
          </a:xfrm>
          <a:prstGeom prst="rect">
            <a:avLst/>
          </a:prstGeom>
          <a:noFill/>
          <a:ln/>
        </p:spPr>
        <p:txBody>
          <a:bodyPr wrap="square" lIns="0" tIns="0" rIns="0" bIns="0" rtlCol="0" anchor="ctr"/>
          <a:lstStyle/>
          <a:p>
            <a:pPr algn="ctr" indent="0" marL="0">
              <a:buNone/>
            </a:pPr>
            <a:r>
              <a:rPr lang="en-US" sz="1400" dirty="0">
                <a:solidFill>
                  <a:srgbClr val="8B949E"/>
                </a:solidFill>
                <a:latin typeface="Calibri" pitchFamily="34" charset="0"/>
                <a:ea typeface="Calibri" pitchFamily="34" charset="-122"/>
                <a:cs typeface="Calibri" pitchFamily="34" charset="-120"/>
              </a:rPr>
              <a:t>statuts</a:t>
            </a:r>
            <a:endParaRPr lang="en-US" sz="1400" dirty="0"/>
          </a:p>
        </p:txBody>
      </p:sp>
      <p:sp>
        <p:nvSpPr>
          <p:cNvPr id="14" name="Shape 12"/>
          <p:cNvSpPr/>
          <p:nvPr/>
        </p:nvSpPr>
        <p:spPr>
          <a:xfrm>
            <a:off x="548640" y="4160520"/>
            <a:ext cx="3520440" cy="1600200"/>
          </a:xfrm>
          <a:prstGeom prst="roundRect">
            <a:avLst>
              <a:gd name="adj" fmla="val 3429"/>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15" name="Text 13"/>
          <p:cNvSpPr/>
          <p:nvPr/>
        </p:nvSpPr>
        <p:spPr>
          <a:xfrm>
            <a:off x="548640" y="4297680"/>
            <a:ext cx="3520440" cy="822960"/>
          </a:xfrm>
          <a:prstGeom prst="rect">
            <a:avLst/>
          </a:prstGeom>
          <a:noFill/>
          <a:ln/>
        </p:spPr>
        <p:txBody>
          <a:bodyPr wrap="square" lIns="0" tIns="0" rIns="0" bIns="0" rtlCol="0" anchor="ctr"/>
          <a:lstStyle/>
          <a:p>
            <a:pPr algn="ctr" indent="0" marL="0">
              <a:buNone/>
            </a:pPr>
            <a:r>
              <a:rPr lang="en-US" sz="4000" b="1" dirty="0">
                <a:solidFill>
                  <a:srgbClr val="7EE787"/>
                </a:solidFill>
                <a:latin typeface="Consolas" pitchFamily="34" charset="0"/>
                <a:ea typeface="Consolas" pitchFamily="34" charset="-122"/>
                <a:cs typeface="Consolas" pitchFamily="34" charset="-120"/>
              </a:rPr>
              <a:t>12</a:t>
            </a:r>
            <a:endParaRPr lang="en-US" sz="4000" dirty="0"/>
          </a:p>
        </p:txBody>
      </p:sp>
      <p:sp>
        <p:nvSpPr>
          <p:cNvPr id="16" name="Text 14"/>
          <p:cNvSpPr/>
          <p:nvPr/>
        </p:nvSpPr>
        <p:spPr>
          <a:xfrm>
            <a:off x="548640" y="5120640"/>
            <a:ext cx="3520440" cy="457200"/>
          </a:xfrm>
          <a:prstGeom prst="rect">
            <a:avLst/>
          </a:prstGeom>
          <a:noFill/>
          <a:ln/>
        </p:spPr>
        <p:txBody>
          <a:bodyPr wrap="square" lIns="0" tIns="0" rIns="0" bIns="0" rtlCol="0" anchor="ctr"/>
          <a:lstStyle/>
          <a:p>
            <a:pPr algn="ctr" indent="0" marL="0">
              <a:buNone/>
            </a:pPr>
            <a:r>
              <a:rPr lang="en-US" sz="1400" dirty="0">
                <a:solidFill>
                  <a:srgbClr val="8B949E"/>
                </a:solidFill>
                <a:latin typeface="Calibri" pitchFamily="34" charset="0"/>
                <a:ea typeface="Calibri" pitchFamily="34" charset="-122"/>
                <a:cs typeface="Calibri" pitchFamily="34" charset="-120"/>
              </a:rPr>
              <a:t>versions</a:t>
            </a:r>
            <a:endParaRPr lang="en-US" sz="1400" dirty="0"/>
          </a:p>
        </p:txBody>
      </p:sp>
      <p:sp>
        <p:nvSpPr>
          <p:cNvPr id="17" name="Shape 15"/>
          <p:cNvSpPr/>
          <p:nvPr/>
        </p:nvSpPr>
        <p:spPr>
          <a:xfrm>
            <a:off x="4343400" y="4160520"/>
            <a:ext cx="3520440" cy="1600200"/>
          </a:xfrm>
          <a:prstGeom prst="roundRect">
            <a:avLst>
              <a:gd name="adj" fmla="val 3429"/>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18" name="Text 16"/>
          <p:cNvSpPr/>
          <p:nvPr/>
        </p:nvSpPr>
        <p:spPr>
          <a:xfrm>
            <a:off x="4343400" y="4297680"/>
            <a:ext cx="3520440" cy="822960"/>
          </a:xfrm>
          <a:prstGeom prst="rect">
            <a:avLst/>
          </a:prstGeom>
          <a:noFill/>
          <a:ln/>
        </p:spPr>
        <p:txBody>
          <a:bodyPr wrap="square" lIns="0" tIns="0" rIns="0" bIns="0" rtlCol="0" anchor="ctr"/>
          <a:lstStyle/>
          <a:p>
            <a:pPr algn="ctr" indent="0" marL="0">
              <a:buNone/>
            </a:pPr>
            <a:r>
              <a:rPr lang="en-US" sz="4000" b="1" dirty="0">
                <a:solidFill>
                  <a:srgbClr val="E3B341"/>
                </a:solidFill>
                <a:latin typeface="Consolas" pitchFamily="34" charset="0"/>
                <a:ea typeface="Consolas" pitchFamily="34" charset="-122"/>
                <a:cs typeface="Consolas" pitchFamily="34" charset="-120"/>
              </a:rPr>
              <a:t>44</a:t>
            </a:r>
            <a:endParaRPr lang="en-US" sz="4000" dirty="0"/>
          </a:p>
        </p:txBody>
      </p:sp>
      <p:sp>
        <p:nvSpPr>
          <p:cNvPr id="19" name="Text 17"/>
          <p:cNvSpPr/>
          <p:nvPr/>
        </p:nvSpPr>
        <p:spPr>
          <a:xfrm>
            <a:off x="4343400" y="5120640"/>
            <a:ext cx="3520440" cy="457200"/>
          </a:xfrm>
          <a:prstGeom prst="rect">
            <a:avLst/>
          </a:prstGeom>
          <a:noFill/>
          <a:ln/>
        </p:spPr>
        <p:txBody>
          <a:bodyPr wrap="square" lIns="0" tIns="0" rIns="0" bIns="0" rtlCol="0" anchor="ctr"/>
          <a:lstStyle/>
          <a:p>
            <a:pPr algn="ctr" indent="0" marL="0">
              <a:buNone/>
            </a:pPr>
            <a:r>
              <a:rPr lang="en-US" sz="1400" dirty="0">
                <a:solidFill>
                  <a:srgbClr val="8B949E"/>
                </a:solidFill>
                <a:latin typeface="Calibri" pitchFamily="34" charset="0"/>
                <a:ea typeface="Calibri" pitchFamily="34" charset="-122"/>
                <a:cs typeface="Calibri" pitchFamily="34" charset="-120"/>
              </a:rPr>
              <a:t>compatibilités</a:t>
            </a:r>
            <a:endParaRPr lang="en-US" sz="1400" dirty="0"/>
          </a:p>
        </p:txBody>
      </p:sp>
      <p:sp>
        <p:nvSpPr>
          <p:cNvPr id="20" name="Shape 18"/>
          <p:cNvSpPr/>
          <p:nvPr/>
        </p:nvSpPr>
        <p:spPr>
          <a:xfrm>
            <a:off x="8138160" y="4160520"/>
            <a:ext cx="3520440" cy="1600200"/>
          </a:xfrm>
          <a:prstGeom prst="roundRect">
            <a:avLst>
              <a:gd name="adj" fmla="val 3429"/>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21" name="Text 19"/>
          <p:cNvSpPr/>
          <p:nvPr/>
        </p:nvSpPr>
        <p:spPr>
          <a:xfrm>
            <a:off x="8138160" y="4297680"/>
            <a:ext cx="3520440" cy="822960"/>
          </a:xfrm>
          <a:prstGeom prst="rect">
            <a:avLst/>
          </a:prstGeom>
          <a:noFill/>
          <a:ln/>
        </p:spPr>
        <p:txBody>
          <a:bodyPr wrap="square" lIns="0" tIns="0" rIns="0" bIns="0" rtlCol="0" anchor="ctr"/>
          <a:lstStyle/>
          <a:p>
            <a:pPr algn="ctr" indent="0" marL="0">
              <a:buNone/>
            </a:pPr>
            <a:r>
              <a:rPr lang="en-US" sz="4000" b="1" dirty="0">
                <a:solidFill>
                  <a:srgbClr val="FF7B72"/>
                </a:solidFill>
                <a:latin typeface="Consolas" pitchFamily="34" charset="0"/>
                <a:ea typeface="Consolas" pitchFamily="34" charset="-122"/>
                <a:cs typeface="Consolas" pitchFamily="34" charset="-120"/>
              </a:rPr>
              <a:t>25</a:t>
            </a:r>
            <a:endParaRPr lang="en-US" sz="4000" dirty="0"/>
          </a:p>
        </p:txBody>
      </p:sp>
      <p:sp>
        <p:nvSpPr>
          <p:cNvPr id="22" name="Text 20"/>
          <p:cNvSpPr/>
          <p:nvPr/>
        </p:nvSpPr>
        <p:spPr>
          <a:xfrm>
            <a:off x="8138160" y="5120640"/>
            <a:ext cx="3520440" cy="457200"/>
          </a:xfrm>
          <a:prstGeom prst="rect">
            <a:avLst/>
          </a:prstGeom>
          <a:noFill/>
          <a:ln/>
        </p:spPr>
        <p:txBody>
          <a:bodyPr wrap="square" lIns="0" tIns="0" rIns="0" bIns="0" rtlCol="0" anchor="ctr"/>
          <a:lstStyle/>
          <a:p>
            <a:pPr algn="ctr" indent="0" marL="0">
              <a:buNone/>
            </a:pPr>
            <a:r>
              <a:rPr lang="en-US" sz="1400" dirty="0">
                <a:solidFill>
                  <a:srgbClr val="8B949E"/>
                </a:solidFill>
                <a:latin typeface="Calibri" pitchFamily="34" charset="0"/>
                <a:ea typeface="Calibri" pitchFamily="34" charset="-122"/>
                <a:cs typeface="Calibri" pitchFamily="34" charset="-120"/>
              </a:rPr>
              <a:t>tickets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dirty="0">
                <a:solidFill>
                  <a:srgbClr val="7EE787"/>
                </a:solidFill>
                <a:latin typeface="Consolas" pitchFamily="34" charset="0"/>
                <a:ea typeface="Consolas" pitchFamily="34" charset="-122"/>
                <a:cs typeface="Consolas" pitchFamily="34" charset="-120"/>
              </a:rPr>
              <a:t>// interrogation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indent="0" marL="0">
              <a:buNone/>
            </a:pPr>
            <a:r>
              <a:rPr lang="en-US" sz="2600" b="1" dirty="0">
                <a:solidFill>
                  <a:srgbClr val="E6EDF3"/>
                </a:solidFill>
                <a:latin typeface="Consolas" pitchFamily="34" charset="0"/>
                <a:ea typeface="Consolas" pitchFamily="34" charset="-122"/>
                <a:cs typeface="Consolas" pitchFamily="34" charset="-120"/>
              </a:rPr>
              <a:t>L'optimisation des requêtes</a:t>
            </a:r>
            <a:endParaRPr lang="en-US" sz="2600" dirty="0"/>
          </a:p>
        </p:txBody>
      </p:sp>
      <p:sp>
        <p:nvSpPr>
          <p:cNvPr id="4" name="Text 2"/>
          <p:cNvSpPr/>
          <p:nvPr/>
        </p:nvSpPr>
        <p:spPr>
          <a:xfrm>
            <a:off x="548640" y="1691640"/>
            <a:ext cx="10972800" cy="548640"/>
          </a:xfrm>
          <a:prstGeom prst="rect">
            <a:avLst/>
          </a:prstGeom>
          <a:noFill/>
          <a:ln/>
        </p:spPr>
        <p:txBody>
          <a:bodyPr wrap="square" lIns="0" tIns="0" rIns="0" bIns="0" rtlCol="0" anchor="ctr"/>
          <a:lstStyle/>
          <a:p>
            <a:pPr algn="ctr" indent="0" marL="0">
              <a:buNone/>
            </a:pPr>
            <a:r>
              <a:rPr lang="en-US" sz="2400" dirty="0">
                <a:solidFill>
                  <a:srgbClr val="8B949E"/>
                </a:solidFill>
                <a:latin typeface="Consolas" pitchFamily="34" charset="0"/>
                <a:ea typeface="Consolas" pitchFamily="34" charset="-122"/>
                <a:cs typeface="Consolas" pitchFamily="34" charset="-120"/>
              </a:rPr>
              <a:t>20 demandes  </a:t>
            </a:r>
            <a:pPr algn="ctr" indent="0" marL="0">
              <a:buNone/>
            </a:pPr>
            <a:r>
              <a:rPr lang="en-US" sz="2400" b="1" dirty="0">
                <a:solidFill>
                  <a:srgbClr val="FF7B72"/>
                </a:solidFill>
                <a:latin typeface="Consolas" pitchFamily="34" charset="0"/>
                <a:ea typeface="Consolas" pitchFamily="34" charset="-122"/>
                <a:cs typeface="Consolas" pitchFamily="34" charset="-120"/>
              </a:rPr>
              <a:t>=&gt;</a:t>
            </a:r>
            <a:pPr algn="ctr" indent="0" marL="0">
              <a:buNone/>
            </a:pPr>
            <a:r>
              <a:rPr lang="en-US" sz="2400" b="1" dirty="0">
                <a:solidFill>
                  <a:srgbClr val="E6EDF3"/>
                </a:solidFill>
                <a:latin typeface="Consolas" pitchFamily="34" charset="0"/>
                <a:ea typeface="Consolas" pitchFamily="34" charset="-122"/>
                <a:cs typeface="Consolas" pitchFamily="34" charset="-120"/>
              </a:rPr>
              <a:t>  1 seule requête paramétrée</a:t>
            </a:r>
            <a:endParaRPr lang="en-US" sz="2400" dirty="0"/>
          </a:p>
        </p:txBody>
      </p:sp>
      <p:sp>
        <p:nvSpPr>
          <p:cNvPr id="5" name="Text 3"/>
          <p:cNvSpPr/>
          <p:nvPr/>
        </p:nvSpPr>
        <p:spPr>
          <a:xfrm>
            <a:off x="548640" y="2514600"/>
            <a:ext cx="10972800" cy="365760"/>
          </a:xfrm>
          <a:prstGeom prst="rect">
            <a:avLst/>
          </a:prstGeom>
          <a:noFill/>
          <a:ln/>
        </p:spPr>
        <p:txBody>
          <a:bodyPr wrap="square" lIns="0" tIns="0" rIns="0" bIns="0" rtlCol="0" anchor="ctr"/>
          <a:lstStyle/>
          <a:p>
            <a:pPr algn="ctr" indent="0" marL="0">
              <a:buNone/>
            </a:pPr>
            <a:r>
              <a:rPr lang="en-US" sz="1500" dirty="0">
                <a:solidFill>
                  <a:srgbClr val="8B949E"/>
                </a:solidFill>
                <a:latin typeface="Calibri" pitchFamily="34" charset="0"/>
                <a:ea typeface="Calibri" pitchFamily="34" charset="-122"/>
                <a:cs typeface="Calibri" pitchFamily="34" charset="-120"/>
              </a:rPr>
              <a:t>Les 20 requêtes ne diffèrent que par cinq critères, tous optionnels :</a:t>
            </a:r>
            <a:endParaRPr lang="en-US" sz="1500" dirty="0"/>
          </a:p>
        </p:txBody>
      </p:sp>
      <p:sp>
        <p:nvSpPr>
          <p:cNvPr id="6" name="Shape 4"/>
          <p:cNvSpPr/>
          <p:nvPr/>
        </p:nvSpPr>
        <p:spPr>
          <a:xfrm>
            <a:off x="685800" y="3200400"/>
            <a:ext cx="2057400" cy="1371600"/>
          </a:xfrm>
          <a:prstGeom prst="roundRect">
            <a:avLst>
              <a:gd name="adj" fmla="val 4000"/>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7" name="Shape 5"/>
          <p:cNvSpPr/>
          <p:nvPr/>
        </p:nvSpPr>
        <p:spPr>
          <a:xfrm>
            <a:off x="1554480" y="3429000"/>
            <a:ext cx="320040" cy="320040"/>
          </a:xfrm>
          <a:prstGeom prst="ellipse">
            <a:avLst/>
          </a:prstGeom>
          <a:solidFill>
            <a:srgbClr val="FF7B72"/>
          </a:solidFill>
          <a:ln/>
        </p:spPr>
      </p:sp>
      <p:sp>
        <p:nvSpPr>
          <p:cNvPr id="8" name="Text 6"/>
          <p:cNvSpPr/>
          <p:nvPr/>
        </p:nvSpPr>
        <p:spPr>
          <a:xfrm>
            <a:off x="1554480" y="3429000"/>
            <a:ext cx="320040" cy="32004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1</a:t>
            </a:r>
            <a:endParaRPr lang="en-US" sz="1400" dirty="0"/>
          </a:p>
        </p:txBody>
      </p:sp>
      <p:sp>
        <p:nvSpPr>
          <p:cNvPr id="9" name="Text 7"/>
          <p:cNvSpPr/>
          <p:nvPr/>
        </p:nvSpPr>
        <p:spPr>
          <a:xfrm>
            <a:off x="685800" y="3977640"/>
            <a:ext cx="2057400" cy="457200"/>
          </a:xfrm>
          <a:prstGeom prst="rect">
            <a:avLst/>
          </a:prstGeom>
          <a:noFill/>
          <a:ln/>
        </p:spPr>
        <p:txBody>
          <a:bodyPr wrap="square" lIns="0" tIns="0" rIns="0" bIns="0" rtlCol="0" anchor="ctr"/>
          <a:lstStyle/>
          <a:p>
            <a:pPr algn="ctr" indent="0" marL="0">
              <a:buNone/>
            </a:pPr>
            <a:r>
              <a:rPr lang="en-US" sz="1500" b="1" dirty="0">
                <a:solidFill>
                  <a:srgbClr val="E6EDF3"/>
                </a:solidFill>
                <a:latin typeface="Calibri" pitchFamily="34" charset="0"/>
                <a:ea typeface="Calibri" pitchFamily="34" charset="-122"/>
                <a:cs typeface="Calibri" pitchFamily="34" charset="-120"/>
              </a:rPr>
              <a:t>Statut</a:t>
            </a:r>
            <a:endParaRPr lang="en-US" sz="1500" dirty="0"/>
          </a:p>
        </p:txBody>
      </p:sp>
      <p:sp>
        <p:nvSpPr>
          <p:cNvPr id="10" name="Shape 8"/>
          <p:cNvSpPr/>
          <p:nvPr/>
        </p:nvSpPr>
        <p:spPr>
          <a:xfrm>
            <a:off x="2953512" y="3200400"/>
            <a:ext cx="2057400" cy="1371600"/>
          </a:xfrm>
          <a:prstGeom prst="roundRect">
            <a:avLst>
              <a:gd name="adj" fmla="val 4000"/>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11" name="Shape 9"/>
          <p:cNvSpPr/>
          <p:nvPr/>
        </p:nvSpPr>
        <p:spPr>
          <a:xfrm>
            <a:off x="3822192" y="3429000"/>
            <a:ext cx="320040" cy="320040"/>
          </a:xfrm>
          <a:prstGeom prst="ellipse">
            <a:avLst/>
          </a:prstGeom>
          <a:solidFill>
            <a:srgbClr val="FF7B72"/>
          </a:solidFill>
          <a:ln/>
        </p:spPr>
      </p:sp>
      <p:sp>
        <p:nvSpPr>
          <p:cNvPr id="12" name="Text 10"/>
          <p:cNvSpPr/>
          <p:nvPr/>
        </p:nvSpPr>
        <p:spPr>
          <a:xfrm>
            <a:off x="3822192" y="3429000"/>
            <a:ext cx="320040" cy="32004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2</a:t>
            </a:r>
            <a:endParaRPr lang="en-US" sz="1400" dirty="0"/>
          </a:p>
        </p:txBody>
      </p:sp>
      <p:sp>
        <p:nvSpPr>
          <p:cNvPr id="13" name="Text 11"/>
          <p:cNvSpPr/>
          <p:nvPr/>
        </p:nvSpPr>
        <p:spPr>
          <a:xfrm>
            <a:off x="2953512" y="3977640"/>
            <a:ext cx="2057400" cy="457200"/>
          </a:xfrm>
          <a:prstGeom prst="rect">
            <a:avLst/>
          </a:prstGeom>
          <a:noFill/>
          <a:ln/>
        </p:spPr>
        <p:txBody>
          <a:bodyPr wrap="square" lIns="0" tIns="0" rIns="0" bIns="0" rtlCol="0" anchor="ctr"/>
          <a:lstStyle/>
          <a:p>
            <a:pPr algn="ctr" indent="0" marL="0">
              <a:buNone/>
            </a:pPr>
            <a:r>
              <a:rPr lang="en-US" sz="1500" b="1" dirty="0">
                <a:solidFill>
                  <a:srgbClr val="E6EDF3"/>
                </a:solidFill>
                <a:latin typeface="Calibri" pitchFamily="34" charset="0"/>
                <a:ea typeface="Calibri" pitchFamily="34" charset="-122"/>
                <a:cs typeface="Calibri" pitchFamily="34" charset="-120"/>
              </a:rPr>
              <a:t>Produit</a:t>
            </a:r>
            <a:endParaRPr lang="en-US" sz="1500" dirty="0"/>
          </a:p>
        </p:txBody>
      </p:sp>
      <p:sp>
        <p:nvSpPr>
          <p:cNvPr id="14" name="Shape 12"/>
          <p:cNvSpPr/>
          <p:nvPr/>
        </p:nvSpPr>
        <p:spPr>
          <a:xfrm>
            <a:off x="5221224" y="3200400"/>
            <a:ext cx="2057400" cy="1371600"/>
          </a:xfrm>
          <a:prstGeom prst="roundRect">
            <a:avLst>
              <a:gd name="adj" fmla="val 4000"/>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15" name="Shape 13"/>
          <p:cNvSpPr/>
          <p:nvPr/>
        </p:nvSpPr>
        <p:spPr>
          <a:xfrm>
            <a:off x="6089904" y="3429000"/>
            <a:ext cx="320040" cy="320040"/>
          </a:xfrm>
          <a:prstGeom prst="ellipse">
            <a:avLst/>
          </a:prstGeom>
          <a:solidFill>
            <a:srgbClr val="FF7B72"/>
          </a:solidFill>
          <a:ln/>
        </p:spPr>
      </p:sp>
      <p:sp>
        <p:nvSpPr>
          <p:cNvPr id="16" name="Text 14"/>
          <p:cNvSpPr/>
          <p:nvPr/>
        </p:nvSpPr>
        <p:spPr>
          <a:xfrm>
            <a:off x="6089904" y="3429000"/>
            <a:ext cx="320040" cy="32004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3</a:t>
            </a:r>
            <a:endParaRPr lang="en-US" sz="1400" dirty="0"/>
          </a:p>
        </p:txBody>
      </p:sp>
      <p:sp>
        <p:nvSpPr>
          <p:cNvPr id="17" name="Text 15"/>
          <p:cNvSpPr/>
          <p:nvPr/>
        </p:nvSpPr>
        <p:spPr>
          <a:xfrm>
            <a:off x="5221224" y="3977640"/>
            <a:ext cx="2057400" cy="457200"/>
          </a:xfrm>
          <a:prstGeom prst="rect">
            <a:avLst/>
          </a:prstGeom>
          <a:noFill/>
          <a:ln/>
        </p:spPr>
        <p:txBody>
          <a:bodyPr wrap="square" lIns="0" tIns="0" rIns="0" bIns="0" rtlCol="0" anchor="ctr"/>
          <a:lstStyle/>
          <a:p>
            <a:pPr algn="ctr" indent="0" marL="0">
              <a:buNone/>
            </a:pPr>
            <a:r>
              <a:rPr lang="en-US" sz="1500" b="1" dirty="0">
                <a:solidFill>
                  <a:srgbClr val="E6EDF3"/>
                </a:solidFill>
                <a:latin typeface="Calibri" pitchFamily="34" charset="0"/>
                <a:ea typeface="Calibri" pitchFamily="34" charset="-122"/>
                <a:cs typeface="Calibri" pitchFamily="34" charset="-120"/>
              </a:rPr>
              <a:t>Version</a:t>
            </a:r>
            <a:endParaRPr lang="en-US" sz="1500" dirty="0"/>
          </a:p>
        </p:txBody>
      </p:sp>
      <p:sp>
        <p:nvSpPr>
          <p:cNvPr id="18" name="Shape 16"/>
          <p:cNvSpPr/>
          <p:nvPr/>
        </p:nvSpPr>
        <p:spPr>
          <a:xfrm>
            <a:off x="7488936" y="3200400"/>
            <a:ext cx="2057400" cy="1371600"/>
          </a:xfrm>
          <a:prstGeom prst="roundRect">
            <a:avLst>
              <a:gd name="adj" fmla="val 4000"/>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19" name="Shape 17"/>
          <p:cNvSpPr/>
          <p:nvPr/>
        </p:nvSpPr>
        <p:spPr>
          <a:xfrm>
            <a:off x="8357616" y="3429000"/>
            <a:ext cx="320040" cy="320040"/>
          </a:xfrm>
          <a:prstGeom prst="ellipse">
            <a:avLst/>
          </a:prstGeom>
          <a:solidFill>
            <a:srgbClr val="FF7B72"/>
          </a:solidFill>
          <a:ln/>
        </p:spPr>
      </p:sp>
      <p:sp>
        <p:nvSpPr>
          <p:cNvPr id="20" name="Text 18"/>
          <p:cNvSpPr/>
          <p:nvPr/>
        </p:nvSpPr>
        <p:spPr>
          <a:xfrm>
            <a:off x="8357616" y="3429000"/>
            <a:ext cx="320040" cy="32004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4</a:t>
            </a:r>
            <a:endParaRPr lang="en-US" sz="1400" dirty="0"/>
          </a:p>
        </p:txBody>
      </p:sp>
      <p:sp>
        <p:nvSpPr>
          <p:cNvPr id="21" name="Text 19"/>
          <p:cNvSpPr/>
          <p:nvPr/>
        </p:nvSpPr>
        <p:spPr>
          <a:xfrm>
            <a:off x="7488936" y="3977640"/>
            <a:ext cx="2057400" cy="457200"/>
          </a:xfrm>
          <a:prstGeom prst="rect">
            <a:avLst/>
          </a:prstGeom>
          <a:noFill/>
          <a:ln/>
        </p:spPr>
        <p:txBody>
          <a:bodyPr wrap="square" lIns="0" tIns="0" rIns="0" bIns="0" rtlCol="0" anchor="ctr"/>
          <a:lstStyle/>
          <a:p>
            <a:pPr algn="ctr" indent="0" marL="0">
              <a:buNone/>
            </a:pPr>
            <a:r>
              <a:rPr lang="en-US" sz="1500" b="1" dirty="0">
                <a:solidFill>
                  <a:srgbClr val="E6EDF3"/>
                </a:solidFill>
                <a:latin typeface="Calibri" pitchFamily="34" charset="0"/>
                <a:ea typeface="Calibri" pitchFamily="34" charset="-122"/>
                <a:cs typeface="Calibri" pitchFamily="34" charset="-120"/>
              </a:rPr>
              <a:t>Période</a:t>
            </a:r>
            <a:endParaRPr lang="en-US" sz="1500" dirty="0"/>
          </a:p>
        </p:txBody>
      </p:sp>
      <p:sp>
        <p:nvSpPr>
          <p:cNvPr id="22" name="Shape 20"/>
          <p:cNvSpPr/>
          <p:nvPr/>
        </p:nvSpPr>
        <p:spPr>
          <a:xfrm>
            <a:off x="9756648" y="3200400"/>
            <a:ext cx="2057400" cy="1371600"/>
          </a:xfrm>
          <a:prstGeom prst="roundRect">
            <a:avLst>
              <a:gd name="adj" fmla="val 4000"/>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23" name="Shape 21"/>
          <p:cNvSpPr/>
          <p:nvPr/>
        </p:nvSpPr>
        <p:spPr>
          <a:xfrm>
            <a:off x="10625328" y="3429000"/>
            <a:ext cx="320040" cy="320040"/>
          </a:xfrm>
          <a:prstGeom prst="ellipse">
            <a:avLst/>
          </a:prstGeom>
          <a:solidFill>
            <a:srgbClr val="FF7B72"/>
          </a:solidFill>
          <a:ln/>
        </p:spPr>
      </p:sp>
      <p:sp>
        <p:nvSpPr>
          <p:cNvPr id="24" name="Text 22"/>
          <p:cNvSpPr/>
          <p:nvPr/>
        </p:nvSpPr>
        <p:spPr>
          <a:xfrm>
            <a:off x="10625328" y="3429000"/>
            <a:ext cx="320040" cy="32004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5</a:t>
            </a:r>
            <a:endParaRPr lang="en-US" sz="1400" dirty="0"/>
          </a:p>
        </p:txBody>
      </p:sp>
      <p:sp>
        <p:nvSpPr>
          <p:cNvPr id="25" name="Text 23"/>
          <p:cNvSpPr/>
          <p:nvPr/>
        </p:nvSpPr>
        <p:spPr>
          <a:xfrm>
            <a:off x="9756648" y="3977640"/>
            <a:ext cx="2057400" cy="457200"/>
          </a:xfrm>
          <a:prstGeom prst="rect">
            <a:avLst/>
          </a:prstGeom>
          <a:noFill/>
          <a:ln/>
        </p:spPr>
        <p:txBody>
          <a:bodyPr wrap="square" lIns="0" tIns="0" rIns="0" bIns="0" rtlCol="0" anchor="ctr"/>
          <a:lstStyle/>
          <a:p>
            <a:pPr algn="ctr" indent="0" marL="0">
              <a:buNone/>
            </a:pPr>
            <a:r>
              <a:rPr lang="en-US" sz="1500" b="1" dirty="0">
                <a:solidFill>
                  <a:srgbClr val="E6EDF3"/>
                </a:solidFill>
                <a:latin typeface="Calibri" pitchFamily="34" charset="0"/>
                <a:ea typeface="Calibri" pitchFamily="34" charset="-122"/>
                <a:cs typeface="Calibri" pitchFamily="34" charset="-120"/>
              </a:rPr>
              <a:t>Mots-clés</a:t>
            </a:r>
            <a:endParaRPr lang="en-US" sz="1500" dirty="0"/>
          </a:p>
        </p:txBody>
      </p:sp>
      <p:sp>
        <p:nvSpPr>
          <p:cNvPr id="26" name="Text 24"/>
          <p:cNvSpPr/>
          <p:nvPr/>
        </p:nvSpPr>
        <p:spPr>
          <a:xfrm>
            <a:off x="548640" y="5120640"/>
            <a:ext cx="10972800" cy="457200"/>
          </a:xfrm>
          <a:prstGeom prst="rect">
            <a:avLst/>
          </a:prstGeom>
          <a:noFill/>
          <a:ln/>
        </p:spPr>
        <p:txBody>
          <a:bodyPr wrap="square" lIns="0" tIns="0" rIns="0" bIns="0" rtlCol="0" anchor="ctr"/>
          <a:lstStyle/>
          <a:p>
            <a:pPr algn="ctr" indent="0" marL="0">
              <a:buNone/>
            </a:pPr>
            <a:r>
              <a:rPr lang="en-US" sz="1500" i="1" dirty="0">
                <a:solidFill>
                  <a:srgbClr val="8B949E"/>
                </a:solidFill>
                <a:latin typeface="Calibri" pitchFamily="34" charset="0"/>
                <a:ea typeface="Calibri" pitchFamily="34" charset="-122"/>
                <a:cs typeface="Calibri" pitchFamily="34" charset="-120"/>
              </a:rPr>
              <a:t>Un critère laissé vide est ignoré : une seule requête répond à toute la liste.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dirty="0">
                <a:solidFill>
                  <a:srgbClr val="7EE787"/>
                </a:solidFill>
                <a:latin typeface="Consolas" pitchFamily="34" charset="0"/>
                <a:ea typeface="Consolas" pitchFamily="34" charset="-122"/>
                <a:cs typeface="Consolas" pitchFamily="34" charset="-120"/>
              </a:rPr>
              <a:t>// interrogation</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indent="0" marL="0">
              <a:buNone/>
            </a:pPr>
            <a:r>
              <a:rPr lang="en-US" sz="2600" b="1" dirty="0">
                <a:solidFill>
                  <a:srgbClr val="E6EDF3"/>
                </a:solidFill>
                <a:latin typeface="Consolas" pitchFamily="34" charset="0"/>
                <a:ea typeface="Consolas" pitchFamily="34" charset="-122"/>
                <a:cs typeface="Consolas" pitchFamily="34" charset="-120"/>
              </a:rPr>
              <a:t>Deux implémentations, mêmes résultats</a:t>
            </a:r>
            <a:endParaRPr lang="en-US" sz="2600" dirty="0"/>
          </a:p>
        </p:txBody>
      </p:sp>
      <p:sp>
        <p:nvSpPr>
          <p:cNvPr id="4" name="Text 2"/>
          <p:cNvSpPr/>
          <p:nvPr/>
        </p:nvSpPr>
        <p:spPr>
          <a:xfrm>
            <a:off x="548640" y="1691640"/>
            <a:ext cx="5486400" cy="365760"/>
          </a:xfrm>
          <a:prstGeom prst="rect">
            <a:avLst/>
          </a:prstGeom>
          <a:noFill/>
          <a:ln/>
        </p:spPr>
        <p:txBody>
          <a:bodyPr wrap="square" lIns="0" tIns="0" rIns="0" bIns="0" rtlCol="0" anchor="ctr"/>
          <a:lstStyle/>
          <a:p>
            <a:pPr indent="0" marL="0">
              <a:buNone/>
            </a:pPr>
            <a:r>
              <a:rPr lang="en-US" sz="1600" b="1" dirty="0">
                <a:solidFill>
                  <a:srgbClr val="79C0FF"/>
                </a:solidFill>
                <a:latin typeface="Consolas" pitchFamily="34" charset="0"/>
                <a:ea typeface="Consolas" pitchFamily="34" charset="-122"/>
                <a:cs typeface="Consolas" pitchFamily="34" charset="-120"/>
              </a:rPr>
              <a:t>LINQ  </a:t>
            </a:r>
            <a:endParaRPr lang="en-US" sz="1600" dirty="0"/>
          </a:p>
        </p:txBody>
      </p:sp>
      <p:sp>
        <p:nvSpPr>
          <p:cNvPr id="5" name="Shape 3"/>
          <p:cNvSpPr/>
          <p:nvPr/>
        </p:nvSpPr>
        <p:spPr>
          <a:xfrm>
            <a:off x="548640" y="2057400"/>
            <a:ext cx="5486400" cy="2743200"/>
          </a:xfrm>
          <a:prstGeom prst="roundRect">
            <a:avLst>
              <a:gd name="adj" fmla="val 2000"/>
            </a:avLst>
          </a:prstGeom>
          <a:solidFill>
            <a:srgbClr val="10151C"/>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6" name="Text 4"/>
          <p:cNvSpPr/>
          <p:nvPr/>
        </p:nvSpPr>
        <p:spPr>
          <a:xfrm>
            <a:off x="777240" y="2221992"/>
            <a:ext cx="5074920" cy="2423160"/>
          </a:xfrm>
          <a:prstGeom prst="rect">
            <a:avLst/>
          </a:prstGeom>
          <a:noFill/>
          <a:ln/>
        </p:spPr>
        <p:txBody>
          <a:bodyPr wrap="square" lIns="0" tIns="0" rIns="0" bIns="0" rtlCol="0" anchor="t"/>
          <a:lstStyle/>
          <a:p>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var q = context.Ticket</a:t>
            </a:r>
            <a:endParaRPr lang="en-US" sz="1250" dirty="0"/>
          </a:p>
          <a:p>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  .Where(t =&gt; </a:t>
            </a:r>
            <a:pPr indent="0" marL="0">
              <a:lnSpc>
                <a:spcPct val="118000"/>
              </a:lnSpc>
              <a:buNone/>
            </a:pPr>
            <a:r>
              <a:rPr lang="en-US" sz="1250" dirty="0">
                <a:solidFill>
                  <a:srgbClr val="D2A8FF"/>
                </a:solidFill>
                <a:latin typeface="Consolas" pitchFamily="34" charset="0"/>
                <a:ea typeface="Consolas" pitchFamily="34" charset="-122"/>
                <a:cs typeface="Consolas" pitchFamily="34" charset="-120"/>
              </a:rPr>
              <a:t>statut</a:t>
            </a:r>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 == null</a:t>
            </a:r>
            <a:endParaRPr lang="en-US" sz="1250" dirty="0"/>
          </a:p>
          <a:p>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     || t.Statut.Nom == </a:t>
            </a:r>
            <a:pPr indent="0" marL="0">
              <a:lnSpc>
                <a:spcPct val="118000"/>
              </a:lnSpc>
              <a:buNone/>
            </a:pPr>
            <a:r>
              <a:rPr lang="en-US" sz="1250" dirty="0">
                <a:solidFill>
                  <a:srgbClr val="D2A8FF"/>
                </a:solidFill>
                <a:latin typeface="Consolas" pitchFamily="34" charset="0"/>
                <a:ea typeface="Consolas" pitchFamily="34" charset="-122"/>
                <a:cs typeface="Consolas" pitchFamily="34" charset="-120"/>
              </a:rPr>
              <a:t>statut</a:t>
            </a:r>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  .Where(t =&gt; t.Probleme</a:t>
            </a:r>
            <a:endParaRPr lang="en-US" sz="1250" dirty="0"/>
          </a:p>
          <a:p>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     .Contains(</a:t>
            </a:r>
            <a:pPr indent="0" marL="0">
              <a:lnSpc>
                <a:spcPct val="118000"/>
              </a:lnSpc>
              <a:buNone/>
            </a:pPr>
            <a:r>
              <a:rPr lang="en-US" sz="1250" dirty="0">
                <a:solidFill>
                  <a:srgbClr val="D2A8FF"/>
                </a:solidFill>
                <a:latin typeface="Consolas" pitchFamily="34" charset="0"/>
                <a:ea typeface="Consolas" pitchFamily="34" charset="-122"/>
                <a:cs typeface="Consolas" pitchFamily="34" charset="-120"/>
              </a:rPr>
              <a:t>mot</a:t>
            </a:r>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a:t>
            </a:r>
            <a:endParaRPr lang="en-US" sz="1250" dirty="0"/>
          </a:p>
          <a:p>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  .ToList();</a:t>
            </a:r>
            <a:endParaRPr lang="en-US" sz="1250" dirty="0"/>
          </a:p>
        </p:txBody>
      </p:sp>
      <p:sp>
        <p:nvSpPr>
          <p:cNvPr id="7" name="Text 5"/>
          <p:cNvSpPr/>
          <p:nvPr/>
        </p:nvSpPr>
        <p:spPr>
          <a:xfrm>
            <a:off x="6172200" y="1691640"/>
            <a:ext cx="5486400" cy="365760"/>
          </a:xfrm>
          <a:prstGeom prst="rect">
            <a:avLst/>
          </a:prstGeom>
          <a:noFill/>
          <a:ln/>
        </p:spPr>
        <p:txBody>
          <a:bodyPr wrap="square" lIns="0" tIns="0" rIns="0" bIns="0" rtlCol="0" anchor="ctr"/>
          <a:lstStyle/>
          <a:p>
            <a:pPr indent="0" marL="0">
              <a:buNone/>
            </a:pPr>
            <a:r>
              <a:rPr lang="en-US" sz="1600" b="1" dirty="0">
                <a:solidFill>
                  <a:srgbClr val="7EE787"/>
                </a:solidFill>
                <a:latin typeface="Consolas" pitchFamily="34" charset="0"/>
                <a:ea typeface="Consolas" pitchFamily="34" charset="-122"/>
                <a:cs typeface="Consolas" pitchFamily="34" charset="-120"/>
              </a:rPr>
              <a:t>Procédure stockée  </a:t>
            </a:r>
            <a:endParaRPr lang="en-US" sz="1600" dirty="0"/>
          </a:p>
        </p:txBody>
      </p:sp>
      <p:sp>
        <p:nvSpPr>
          <p:cNvPr id="8" name="Shape 6"/>
          <p:cNvSpPr/>
          <p:nvPr/>
        </p:nvSpPr>
        <p:spPr>
          <a:xfrm>
            <a:off x="6172200" y="2057400"/>
            <a:ext cx="5440680" cy="2743200"/>
          </a:xfrm>
          <a:prstGeom prst="roundRect">
            <a:avLst>
              <a:gd name="adj" fmla="val 2000"/>
            </a:avLst>
          </a:prstGeom>
          <a:solidFill>
            <a:srgbClr val="10151C"/>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9" name="Text 7"/>
          <p:cNvSpPr/>
          <p:nvPr/>
        </p:nvSpPr>
        <p:spPr>
          <a:xfrm>
            <a:off x="6400800" y="2221992"/>
            <a:ext cx="5029200" cy="2423160"/>
          </a:xfrm>
          <a:prstGeom prst="rect">
            <a:avLst/>
          </a:prstGeom>
          <a:noFill/>
          <a:ln/>
        </p:spPr>
        <p:txBody>
          <a:bodyPr wrap="square" lIns="0" tIns="0" rIns="0" bIns="0" rtlCol="0" anchor="t"/>
          <a:lstStyle/>
          <a:p>
            <a:pPr indent="0" marL="0">
              <a:lnSpc>
                <a:spcPct val="118000"/>
              </a:lnSpc>
              <a:buNone/>
            </a:pPr>
            <a:r>
              <a:rPr lang="en-US" sz="1250" dirty="0">
                <a:solidFill>
                  <a:srgbClr val="FF7B72"/>
                </a:solidFill>
                <a:latin typeface="Consolas" pitchFamily="34" charset="0"/>
                <a:ea typeface="Consolas" pitchFamily="34" charset="-122"/>
                <a:cs typeface="Consolas" pitchFamily="34" charset="-120"/>
              </a:rPr>
              <a:t>CREATE PROCEDURE </a:t>
            </a:r>
            <a:pPr indent="0" marL="0">
              <a:lnSpc>
                <a:spcPct val="118000"/>
              </a:lnSpc>
              <a:buNone/>
            </a:pPr>
            <a:r>
              <a:rPr lang="en-US" sz="1250" dirty="0">
                <a:solidFill>
                  <a:srgbClr val="79C0FF"/>
                </a:solidFill>
                <a:latin typeface="Consolas" pitchFamily="34" charset="0"/>
                <a:ea typeface="Consolas" pitchFamily="34" charset="-122"/>
                <a:cs typeface="Consolas" pitchFamily="34" charset="-120"/>
              </a:rPr>
              <a:t>ObtenirTickets</a:t>
            </a:r>
            <a:endParaRPr lang="en-US" sz="1250" dirty="0"/>
          </a:p>
          <a:p>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  @Statut NVARCHAR(50) = </a:t>
            </a:r>
            <a:pPr indent="0" marL="0">
              <a:lnSpc>
                <a:spcPct val="118000"/>
              </a:lnSpc>
              <a:buNone/>
            </a:pPr>
            <a:r>
              <a:rPr lang="en-US" sz="1250" dirty="0">
                <a:solidFill>
                  <a:srgbClr val="FF7B72"/>
                </a:solidFill>
                <a:latin typeface="Consolas" pitchFamily="34" charset="0"/>
                <a:ea typeface="Consolas" pitchFamily="34" charset="-122"/>
                <a:cs typeface="Consolas" pitchFamily="34" charset="-120"/>
              </a:rPr>
              <a:t>NULL</a:t>
            </a:r>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 ...</a:t>
            </a:r>
            <a:endParaRPr lang="en-US" sz="1250" dirty="0"/>
          </a:p>
          <a:p>
            <a:pPr indent="0" marL="0">
              <a:lnSpc>
                <a:spcPct val="118000"/>
              </a:lnSpc>
              <a:buNone/>
            </a:pPr>
            <a:r>
              <a:rPr lang="en-US" sz="1250" dirty="0">
                <a:solidFill>
                  <a:srgbClr val="8B949E"/>
                </a:solidFill>
                <a:latin typeface="Consolas" pitchFamily="34" charset="0"/>
                <a:ea typeface="Consolas" pitchFamily="34" charset="-122"/>
                <a:cs typeface="Consolas" pitchFamily="34" charset="-120"/>
              </a:rPr>
              <a:t>...</a:t>
            </a:r>
            <a:endParaRPr lang="en-US" sz="1250" dirty="0"/>
          </a:p>
          <a:p>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WHERE (</a:t>
            </a:r>
            <a:pPr indent="0" marL="0">
              <a:lnSpc>
                <a:spcPct val="118000"/>
              </a:lnSpc>
              <a:buNone/>
            </a:pPr>
            <a:r>
              <a:rPr lang="en-US" sz="1250" dirty="0">
                <a:solidFill>
                  <a:srgbClr val="FF7B72"/>
                </a:solidFill>
                <a:latin typeface="Consolas" pitchFamily="34" charset="0"/>
                <a:ea typeface="Consolas" pitchFamily="34" charset="-122"/>
                <a:cs typeface="Consolas" pitchFamily="34" charset="-120"/>
              </a:rPr>
              <a:t>@Statut IS NULL</a:t>
            </a:r>
            <a:endParaRPr lang="en-US" sz="1250" dirty="0"/>
          </a:p>
          <a:p>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       OR s.Nom = @Statut)</a:t>
            </a:r>
            <a:endParaRPr lang="en-US" sz="1250" dirty="0"/>
          </a:p>
          <a:p>
            <a:pPr indent="0" marL="0">
              <a:lnSpc>
                <a:spcPct val="118000"/>
              </a:lnSpc>
              <a:buNone/>
            </a:pPr>
            <a:r>
              <a:rPr lang="en-US" sz="1250" dirty="0">
                <a:solidFill>
                  <a:srgbClr val="E6EDF3"/>
                </a:solidFill>
                <a:latin typeface="Consolas" pitchFamily="34" charset="0"/>
                <a:ea typeface="Consolas" pitchFamily="34" charset="-122"/>
                <a:cs typeface="Consolas" pitchFamily="34" charset="-120"/>
              </a:rPr>
              <a:t>  AND (@MotCle IS NULL OR ...)</a:t>
            </a:r>
            <a:endParaRPr lang="en-US" sz="1250" dirty="0"/>
          </a:p>
        </p:txBody>
      </p:sp>
      <p:sp>
        <p:nvSpPr>
          <p:cNvPr id="10" name="Shape 8"/>
          <p:cNvSpPr/>
          <p:nvPr/>
        </p:nvSpPr>
        <p:spPr>
          <a:xfrm>
            <a:off x="640080" y="5184648"/>
            <a:ext cx="128016" cy="128016"/>
          </a:xfrm>
          <a:prstGeom prst="rect">
            <a:avLst/>
          </a:prstGeom>
          <a:solidFill>
            <a:srgbClr val="FF7B72"/>
          </a:solidFill>
          <a:ln/>
        </p:spPr>
      </p:sp>
      <p:sp>
        <p:nvSpPr>
          <p:cNvPr id="11" name="Text 9"/>
          <p:cNvSpPr/>
          <p:nvPr/>
        </p:nvSpPr>
        <p:spPr>
          <a:xfrm>
            <a:off x="932688" y="5074920"/>
            <a:ext cx="10680192" cy="548640"/>
          </a:xfrm>
          <a:prstGeom prst="rect">
            <a:avLst/>
          </a:prstGeom>
          <a:noFill/>
          <a:ln/>
        </p:spPr>
        <p:txBody>
          <a:bodyPr wrap="square" lIns="0" tIns="0" rIns="0" bIns="0" rtlCol="0" anchor="t"/>
          <a:lstStyle/>
          <a:p>
            <a:pPr indent="0" marL="0">
              <a:buNone/>
            </a:pPr>
            <a:r>
              <a:rPr lang="en-US" sz="1450" b="1" dirty="0">
                <a:solidFill>
                  <a:srgbClr val="E6EDF3"/>
                </a:solidFill>
                <a:latin typeface="Calibri" pitchFamily="34" charset="0"/>
                <a:ea typeface="Calibri" pitchFamily="34" charset="-122"/>
                <a:cs typeface="Calibri" pitchFamily="34" charset="-120"/>
              </a:rPr>
              <a:t>Mêmes résultats  </a:t>
            </a:r>
            <a:pPr indent="0" marL="0">
              <a:buNone/>
            </a:pPr>
            <a:r>
              <a:rPr lang="en-US" sz="1450" dirty="0">
                <a:solidFill>
                  <a:srgbClr val="8B949E"/>
                </a:solidFill>
                <a:latin typeface="Calibri" pitchFamily="34" charset="0"/>
                <a:ea typeface="Calibri" pitchFamily="34" charset="-122"/>
                <a:cs typeface="Calibri" pitchFamily="34" charset="-120"/>
              </a:rPr>
              <a:t>les deux approches renvoient exactement 11, 2, 1, 5 ... pour les 20 demandes.</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dirty="0">
                <a:solidFill>
                  <a:srgbClr val="7EE787"/>
                </a:solidFill>
                <a:latin typeface="Consolas" pitchFamily="34" charset="0"/>
                <a:ea typeface="Consolas" pitchFamily="34" charset="-122"/>
                <a:cs typeface="Consolas" pitchFamily="34" charset="-120"/>
              </a:rPr>
              <a:t>// livrables</a:t>
            </a:r>
            <a:endParaRPr lang="en-US" sz="1300" dirty="0"/>
          </a:p>
        </p:txBody>
      </p:sp>
      <p:sp>
        <p:nvSpPr>
          <p:cNvPr id="3" name="Text 1"/>
          <p:cNvSpPr/>
          <p:nvPr/>
        </p:nvSpPr>
        <p:spPr>
          <a:xfrm>
            <a:off x="548640" y="685800"/>
            <a:ext cx="11064240" cy="731520"/>
          </a:xfrm>
          <a:prstGeom prst="rect">
            <a:avLst/>
          </a:prstGeom>
          <a:noFill/>
          <a:ln/>
        </p:spPr>
        <p:txBody>
          <a:bodyPr wrap="square" lIns="0" tIns="0" rIns="0" bIns="0" rtlCol="0" anchor="ctr"/>
          <a:lstStyle/>
          <a:p>
            <a:pPr indent="0" marL="0">
              <a:buNone/>
            </a:pPr>
            <a:r>
              <a:rPr lang="en-US" sz="2600" b="1" dirty="0">
                <a:solidFill>
                  <a:srgbClr val="E6EDF3"/>
                </a:solidFill>
                <a:latin typeface="Consolas" pitchFamily="34" charset="0"/>
                <a:ea typeface="Consolas" pitchFamily="34" charset="-122"/>
                <a:cs typeface="Consolas" pitchFamily="34" charset="-120"/>
              </a:rPr>
              <a:t>Documentation et sauvegarde</a:t>
            </a:r>
            <a:endParaRPr lang="en-US" sz="2600" dirty="0"/>
          </a:p>
        </p:txBody>
      </p:sp>
      <p:sp>
        <p:nvSpPr>
          <p:cNvPr id="4" name="Shape 2"/>
          <p:cNvSpPr/>
          <p:nvPr/>
        </p:nvSpPr>
        <p:spPr>
          <a:xfrm>
            <a:off x="548640" y="1828800"/>
            <a:ext cx="5486400" cy="4023360"/>
          </a:xfrm>
          <a:prstGeom prst="roundRect">
            <a:avLst>
              <a:gd name="adj" fmla="val 1364"/>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5" name="Text 3"/>
          <p:cNvSpPr/>
          <p:nvPr/>
        </p:nvSpPr>
        <p:spPr>
          <a:xfrm>
            <a:off x="822960" y="2103120"/>
            <a:ext cx="4937760" cy="457200"/>
          </a:xfrm>
          <a:prstGeom prst="rect">
            <a:avLst/>
          </a:prstGeom>
          <a:noFill/>
          <a:ln/>
        </p:spPr>
        <p:txBody>
          <a:bodyPr wrap="square" lIns="0" tIns="0" rIns="0" bIns="0" rtlCol="0" anchor="ctr"/>
          <a:lstStyle/>
          <a:p>
            <a:pPr indent="0" marL="0">
              <a:buNone/>
            </a:pPr>
            <a:r>
              <a:rPr lang="en-US" sz="1600" b="1" dirty="0">
                <a:solidFill>
                  <a:srgbClr val="FF7B72"/>
                </a:solidFill>
                <a:latin typeface="Consolas" pitchFamily="34" charset="0"/>
                <a:ea typeface="Consolas" pitchFamily="34" charset="-122"/>
                <a:cs typeface="Consolas" pitchFamily="34" charset="-120"/>
              </a:rPr>
              <a:t>Documentation des requêtes</a:t>
            </a:r>
            <a:endParaRPr lang="en-US" sz="1600" dirty="0"/>
          </a:p>
        </p:txBody>
      </p:sp>
      <p:sp>
        <p:nvSpPr>
          <p:cNvPr id="6" name="Text 4"/>
          <p:cNvSpPr/>
          <p:nvPr/>
        </p:nvSpPr>
        <p:spPr>
          <a:xfrm>
            <a:off x="822960" y="2697480"/>
            <a:ext cx="4937760" cy="2926080"/>
          </a:xfrm>
          <a:prstGeom prst="rect">
            <a:avLst/>
          </a:prstGeom>
          <a:noFill/>
          <a:ln/>
        </p:spPr>
        <p:txBody>
          <a:bodyPr wrap="square" lIns="0" tIns="0" rIns="0" bIns="0" rtlCol="0" anchor="t"/>
          <a:lstStyle/>
          <a:p>
            <a:pPr indent="0" marL="0">
              <a:lnSpc>
                <a:spcPct val="115000"/>
              </a:lnSpc>
              <a:buNone/>
            </a:pPr>
            <a:r>
              <a:rPr lang="en-US" sz="1450" dirty="0">
                <a:solidFill>
                  <a:srgbClr val="8B949E"/>
                </a:solidFill>
                <a:latin typeface="Calibri" pitchFamily="34" charset="0"/>
                <a:ea typeface="Calibri" pitchFamily="34" charset="-122"/>
                <a:cs typeface="Calibri" pitchFamily="34" charset="-120"/>
              </a:rPr>
              <a:t>Un fichier Excel documente les 20 demandes : </a:t>
            </a:r>
            <a:pPr indent="0" marL="0">
              <a:lnSpc>
                <a:spcPct val="115000"/>
              </a:lnSpc>
              <a:buNone/>
            </a:pPr>
            <a:r>
              <a:rPr lang="en-US" sz="1450" b="1" dirty="0">
                <a:solidFill>
                  <a:srgbClr val="E6EDF3"/>
                </a:solidFill>
                <a:latin typeface="Calibri" pitchFamily="34" charset="0"/>
                <a:ea typeface="Calibri" pitchFamily="34" charset="-122"/>
                <a:cs typeface="Calibri" pitchFamily="34" charset="-120"/>
              </a:rPr>
              <a:t>but, paramètres, résultat escompté et résultat obtenu </a:t>
            </a:r>
            <a:pPr indent="0" marL="0">
              <a:lnSpc>
                <a:spcPct val="115000"/>
              </a:lnSpc>
              <a:buNone/>
            </a:pPr>
            <a:r>
              <a:rPr lang="en-US" sz="1450" dirty="0">
                <a:solidFill>
                  <a:srgbClr val="8B949E"/>
                </a:solidFill>
                <a:latin typeface="Calibri" pitchFamily="34" charset="0"/>
                <a:ea typeface="Calibri" pitchFamily="34" charset="-122"/>
                <a:cs typeface="Calibri" pitchFamily="34" charset="-120"/>
              </a:rPr>
              <a:t>(les vrais comptes sur la base).</a:t>
            </a:r>
            <a:endParaRPr lang="en-US" sz="1450" dirty="0"/>
          </a:p>
        </p:txBody>
      </p:sp>
      <p:sp>
        <p:nvSpPr>
          <p:cNvPr id="7" name="Shape 5"/>
          <p:cNvSpPr/>
          <p:nvPr/>
        </p:nvSpPr>
        <p:spPr>
          <a:xfrm>
            <a:off x="6172200" y="1828800"/>
            <a:ext cx="5440680" cy="4023360"/>
          </a:xfrm>
          <a:prstGeom prst="roundRect">
            <a:avLst>
              <a:gd name="adj" fmla="val 1364"/>
            </a:avLst>
          </a:prstGeom>
          <a:solidFill>
            <a:srgbClr val="161B22"/>
          </a:solidFill>
          <a:ln w="12700">
            <a:solidFill>
              <a:srgbClr val="30363D"/>
            </a:solidFill>
            <a:prstDash val="solid"/>
          </a:ln>
          <a:effectLst>
            <a:outerShdw sx="100000" sy="100000" kx="0" ky="0" algn="bl" rotWithShape="0" blurRad="101600" dist="38100" dir="5400000">
              <a:srgbClr val="000000">
                <a:alpha val="45000"/>
              </a:srgbClr>
            </a:outerShdw>
          </a:effectLst>
        </p:spPr>
      </p:sp>
      <p:sp>
        <p:nvSpPr>
          <p:cNvPr id="8" name="Text 6"/>
          <p:cNvSpPr/>
          <p:nvPr/>
        </p:nvSpPr>
        <p:spPr>
          <a:xfrm>
            <a:off x="6446520" y="2103120"/>
            <a:ext cx="4937760" cy="457200"/>
          </a:xfrm>
          <a:prstGeom prst="rect">
            <a:avLst/>
          </a:prstGeom>
          <a:noFill/>
          <a:ln/>
        </p:spPr>
        <p:txBody>
          <a:bodyPr wrap="square" lIns="0" tIns="0" rIns="0" bIns="0" rtlCol="0" anchor="ctr"/>
          <a:lstStyle/>
          <a:p>
            <a:pPr indent="0" marL="0">
              <a:buNone/>
            </a:pPr>
            <a:r>
              <a:rPr lang="en-US" sz="1600" b="1" dirty="0">
                <a:solidFill>
                  <a:srgbClr val="FF7B72"/>
                </a:solidFill>
                <a:latin typeface="Consolas" pitchFamily="34" charset="0"/>
                <a:ea typeface="Consolas" pitchFamily="34" charset="-122"/>
                <a:cs typeface="Consolas" pitchFamily="34" charset="-120"/>
              </a:rPr>
              <a:t>Sauvegarde complète (dump)</a:t>
            </a:r>
            <a:endParaRPr lang="en-US" sz="1600" dirty="0"/>
          </a:p>
        </p:txBody>
      </p:sp>
      <p:sp>
        <p:nvSpPr>
          <p:cNvPr id="9" name="Text 7"/>
          <p:cNvSpPr/>
          <p:nvPr/>
        </p:nvSpPr>
        <p:spPr>
          <a:xfrm>
            <a:off x="6446520" y="2697480"/>
            <a:ext cx="4937760" cy="2926080"/>
          </a:xfrm>
          <a:prstGeom prst="rect">
            <a:avLst/>
          </a:prstGeom>
          <a:noFill/>
          <a:ln/>
        </p:spPr>
        <p:txBody>
          <a:bodyPr wrap="square" lIns="0" tIns="0" rIns="0" bIns="0" rtlCol="0" anchor="t"/>
          <a:lstStyle/>
          <a:p>
            <a:pPr indent="0" marL="0">
              <a:lnSpc>
                <a:spcPct val="115000"/>
              </a:lnSpc>
              <a:buNone/>
            </a:pPr>
            <a:r>
              <a:rPr lang="en-US" sz="1450" dirty="0">
                <a:solidFill>
                  <a:srgbClr val="8B949E"/>
                </a:solidFill>
                <a:latin typeface="Calibri" pitchFamily="34" charset="0"/>
                <a:ea typeface="Calibri" pitchFamily="34" charset="-122"/>
                <a:cs typeface="Calibri" pitchFamily="34" charset="-120"/>
              </a:rPr>
              <a:t>Une copie intégrale de la base au format </a:t>
            </a:r>
            <a:pPr indent="0" marL="0">
              <a:lnSpc>
                <a:spcPct val="115000"/>
              </a:lnSpc>
              <a:buNone/>
            </a:pPr>
            <a:r>
              <a:rPr lang="en-US" sz="1450" b="1" dirty="0">
                <a:solidFill>
                  <a:srgbClr val="79C0FF"/>
                </a:solidFill>
                <a:latin typeface="Calibri" pitchFamily="34" charset="0"/>
                <a:ea typeface="Calibri" pitchFamily="34" charset="-122"/>
                <a:cs typeface="Calibri" pitchFamily="34" charset="-120"/>
              </a:rPr>
              <a:t>.bak</a:t>
            </a:r>
            <a:pPr indent="0" marL="0">
              <a:lnSpc>
                <a:spcPct val="115000"/>
              </a:lnSpc>
              <a:buNone/>
            </a:pPr>
            <a:r>
              <a:rPr lang="en-US" sz="1450" dirty="0">
                <a:solidFill>
                  <a:srgbClr val="8B949E"/>
                </a:solidFill>
                <a:latin typeface="Calibri" pitchFamily="34" charset="0"/>
                <a:ea typeface="Calibri" pitchFamily="34" charset="-122"/>
                <a:cs typeface="Calibri" pitchFamily="34" charset="-120"/>
              </a:rPr>
              <a:t>, restaurable sur n'importe quel serveur SQL Server, déposée sur GitHub avec tout le projet.</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731520" y="640080"/>
            <a:ext cx="10058400" cy="365760"/>
          </a:xfrm>
          <a:prstGeom prst="rect">
            <a:avLst/>
          </a:prstGeom>
          <a:noFill/>
          <a:ln/>
        </p:spPr>
        <p:txBody>
          <a:bodyPr wrap="square" lIns="0" tIns="0" rIns="0" bIns="0" rtlCol="0" anchor="ctr"/>
          <a:lstStyle/>
          <a:p>
            <a:pPr indent="0" marL="0">
              <a:buNone/>
            </a:pPr>
            <a:r>
              <a:rPr lang="en-US" sz="1500" dirty="0">
                <a:solidFill>
                  <a:srgbClr val="7EE787"/>
                </a:solidFill>
                <a:latin typeface="Consolas" pitchFamily="34" charset="0"/>
                <a:ea typeface="Consolas" pitchFamily="34" charset="-122"/>
                <a:cs typeface="Consolas" pitchFamily="34" charset="-120"/>
              </a:rPr>
              <a:t>// bilan</a:t>
            </a:r>
            <a:endParaRPr lang="en-US" sz="1500" dirty="0"/>
          </a:p>
        </p:txBody>
      </p:sp>
      <p:sp>
        <p:nvSpPr>
          <p:cNvPr id="3" name="Text 1"/>
          <p:cNvSpPr/>
          <p:nvPr/>
        </p:nvSpPr>
        <p:spPr>
          <a:xfrm>
            <a:off x="731520" y="1005840"/>
            <a:ext cx="10515600" cy="73152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Ce que ce projet m'a apporté</a:t>
            </a:r>
            <a:endParaRPr lang="en-US" sz="3000" dirty="0"/>
          </a:p>
        </p:txBody>
      </p:sp>
      <p:sp>
        <p:nvSpPr>
          <p:cNvPr id="4" name="Shape 2"/>
          <p:cNvSpPr/>
          <p:nvPr/>
        </p:nvSpPr>
        <p:spPr>
          <a:xfrm>
            <a:off x="777240" y="2359152"/>
            <a:ext cx="128016" cy="128016"/>
          </a:xfrm>
          <a:prstGeom prst="rect">
            <a:avLst/>
          </a:prstGeom>
          <a:solidFill>
            <a:srgbClr val="FF7B72"/>
          </a:solidFill>
          <a:ln/>
        </p:spPr>
      </p:sp>
      <p:sp>
        <p:nvSpPr>
          <p:cNvPr id="5" name="Text 3"/>
          <p:cNvSpPr/>
          <p:nvPr/>
        </p:nvSpPr>
        <p:spPr>
          <a:xfrm>
            <a:off x="1097280" y="2258568"/>
            <a:ext cx="10332720" cy="548640"/>
          </a:xfrm>
          <a:prstGeom prst="rect">
            <a:avLst/>
          </a:prstGeom>
          <a:noFill/>
          <a:ln/>
        </p:spPr>
        <p:txBody>
          <a:bodyPr wrap="square" lIns="0" tIns="0" rIns="0" bIns="0" rtlCol="0" anchor="t"/>
          <a:lstStyle/>
          <a:p>
            <a:pPr indent="0" marL="0">
              <a:buNone/>
            </a:pPr>
            <a:r>
              <a:rPr lang="en-US" sz="1600" b="1" dirty="0">
                <a:solidFill>
                  <a:srgbClr val="E6EDF3"/>
                </a:solidFill>
                <a:latin typeface="Calibri" pitchFamily="34" charset="0"/>
                <a:ea typeface="Calibri" pitchFamily="34" charset="-122"/>
                <a:cs typeface="Calibri" pitchFamily="34" charset="-120"/>
              </a:rPr>
              <a:t>Modélisation  </a:t>
            </a:r>
            <a:pPr indent="0" marL="0">
              <a:buNone/>
            </a:pPr>
            <a:r>
              <a:rPr lang="en-US" sz="1600" dirty="0">
                <a:solidFill>
                  <a:srgbClr val="8B949E"/>
                </a:solidFill>
                <a:latin typeface="Calibri" pitchFamily="34" charset="0"/>
                <a:ea typeface="Calibri" pitchFamily="34" charset="-122"/>
                <a:cs typeface="Calibri" pitchFamily="34" charset="-120"/>
              </a:rPr>
              <a:t>concevoir un schéma normalisé (3e forme normale) à partir d'un besoin.</a:t>
            </a:r>
            <a:endParaRPr lang="en-US" sz="1600" dirty="0"/>
          </a:p>
        </p:txBody>
      </p:sp>
      <p:sp>
        <p:nvSpPr>
          <p:cNvPr id="6" name="Shape 4"/>
          <p:cNvSpPr/>
          <p:nvPr/>
        </p:nvSpPr>
        <p:spPr>
          <a:xfrm>
            <a:off x="777240" y="3273552"/>
            <a:ext cx="128016" cy="128016"/>
          </a:xfrm>
          <a:prstGeom prst="rect">
            <a:avLst/>
          </a:prstGeom>
          <a:solidFill>
            <a:srgbClr val="FF7B72"/>
          </a:solidFill>
          <a:ln/>
        </p:spPr>
      </p:sp>
      <p:sp>
        <p:nvSpPr>
          <p:cNvPr id="7" name="Text 5"/>
          <p:cNvSpPr/>
          <p:nvPr/>
        </p:nvSpPr>
        <p:spPr>
          <a:xfrm>
            <a:off x="1097280" y="3172968"/>
            <a:ext cx="10332720" cy="548640"/>
          </a:xfrm>
          <a:prstGeom prst="rect">
            <a:avLst/>
          </a:prstGeom>
          <a:noFill/>
          <a:ln/>
        </p:spPr>
        <p:txBody>
          <a:bodyPr wrap="square" lIns="0" tIns="0" rIns="0" bIns="0" rtlCol="0" anchor="t"/>
          <a:lstStyle/>
          <a:p>
            <a:pPr indent="0" marL="0">
              <a:buNone/>
            </a:pPr>
            <a:r>
              <a:rPr lang="en-US" sz="1600" b="1" dirty="0">
                <a:solidFill>
                  <a:srgbClr val="E6EDF3"/>
                </a:solidFill>
                <a:latin typeface="Calibri" pitchFamily="34" charset="0"/>
                <a:ea typeface="Calibri" pitchFamily="34" charset="-122"/>
                <a:cs typeface="Calibri" pitchFamily="34" charset="-120"/>
              </a:rPr>
              <a:t>Code-First avec EF Core  </a:t>
            </a:r>
            <a:pPr indent="0" marL="0">
              <a:buNone/>
            </a:pPr>
            <a:r>
              <a:rPr lang="en-US" sz="1600" dirty="0">
                <a:solidFill>
                  <a:srgbClr val="8B949E"/>
                </a:solidFill>
                <a:latin typeface="Calibri" pitchFamily="34" charset="0"/>
                <a:ea typeface="Calibri" pitchFamily="34" charset="-122"/>
                <a:cs typeface="Calibri" pitchFamily="34" charset="-120"/>
              </a:rPr>
              <a:t>des classes C# à la vraie base de données.</a:t>
            </a:r>
            <a:endParaRPr lang="en-US" sz="1600" dirty="0"/>
          </a:p>
        </p:txBody>
      </p:sp>
      <p:sp>
        <p:nvSpPr>
          <p:cNvPr id="8" name="Shape 6"/>
          <p:cNvSpPr/>
          <p:nvPr/>
        </p:nvSpPr>
        <p:spPr>
          <a:xfrm>
            <a:off x="777240" y="4187952"/>
            <a:ext cx="128016" cy="128016"/>
          </a:xfrm>
          <a:prstGeom prst="rect">
            <a:avLst/>
          </a:prstGeom>
          <a:solidFill>
            <a:srgbClr val="FF7B72"/>
          </a:solidFill>
          <a:ln/>
        </p:spPr>
      </p:sp>
      <p:sp>
        <p:nvSpPr>
          <p:cNvPr id="9" name="Text 7"/>
          <p:cNvSpPr/>
          <p:nvPr/>
        </p:nvSpPr>
        <p:spPr>
          <a:xfrm>
            <a:off x="1097280" y="4087368"/>
            <a:ext cx="10332720" cy="548640"/>
          </a:xfrm>
          <a:prstGeom prst="rect">
            <a:avLst/>
          </a:prstGeom>
          <a:noFill/>
          <a:ln/>
        </p:spPr>
        <p:txBody>
          <a:bodyPr wrap="square" lIns="0" tIns="0" rIns="0" bIns="0" rtlCol="0" anchor="t"/>
          <a:lstStyle/>
          <a:p>
            <a:pPr indent="0" marL="0">
              <a:buNone/>
            </a:pPr>
            <a:r>
              <a:rPr lang="en-US" sz="1600" b="1" dirty="0">
                <a:solidFill>
                  <a:srgbClr val="E6EDF3"/>
                </a:solidFill>
                <a:latin typeface="Calibri" pitchFamily="34" charset="0"/>
                <a:ea typeface="Calibri" pitchFamily="34" charset="-122"/>
                <a:cs typeface="Calibri" pitchFamily="34" charset="-120"/>
              </a:rPr>
              <a:t>Interrogation  </a:t>
            </a:r>
            <a:pPr indent="0" marL="0">
              <a:buNone/>
            </a:pPr>
            <a:r>
              <a:rPr lang="en-US" sz="1600" dirty="0">
                <a:solidFill>
                  <a:srgbClr val="8B949E"/>
                </a:solidFill>
                <a:latin typeface="Calibri" pitchFamily="34" charset="0"/>
                <a:ea typeface="Calibri" pitchFamily="34" charset="-122"/>
                <a:cs typeface="Calibri" pitchFamily="34" charset="-120"/>
              </a:rPr>
              <a:t>LINQ et SQL, et l'art d'optimiser des requêtes.</a:t>
            </a:r>
            <a:endParaRPr lang="en-US" sz="1600" dirty="0"/>
          </a:p>
        </p:txBody>
      </p:sp>
      <p:sp>
        <p:nvSpPr>
          <p:cNvPr id="10" name="Shape 8"/>
          <p:cNvSpPr/>
          <p:nvPr/>
        </p:nvSpPr>
        <p:spPr>
          <a:xfrm>
            <a:off x="777240" y="5102352"/>
            <a:ext cx="128016" cy="128016"/>
          </a:xfrm>
          <a:prstGeom prst="rect">
            <a:avLst/>
          </a:prstGeom>
          <a:solidFill>
            <a:srgbClr val="FF7B72"/>
          </a:solidFill>
          <a:ln/>
        </p:spPr>
      </p:sp>
      <p:sp>
        <p:nvSpPr>
          <p:cNvPr id="11" name="Text 9"/>
          <p:cNvSpPr/>
          <p:nvPr/>
        </p:nvSpPr>
        <p:spPr>
          <a:xfrm>
            <a:off x="1097280" y="5001768"/>
            <a:ext cx="10332720" cy="548640"/>
          </a:xfrm>
          <a:prstGeom prst="rect">
            <a:avLst/>
          </a:prstGeom>
          <a:noFill/>
          <a:ln/>
        </p:spPr>
        <p:txBody>
          <a:bodyPr wrap="square" lIns="0" tIns="0" rIns="0" bIns="0" rtlCol="0" anchor="t"/>
          <a:lstStyle/>
          <a:p>
            <a:pPr indent="0" marL="0">
              <a:buNone/>
            </a:pPr>
            <a:r>
              <a:rPr lang="en-US" sz="1600" b="1" dirty="0">
                <a:solidFill>
                  <a:srgbClr val="E6EDF3"/>
                </a:solidFill>
                <a:latin typeface="Calibri" pitchFamily="34" charset="0"/>
                <a:ea typeface="Calibri" pitchFamily="34" charset="-122"/>
                <a:cs typeface="Calibri" pitchFamily="34" charset="-120"/>
              </a:rPr>
              <a:t>Rigueur des livrables  </a:t>
            </a:r>
            <a:pPr indent="0" marL="0">
              <a:buNone/>
            </a:pPr>
            <a:r>
              <a:rPr lang="en-US" sz="1600" dirty="0">
                <a:solidFill>
                  <a:srgbClr val="8B949E"/>
                </a:solidFill>
                <a:latin typeface="Calibri" pitchFamily="34" charset="0"/>
                <a:ea typeface="Calibri" pitchFamily="34" charset="-122"/>
                <a:cs typeface="Calibri" pitchFamily="34" charset="-120"/>
              </a:rPr>
              <a:t>documentation, sauvegarde, et un dépôt GitHub clair.</a:t>
            </a:r>
            <a:endParaRPr lang="en-US" sz="1600" dirty="0"/>
          </a:p>
        </p:txBody>
      </p:sp>
      <p:sp>
        <p:nvSpPr>
          <p:cNvPr id="12" name="Text 10"/>
          <p:cNvSpPr/>
          <p:nvPr/>
        </p:nvSpPr>
        <p:spPr>
          <a:xfrm>
            <a:off x="731520" y="6126480"/>
            <a:ext cx="10698480" cy="457200"/>
          </a:xfrm>
          <a:prstGeom prst="rect">
            <a:avLst/>
          </a:prstGeom>
          <a:noFill/>
          <a:ln/>
        </p:spPr>
        <p:txBody>
          <a:bodyPr wrap="square" lIns="0" tIns="0" rIns="0" bIns="0" rtlCol="0" anchor="ctr"/>
          <a:lstStyle/>
          <a:p>
            <a:pPr algn="ctr" indent="0" marL="0">
              <a:buNone/>
            </a:pPr>
            <a:r>
              <a:rPr lang="en-US" sz="2000" b="1" dirty="0">
                <a:solidFill>
                  <a:srgbClr val="7EE787"/>
                </a:solidFill>
                <a:latin typeface="Consolas" pitchFamily="34" charset="0"/>
                <a:ea typeface="Consolas" pitchFamily="34" charset="-122"/>
                <a:cs typeface="Consolas" pitchFamily="34" charset="-120"/>
              </a:rPr>
              <a:t>&gt; </a:t>
            </a:r>
            <a:pPr algn="ctr" indent="0" marL="0">
              <a:buNone/>
            </a:pPr>
            <a:r>
              <a:rPr lang="en-US" sz="2000" b="1" dirty="0">
                <a:solidFill>
                  <a:srgbClr val="E6EDF3"/>
                </a:solidFill>
                <a:latin typeface="Consolas" pitchFamily="34" charset="0"/>
                <a:ea typeface="Consolas" pitchFamily="34" charset="-122"/>
                <a:cs typeface="Consolas" pitchFamily="34" charset="-120"/>
              </a:rPr>
              <a:t>merci de votre attention  —  vos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NexaWorks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NexaWorks - Base de données de suivi des problèmes</dc:title>
  <dc:subject>PptxGenJS Presentation</dc:subject>
  <dc:creator>Dominique</dc:creator>
  <cp:lastModifiedBy>Dominique</cp:lastModifiedBy>
  <cp:revision>1</cp:revision>
  <dcterms:created xsi:type="dcterms:W3CDTF">2026-08-11T17:57:56Z</dcterms:created>
  <dcterms:modified xsi:type="dcterms:W3CDTF">2026-08-11T17:57:56Z</dcterms:modified>
</cp:coreProperties>
</file>