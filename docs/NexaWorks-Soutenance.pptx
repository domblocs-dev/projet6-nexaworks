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3333" autoAdjust="0"/>
  </p:normalViewPr>
  <p:slideViewPr>
    <p:cSldViewPr snapToGrid="0" snapToObjects="1">
      <p:cViewPr varScale="1">
        <p:scale>
          <a:sx n="106" d="100"/>
          <a:sy n="106" d="100"/>
        </p:scale>
        <p:origin x="756" y="96"/>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98426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le projet </a:t>
            </a:r>
            <a:r>
              <a:rPr lang="en-US"/>
              <a:t>NexaWorks qui consiste en </a:t>
            </a:r>
            <a:r>
              <a:rPr lang="en-US" dirty="0"/>
              <a:t>la conception et la création d'une base de données pour suivre les problèmes des logiciels de l'entreprise. </a:t>
            </a:r>
            <a:r>
              <a:rPr lang="en-US"/>
              <a:t>Je commence </a:t>
            </a:r>
            <a:r>
              <a:rPr lang="en-US" dirty="0"/>
              <a:t>par vous montrer la solution qui fonctionne, puis je détaillerai comment je l'ai construite.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NexaWorks édite des logiciels, chacun en plusieurs versions, compatibles avec différents systèmes d'exploitation. L'entreprise n'a aucun outil pour tracer les problèmes rencontrés</a:t>
            </a:r>
            <a:r>
              <a:rPr lang="en-US"/>
              <a:t>. Je dois </a:t>
            </a:r>
            <a:r>
              <a:rPr lang="en-US" dirty="0"/>
              <a:t>concevoir et </a:t>
            </a:r>
            <a:r>
              <a:rPr lang="en-US"/>
              <a:t>créer une </a:t>
            </a:r>
            <a:r>
              <a:rPr lang="en-US" dirty="0"/>
              <a:t>base de données, la remplir, et fournir les requêtes pour l'interroger.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Je vous </a:t>
            </a:r>
            <a:r>
              <a:rPr lang="en-US" dirty="0"/>
              <a:t>montre </a:t>
            </a:r>
            <a:r>
              <a:rPr lang="en-US"/>
              <a:t>d'abord le fonctionnement en démarrant le programme. </a:t>
            </a:r>
            <a:r>
              <a:rPr lang="en-US" dirty="0"/>
              <a:t>il remplit la </a:t>
            </a:r>
            <a:r>
              <a:rPr lang="en-US"/>
              <a:t>base (si elle est vide) puis </a:t>
            </a:r>
            <a:r>
              <a:rPr lang="en-US" dirty="0"/>
              <a:t>exécute les 20 requêtes demandées. On voit tout de </a:t>
            </a:r>
            <a:r>
              <a:rPr lang="en-US"/>
              <a:t>suite les résultats. J’explique ensuite comment elle a été construite</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a:t>
            </a:r>
            <a:r>
              <a:rPr lang="en-US"/>
              <a:t>modèle compose de </a:t>
            </a:r>
            <a:r>
              <a:rPr lang="en-US" dirty="0"/>
              <a:t>six tables. Produit, Version qui appartient à un produit, OS, la table d'association Compatibilite qui </a:t>
            </a:r>
            <a:r>
              <a:rPr lang="en-US"/>
              <a:t>relie Versions </a:t>
            </a:r>
            <a:r>
              <a:rPr lang="en-US" dirty="0"/>
              <a:t>et OS, Statut</a:t>
            </a:r>
            <a:r>
              <a:rPr lang="en-US"/>
              <a:t>, et enfin la table Ticket qui est au centre </a:t>
            </a:r>
            <a:r>
              <a:rPr lang="fr-FR"/>
              <a:t>du modèle et qui référence les autres entités</a:t>
            </a:r>
            <a:r>
              <a:rPr lang="en-US"/>
              <a:t>. </a:t>
            </a:r>
            <a:r>
              <a:rPr lang="en-US" dirty="0"/>
              <a:t>Un ticket concerne une compatibilité, donc une version sur un OS, et a un statut.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Les choix de conception : J’utilise la 3e forme normale ou le produit se déduit du ticket via sa version. Une table d'association pour le plusieurs-à-plusieurs entre versions et OS, avec une contrainte d'unicité. Une clé étrangère sur le ticket </a:t>
            </a:r>
            <a:r>
              <a:rPr lang="fr-FR" sz="1200" b="0" i="0" kern="1200">
                <a:solidFill>
                  <a:schemeClr val="tx1"/>
                </a:solidFill>
                <a:effectLst/>
                <a:latin typeface="+mn-lt"/>
                <a:ea typeface="+mn-ea"/>
                <a:cs typeface="+mn-cs"/>
              </a:rPr>
              <a:t>référence un couple version + OS déjà déclaré, ce qui interdit les combinaisons impossibles.</a:t>
            </a:r>
            <a:r>
              <a:rPr lang="en-US"/>
              <a:t> </a:t>
            </a:r>
          </a:p>
          <a:p>
            <a:r>
              <a:rPr lang="en-US"/>
              <a:t>Le numéro de la table version est un champ texte (ce n'est pas un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créé 25 tickets réalistes, en respectant la matrice de compatibilité : l'OS d'un ticket est toujours compatible avec sa version. Ils couvrent les 4 produits, les 12 versions, les 6 OS</a:t>
            </a:r>
            <a:r>
              <a:rPr lang="en-US"/>
              <a:t>, avec au </a:t>
            </a:r>
            <a:r>
              <a:rPr lang="en-US" dirty="0"/>
              <a:t>moins 3 </a:t>
            </a:r>
            <a:r>
              <a:rPr lang="en-US"/>
              <a:t>de chaque. Au total un </a:t>
            </a:r>
            <a:r>
              <a:rPr lang="en-US" dirty="0"/>
              <a:t>mélange de 14 résolus et 11 </a:t>
            </a:r>
            <a:r>
              <a:rPr lang="en-US"/>
              <a:t>en 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ticket : les </a:t>
            </a:r>
            <a:r>
              <a:rPr lang="en-US"/>
              <a:t>cours de la bourse s’affichent à </a:t>
            </a:r>
            <a:r>
              <a:rPr lang="en-US" dirty="0"/>
              <a:t>0,00 sur un PC français, à cause du format des nombres</a:t>
            </a:r>
            <a:r>
              <a:rPr lang="en-US"/>
              <a:t>, la virgule au lieu du </a:t>
            </a:r>
            <a:r>
              <a:rPr lang="en-US" dirty="0"/>
              <a:t>point. En forçant un format fixe, le programme lit correctement le </a:t>
            </a:r>
            <a:r>
              <a:rPr lang="en-US"/>
              <a:t>point décimal. </a:t>
            </a:r>
          </a:p>
          <a:p>
            <a:r>
              <a:rPr lang="en-US"/>
              <a:t>Le </a:t>
            </a:r>
            <a:r>
              <a:rPr lang="en-US" dirty="0"/>
              <a:t>second : le solde qui ne se </a:t>
            </a:r>
            <a:r>
              <a:rPr lang="en-US"/>
              <a:t>rafraîchit pas à l’écran </a:t>
            </a:r>
            <a:r>
              <a:rPr lang="en-US" dirty="0"/>
              <a:t>; </a:t>
            </a:r>
            <a:r>
              <a:rPr lang="en-US"/>
              <a:t>on notifie l’interface à chaque changement de valeur, et l’écran </a:t>
            </a:r>
            <a:r>
              <a:rPr lang="en-US" dirty="0"/>
              <a:t>se met à jour automatiquement.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choisi le Code-First : on écrit des classes C# pour chaque table, puis EF Core génère la base à partir d'une migration. C'est l'approche la plus courante en entreprise</a:t>
            </a:r>
            <a:r>
              <a:rPr lang="en-US"/>
              <a:t>. </a:t>
            </a:r>
          </a:p>
          <a:p>
            <a:r>
              <a:rPr lang="en-US"/>
              <a:t>En complément, le même schéma est écrit entièrement en T-SQL avec SQL Server Management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remplir la base</a:t>
            </a:r>
            <a:r>
              <a:rPr lang="en-US"/>
              <a:t>, la classe DonneesInitiales.cs crée </a:t>
            </a:r>
            <a:r>
              <a:rPr lang="en-US" dirty="0"/>
              <a:t>les objets </a:t>
            </a:r>
            <a:r>
              <a:rPr lang="en-US"/>
              <a:t>et Seed.cs qui les relie à la BDD par </a:t>
            </a:r>
            <a:r>
              <a:rPr lang="en-US" dirty="0"/>
              <a:t>un </a:t>
            </a:r>
            <a:r>
              <a:rPr lang="en-US"/>
              <a:t>seul enregistrement ce qui </a:t>
            </a:r>
            <a:r>
              <a:rPr lang="en-US" dirty="0"/>
              <a:t>envoie tout d'un coup dans une transaction. Au total : 4 produits, 6 OS, 2 statuts, 12 versions, 44 compatibilités et 25 </a:t>
            </a:r>
            <a:r>
              <a:rPr lang="en-US"/>
              <a:t>tickets.</a:t>
            </a:r>
          </a:p>
          <a:p>
            <a:r>
              <a:rPr lang="en-US"/>
              <a:t>Fait également en T-SQL.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L'optimisation des requêtes: </a:t>
            </a:r>
            <a:r>
              <a:rPr lang="en-US" dirty="0"/>
              <a:t>les 20 requêtes ne varient que par cinq critères : statut, produit, version</a:t>
            </a:r>
            <a:r>
              <a:rPr lang="en-US"/>
              <a:t>, période et </a:t>
            </a:r>
            <a:r>
              <a:rPr lang="en-US" dirty="0"/>
              <a:t>mots-clés</a:t>
            </a:r>
            <a:r>
              <a:rPr lang="en-US"/>
              <a:t>. Une </a:t>
            </a:r>
            <a:r>
              <a:rPr lang="en-US" dirty="0"/>
              <a:t>seule requête paramétrée, où chaque critère est optionnel. Un paramètre vide est ignoré. Cette unique requête répond aux </a:t>
            </a:r>
            <a:r>
              <a:rPr lang="en-US"/>
              <a:t>20 demandes.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fourni la requête de deux façons : en LINQ dans le projet .NET, et en procédure stockée T-SQL dans la base. La version LINQ construit les filtres à la volée et se traduit en une seule </a:t>
            </a:r>
            <a:r>
              <a:rPr lang="en-US"/>
              <a:t>requête SQL.</a:t>
            </a:r>
          </a:p>
          <a:p>
            <a:r>
              <a:rPr lang="en-US"/>
              <a:t>La procedure stockée </a:t>
            </a:r>
            <a:r>
              <a:rPr lang="en-US" dirty="0"/>
              <a:t>utilise le motif paramètre-vide-ou-condition. Les deux donnent exactement les mêmes résultats.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documentation, un fichier Excel reprend les 20 demandes avec pour chacune le but, les paramètres, le résultat attendu et le résultat obtenu. Enfin, une sauvegarde complète de la base au format .bak, restaurable ailleurs, est déposée sur GitHub avec l'ensemble du projet.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Ce </a:t>
            </a:r>
            <a:r>
              <a:rPr lang="en-US" dirty="0"/>
              <a:t>projet m'a fait progresser sur </a:t>
            </a:r>
            <a:r>
              <a:rPr lang="en-US"/>
              <a:t>la conception </a:t>
            </a:r>
            <a:r>
              <a:rPr lang="en-US" dirty="0"/>
              <a:t>et </a:t>
            </a:r>
            <a:r>
              <a:rPr lang="en-US"/>
              <a:t>la normalisation du schéma, </a:t>
            </a:r>
            <a:r>
              <a:rPr lang="en-US" dirty="0"/>
              <a:t>sur la création d'une base en Code-First avec EF Core, sur l'interrogation en LINQ et </a:t>
            </a:r>
            <a:r>
              <a:rPr lang="en-US"/>
              <a:t>en t-SQL </a:t>
            </a:r>
            <a:r>
              <a:rPr lang="en-US" dirty="0"/>
              <a:t>avec l'optimisation </a:t>
            </a:r>
            <a:r>
              <a:rPr lang="en-US"/>
              <a:t>des requêtes. </a:t>
            </a:r>
            <a:r>
              <a:rPr lang="en-US" dirty="0"/>
              <a:t>Je vous remercie et je réponds à vos questions.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5367528" y="868680"/>
            <a:ext cx="1463040" cy="1463040"/>
          </a:xfrm>
          <a:prstGeom prst="roundRect">
            <a:avLst>
              <a:gd name="adj" fmla="val 7500"/>
            </a:avLst>
          </a:prstGeom>
          <a:solidFill>
            <a:srgbClr val="FFFFFF"/>
          </a:solidFill>
          <a:ln w="12700">
            <a:solidFill>
              <a:srgbClr val="30363D"/>
            </a:solidFill>
            <a:prstDash val="solid"/>
          </a:ln>
          <a:effectLst>
            <a:outerShdw blurRad="101600" dist="38100" dir="5400000" algn="bl" rotWithShape="0">
              <a:srgbClr val="000000">
                <a:alpha val="45000"/>
              </a:srgbClr>
            </a:outerShdw>
          </a:effectLst>
        </p:spPr>
      </p:sp>
      <p:pic>
        <p:nvPicPr>
          <p:cNvPr id="3" name="Image 0" descr="logo.png"/>
          <p:cNvPicPr>
            <a:picLocks noChangeAspect="1"/>
          </p:cNvPicPr>
          <p:nvPr/>
        </p:nvPicPr>
        <p:blipFill>
          <a:blip r:embed="rId3"/>
          <a:stretch>
            <a:fillRect/>
          </a:stretch>
        </p:blipFill>
        <p:spPr>
          <a:xfrm>
            <a:off x="5486400" y="987552"/>
            <a:ext cx="1225296" cy="1225296"/>
          </a:xfrm>
          <a:prstGeom prst="rect">
            <a:avLst/>
          </a:prstGeom>
        </p:spPr>
      </p:pic>
      <p:sp>
        <p:nvSpPr>
          <p:cNvPr id="4" name="Text 1"/>
          <p:cNvSpPr/>
          <p:nvPr/>
        </p:nvSpPr>
        <p:spPr>
          <a:xfrm>
            <a:off x="914400" y="2697480"/>
            <a:ext cx="10360152" cy="914400"/>
          </a:xfrm>
          <a:prstGeom prst="rect">
            <a:avLst/>
          </a:prstGeom>
          <a:noFill/>
          <a:ln/>
        </p:spPr>
        <p:txBody>
          <a:bodyPr wrap="square" lIns="0" tIns="0" rIns="0" bIns="0" rtlCol="0" anchor="ctr"/>
          <a:lstStyle/>
          <a:p>
            <a:pPr marL="0" indent="0" algn="ctr">
              <a:buNone/>
            </a:pPr>
            <a:r>
              <a:rPr lang="en-US" sz="5200" b="1" dirty="0">
                <a:solidFill>
                  <a:srgbClr val="E6EDF3"/>
                </a:solidFill>
                <a:latin typeface="Consolas" pitchFamily="34" charset="0"/>
                <a:ea typeface="Consolas" pitchFamily="34" charset="-122"/>
                <a:cs typeface="Consolas" pitchFamily="34" charset="-120"/>
              </a:rPr>
              <a:t>NexaWorks</a:t>
            </a:r>
            <a:endParaRPr lang="en-US" sz="5200" dirty="0"/>
          </a:p>
        </p:txBody>
      </p:sp>
      <p:sp>
        <p:nvSpPr>
          <p:cNvPr id="5" name="Text 2"/>
          <p:cNvSpPr/>
          <p:nvPr/>
        </p:nvSpPr>
        <p:spPr>
          <a:xfrm>
            <a:off x="914400" y="3657600"/>
            <a:ext cx="10360152" cy="457200"/>
          </a:xfrm>
          <a:prstGeom prst="rect">
            <a:avLst/>
          </a:prstGeom>
          <a:noFill/>
          <a:ln/>
        </p:spPr>
        <p:txBody>
          <a:bodyPr wrap="square" lIns="0" tIns="0" rIns="0" bIns="0" rtlCol="0" anchor="ctr"/>
          <a:lstStyle/>
          <a:p>
            <a:pPr marL="0" indent="0" algn="ctr">
              <a:buNone/>
            </a:pPr>
            <a:r>
              <a:rPr lang="en-US" sz="2000" dirty="0">
                <a:solidFill>
                  <a:srgbClr val="79C0FF"/>
                </a:solidFill>
                <a:latin typeface="Calibri" pitchFamily="34" charset="0"/>
                <a:ea typeface="Calibri" pitchFamily="34" charset="-122"/>
                <a:cs typeface="Calibri" pitchFamily="34" charset="-120"/>
              </a:rPr>
              <a:t>Base de données de suivi des problèmes logiciels</a:t>
            </a:r>
            <a:endParaRPr lang="en-US" sz="2000" dirty="0"/>
          </a:p>
        </p:txBody>
      </p:sp>
      <p:sp>
        <p:nvSpPr>
          <p:cNvPr id="6" name="Text 3"/>
          <p:cNvSpPr/>
          <p:nvPr/>
        </p:nvSpPr>
        <p:spPr>
          <a:xfrm>
            <a:off x="914400" y="4343400"/>
            <a:ext cx="10360152"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Projet 6 — Conception et création d'une base de données pour une application .NET</a:t>
            </a:r>
            <a:endParaRPr lang="en-US" sz="1400" dirty="0"/>
          </a:p>
        </p:txBody>
      </p:sp>
      <p:sp>
        <p:nvSpPr>
          <p:cNvPr id="7" name="Text 4"/>
          <p:cNvSpPr/>
          <p:nvPr/>
        </p:nvSpPr>
        <p:spPr>
          <a:xfrm>
            <a:off x="914400" y="5806440"/>
            <a:ext cx="10360152" cy="365760"/>
          </a:xfrm>
          <a:prstGeom prst="rect">
            <a:avLst/>
          </a:prstGeom>
          <a:noFill/>
          <a:ln/>
        </p:spPr>
        <p:txBody>
          <a:bodyPr wrap="square" lIns="0" tIns="0" rIns="0" bIns="0" rtlCol="0" anchor="ctr"/>
          <a:lstStyle/>
          <a:p>
            <a:pPr marL="0" indent="0" algn="ctr">
              <a:buNone/>
            </a:pPr>
            <a:r>
              <a:rPr lang="en-US" sz="1500" dirty="0">
                <a:solidFill>
                  <a:srgbClr val="7EE787"/>
                </a:solidFill>
                <a:latin typeface="Consolas" pitchFamily="34" charset="0"/>
                <a:ea typeface="Consolas" pitchFamily="34" charset="-122"/>
                <a:cs typeface="Consolas" pitchFamily="34" charset="-120"/>
              </a:rPr>
              <a:t>&gt; </a:t>
            </a:r>
            <a:r>
              <a:rPr lang="en-US" sz="1500" dirty="0">
                <a:solidFill>
                  <a:srgbClr val="8B949E"/>
                </a:solidFill>
                <a:latin typeface="Consolas" pitchFamily="34" charset="0"/>
                <a:ea typeface="Consolas" pitchFamily="34" charset="-122"/>
                <a:cs typeface="Consolas" pitchFamily="34" charset="-120"/>
              </a:rPr>
              <a:t>présenté par </a:t>
            </a:r>
            <a:r>
              <a:rPr lang="en-US" sz="1500" dirty="0">
                <a:solidFill>
                  <a:srgbClr val="FF7B72"/>
                </a:solidFill>
                <a:latin typeface="Consolas" pitchFamily="34" charset="0"/>
                <a:ea typeface="Consolas" pitchFamily="34" charset="-122"/>
                <a:cs typeface="Consolas" pitchFamily="34" charset="-120"/>
              </a:rPr>
              <a:t>Dominique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le projet</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 contexte et le besoin</a:t>
            </a:r>
            <a:endParaRPr lang="en-US" sz="2600" dirty="0"/>
          </a:p>
        </p:txBody>
      </p:sp>
      <p:sp>
        <p:nvSpPr>
          <p:cNvPr id="4" name="Shape 2"/>
          <p:cNvSpPr/>
          <p:nvPr/>
        </p:nvSpPr>
        <p:spPr>
          <a:xfrm>
            <a:off x="548640" y="1783080"/>
            <a:ext cx="5577840" cy="4206240"/>
          </a:xfrm>
          <a:prstGeom prst="roundRect">
            <a:avLst>
              <a:gd name="adj" fmla="val 1304"/>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5" name="Text 3"/>
          <p:cNvSpPr/>
          <p:nvPr/>
        </p:nvSpPr>
        <p:spPr>
          <a:xfrm>
            <a:off x="868680" y="2057400"/>
            <a:ext cx="5029200" cy="457200"/>
          </a:xfrm>
          <a:prstGeom prst="rect">
            <a:avLst/>
          </a:prstGeom>
          <a:noFill/>
          <a:ln/>
        </p:spPr>
        <p:txBody>
          <a:bodyPr wrap="square" lIns="0" tIns="0" rIns="0" bIns="0" rtlCol="0" anchor="ctr"/>
          <a:lstStyle/>
          <a:p>
            <a:pPr marL="0" indent="0">
              <a:buNone/>
            </a:pPr>
            <a:r>
              <a:rPr lang="en-US" sz="1600" b="1" dirty="0">
                <a:solidFill>
                  <a:srgbClr val="E6EDF3"/>
                </a:solidFill>
                <a:latin typeface="Calibri" pitchFamily="34" charset="0"/>
                <a:ea typeface="Calibri" pitchFamily="34" charset="-122"/>
                <a:cs typeface="Calibri" pitchFamily="34" charset="-120"/>
              </a:rPr>
              <a:t>NexaWorks édite plusieurs logiciels.</a:t>
            </a:r>
            <a:endParaRPr lang="en-US" sz="1600" dirty="0"/>
          </a:p>
        </p:txBody>
      </p:sp>
      <p:sp>
        <p:nvSpPr>
          <p:cNvPr id="6" name="Shape 4"/>
          <p:cNvSpPr/>
          <p:nvPr/>
        </p:nvSpPr>
        <p:spPr>
          <a:xfrm>
            <a:off x="868680" y="2852928"/>
            <a:ext cx="128016" cy="128016"/>
          </a:xfrm>
          <a:prstGeom prst="rect">
            <a:avLst/>
          </a:prstGeom>
          <a:solidFill>
            <a:srgbClr val="FF7B72"/>
          </a:solidFill>
          <a:ln/>
        </p:spPr>
      </p:sp>
      <p:sp>
        <p:nvSpPr>
          <p:cNvPr id="7" name="Text 5"/>
          <p:cNvSpPr/>
          <p:nvPr/>
        </p:nvSpPr>
        <p:spPr>
          <a:xfrm>
            <a:off x="1161288" y="2743200"/>
            <a:ext cx="46451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Des produits  </a:t>
            </a:r>
            <a:r>
              <a:rPr lang="en-US" sz="1450" dirty="0">
                <a:solidFill>
                  <a:srgbClr val="8B949E"/>
                </a:solidFill>
                <a:latin typeface="Calibri" pitchFamily="34" charset="0"/>
                <a:ea typeface="Calibri" pitchFamily="34" charset="-122"/>
                <a:cs typeface="Calibri" pitchFamily="34" charset="-120"/>
              </a:rPr>
              <a:t>chacun en plusieurs versions (1.0, 1.1, 2.0...).</a:t>
            </a:r>
            <a:endParaRPr lang="en-US" sz="1450" dirty="0"/>
          </a:p>
        </p:txBody>
      </p:sp>
      <p:sp>
        <p:nvSpPr>
          <p:cNvPr id="8" name="Shape 6"/>
          <p:cNvSpPr/>
          <p:nvPr/>
        </p:nvSpPr>
        <p:spPr>
          <a:xfrm>
            <a:off x="868680" y="3584448"/>
            <a:ext cx="128016" cy="128016"/>
          </a:xfrm>
          <a:prstGeom prst="rect">
            <a:avLst/>
          </a:prstGeom>
          <a:solidFill>
            <a:srgbClr val="FF7B72"/>
          </a:solidFill>
          <a:ln/>
        </p:spPr>
      </p:sp>
      <p:sp>
        <p:nvSpPr>
          <p:cNvPr id="9" name="Text 7"/>
          <p:cNvSpPr/>
          <p:nvPr/>
        </p:nvSpPr>
        <p:spPr>
          <a:xfrm>
            <a:off x="1161288" y="3474720"/>
            <a:ext cx="46451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Des systèmes d'exploitation  </a:t>
            </a:r>
            <a:r>
              <a:rPr lang="en-US" sz="1450" dirty="0">
                <a:solidFill>
                  <a:srgbClr val="8B949E"/>
                </a:solidFill>
                <a:latin typeface="Calibri" pitchFamily="34" charset="0"/>
                <a:ea typeface="Calibri" pitchFamily="34" charset="-122"/>
                <a:cs typeface="Calibri" pitchFamily="34" charset="-120"/>
              </a:rPr>
              <a:t>Windows, MacOS, Linux, Android, iOS, Windows Mobile.</a:t>
            </a:r>
            <a:endParaRPr lang="en-US" sz="1450" dirty="0"/>
          </a:p>
        </p:txBody>
      </p:sp>
      <p:sp>
        <p:nvSpPr>
          <p:cNvPr id="10" name="Shape 8"/>
          <p:cNvSpPr/>
          <p:nvPr/>
        </p:nvSpPr>
        <p:spPr>
          <a:xfrm>
            <a:off x="868680" y="4315968"/>
            <a:ext cx="128016" cy="128016"/>
          </a:xfrm>
          <a:prstGeom prst="rect">
            <a:avLst/>
          </a:prstGeom>
          <a:solidFill>
            <a:srgbClr val="FF7B72"/>
          </a:solidFill>
          <a:ln/>
        </p:spPr>
      </p:sp>
      <p:sp>
        <p:nvSpPr>
          <p:cNvPr id="11" name="Text 9"/>
          <p:cNvSpPr/>
          <p:nvPr/>
        </p:nvSpPr>
        <p:spPr>
          <a:xfrm>
            <a:off x="1161288" y="4206240"/>
            <a:ext cx="46451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Des problèmes  </a:t>
            </a:r>
            <a:r>
              <a:rPr lang="en-US" sz="1450" dirty="0">
                <a:solidFill>
                  <a:srgbClr val="8B949E"/>
                </a:solidFill>
                <a:latin typeface="Calibri" pitchFamily="34" charset="0"/>
                <a:ea typeface="Calibri" pitchFamily="34" charset="-122"/>
                <a:cs typeface="Calibri" pitchFamily="34" charset="-120"/>
              </a:rPr>
              <a:t>des tickets à suivre par version et par OS.</a:t>
            </a:r>
            <a:endParaRPr lang="en-US" sz="1450" dirty="0"/>
          </a:p>
        </p:txBody>
      </p:sp>
      <p:sp>
        <p:nvSpPr>
          <p:cNvPr id="12" name="Shape 10"/>
          <p:cNvSpPr/>
          <p:nvPr/>
        </p:nvSpPr>
        <p:spPr>
          <a:xfrm>
            <a:off x="868680" y="5047488"/>
            <a:ext cx="128016" cy="128016"/>
          </a:xfrm>
          <a:prstGeom prst="rect">
            <a:avLst/>
          </a:prstGeom>
          <a:solidFill>
            <a:srgbClr val="FF7B72"/>
          </a:solidFill>
          <a:ln/>
        </p:spPr>
      </p:sp>
      <p:sp>
        <p:nvSpPr>
          <p:cNvPr id="13" name="Text 11"/>
          <p:cNvSpPr/>
          <p:nvPr/>
        </p:nvSpPr>
        <p:spPr>
          <a:xfrm>
            <a:off x="1161288" y="4937760"/>
            <a:ext cx="46451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Aucun outil existant  </a:t>
            </a:r>
            <a:r>
              <a:rPr lang="en-US" sz="1450" dirty="0">
                <a:solidFill>
                  <a:srgbClr val="8B949E"/>
                </a:solidFill>
                <a:latin typeface="Calibri" pitchFamily="34" charset="0"/>
                <a:ea typeface="Calibri" pitchFamily="34" charset="-122"/>
                <a:cs typeface="Calibri" pitchFamily="34" charset="-120"/>
              </a:rPr>
              <a:t>d'où la mission : concevoir et créer la base.</a:t>
            </a:r>
            <a:endParaRPr lang="en-US" sz="1450" dirty="0"/>
          </a:p>
        </p:txBody>
      </p:sp>
      <p:sp>
        <p:nvSpPr>
          <p:cNvPr id="14" name="Shape 12"/>
          <p:cNvSpPr/>
          <p:nvPr/>
        </p:nvSpPr>
        <p:spPr>
          <a:xfrm>
            <a:off x="6400800" y="1783080"/>
            <a:ext cx="5212080" cy="4206240"/>
          </a:xfrm>
          <a:prstGeom prst="roundRect">
            <a:avLst>
              <a:gd name="adj" fmla="val 1304"/>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5" name="Text 13"/>
          <p:cNvSpPr/>
          <p:nvPr/>
        </p:nvSpPr>
        <p:spPr>
          <a:xfrm>
            <a:off x="6720840" y="2057400"/>
            <a:ext cx="4572000" cy="365760"/>
          </a:xfrm>
          <a:prstGeom prst="rect">
            <a:avLst/>
          </a:prstGeom>
          <a:noFill/>
          <a:ln/>
        </p:spPr>
        <p:txBody>
          <a:bodyPr wrap="square" lIns="0" tIns="0" rIns="0" bIns="0" rtlCol="0" anchor="ctr"/>
          <a:lstStyle/>
          <a:p>
            <a:pPr marL="0" indent="0">
              <a:buNone/>
            </a:pPr>
            <a:r>
              <a:rPr lang="en-US" sz="1400" dirty="0">
                <a:solidFill>
                  <a:srgbClr val="7EE787"/>
                </a:solidFill>
                <a:latin typeface="Consolas" pitchFamily="34" charset="0"/>
                <a:ea typeface="Consolas" pitchFamily="34" charset="-122"/>
                <a:cs typeface="Consolas" pitchFamily="34" charset="-120"/>
              </a:rPr>
              <a:t>// ma mission</a:t>
            </a:r>
            <a:endParaRPr lang="en-US" sz="1400" dirty="0"/>
          </a:p>
        </p:txBody>
      </p:sp>
      <p:sp>
        <p:nvSpPr>
          <p:cNvPr id="16" name="Text 14"/>
          <p:cNvSpPr/>
          <p:nvPr/>
        </p:nvSpPr>
        <p:spPr>
          <a:xfrm>
            <a:off x="6720840" y="2606040"/>
            <a:ext cx="4572000" cy="1828800"/>
          </a:xfrm>
          <a:prstGeom prst="rect">
            <a:avLst/>
          </a:prstGeom>
          <a:noFill/>
          <a:ln/>
        </p:spPr>
        <p:txBody>
          <a:bodyPr wrap="square" lIns="0" tIns="0" rIns="0" bIns="0" rtlCol="0" anchor="t"/>
          <a:lstStyle/>
          <a:p>
            <a:pPr marL="0" indent="0">
              <a:lnSpc>
                <a:spcPct val="120000"/>
              </a:lnSpc>
              <a:buNone/>
            </a:pPr>
            <a:r>
              <a:rPr lang="en-US" sz="1600" dirty="0">
                <a:solidFill>
                  <a:srgbClr val="E6EDF3"/>
                </a:solidFill>
                <a:latin typeface="Calibri" pitchFamily="34" charset="0"/>
                <a:ea typeface="Calibri" pitchFamily="34" charset="-122"/>
                <a:cs typeface="Calibri" pitchFamily="34" charset="-120"/>
              </a:rPr>
              <a:t>Concevoir le modèle de données, créer la base, la remplir de données d'exemple, puis fournir les requêtes pour l'interroger.</a:t>
            </a:r>
            <a:endParaRPr lang="en-US" sz="1600" dirty="0"/>
          </a:p>
        </p:txBody>
      </p:sp>
      <p:sp>
        <p:nvSpPr>
          <p:cNvPr id="17" name="Text 15"/>
          <p:cNvSpPr/>
          <p:nvPr/>
        </p:nvSpPr>
        <p:spPr>
          <a:xfrm>
            <a:off x="6720840" y="4892040"/>
            <a:ext cx="4572000" cy="822960"/>
          </a:xfrm>
          <a:prstGeom prst="rect">
            <a:avLst/>
          </a:prstGeom>
          <a:noFill/>
          <a:ln/>
        </p:spPr>
        <p:txBody>
          <a:bodyPr wrap="square" lIns="0" tIns="0" rIns="0" bIns="0" rtlCol="0" anchor="t"/>
          <a:lstStyle/>
          <a:p>
            <a:pPr marL="0" indent="0">
              <a:buNone/>
            </a:pPr>
            <a:r>
              <a:rPr lang="en-US" sz="1350" i="1" dirty="0">
                <a:solidFill>
                  <a:srgbClr val="8B949E"/>
                </a:solidFill>
                <a:latin typeface="Calibri" pitchFamily="34" charset="0"/>
                <a:ea typeface="Calibri" pitchFamily="34" charset="-122"/>
                <a:cs typeface="Calibri" pitchFamily="34" charset="-120"/>
              </a:rPr>
              <a:t>L'équipe branchera ensuite une API et un site web sur cette base.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démonstration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La solution en fonctionnement</a:t>
            </a:r>
            <a:endParaRPr lang="en-US" sz="26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marL="0" indent="0">
              <a:buNone/>
            </a:pPr>
            <a:r>
              <a:rPr lang="en-US" sz="1500" i="1" dirty="0">
                <a:solidFill>
                  <a:srgbClr val="8B949E"/>
                </a:solidFill>
                <a:latin typeface="Calibri" pitchFamily="34" charset="0"/>
                <a:ea typeface="Calibri" pitchFamily="34" charset="-122"/>
                <a:cs typeface="Calibri" pitchFamily="34" charset="-120"/>
              </a:rPr>
              <a:t>Avant les explications : la base est créée, remplie et interrogeable.</a:t>
            </a:r>
            <a:endParaRPr lang="en-US" sz="1500" dirty="0"/>
          </a:p>
        </p:txBody>
      </p:sp>
      <p:sp>
        <p:nvSpPr>
          <p:cNvPr id="5" name="Text 3"/>
          <p:cNvSpPr/>
          <p:nvPr/>
        </p:nvSpPr>
        <p:spPr>
          <a:xfrm>
            <a:off x="548640" y="2103120"/>
            <a:ext cx="2651760" cy="777240"/>
          </a:xfrm>
          <a:prstGeom prst="rect">
            <a:avLst/>
          </a:prstGeom>
          <a:noFill/>
          <a:ln/>
        </p:spPr>
        <p:txBody>
          <a:bodyPr wrap="square" lIns="0" tIns="0" rIns="0" bIns="0" rtlCol="0" anchor="ctr"/>
          <a:lstStyle/>
          <a:p>
            <a:pPr marL="0" indent="0" algn="ctr">
              <a:buNone/>
            </a:pPr>
            <a:r>
              <a:rPr lang="en-US" sz="4600" b="1" dirty="0">
                <a:solidFill>
                  <a:srgbClr val="FF7B72"/>
                </a:solidFill>
                <a:latin typeface="Consolas" pitchFamily="34" charset="0"/>
                <a:ea typeface="Consolas" pitchFamily="34" charset="-122"/>
                <a:cs typeface="Consolas" pitchFamily="34" charset="-120"/>
              </a:rPr>
              <a:t>25</a:t>
            </a:r>
            <a:endParaRPr lang="en-US" sz="4600" dirty="0"/>
          </a:p>
        </p:txBody>
      </p:sp>
      <p:sp>
        <p:nvSpPr>
          <p:cNvPr id="6" name="Text 4"/>
          <p:cNvSpPr/>
          <p:nvPr/>
        </p:nvSpPr>
        <p:spPr>
          <a:xfrm>
            <a:off x="548640" y="288950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tickets enregistrés</a:t>
            </a:r>
            <a:endParaRPr lang="en-US" sz="1250" dirty="0"/>
          </a:p>
        </p:txBody>
      </p:sp>
      <p:sp>
        <p:nvSpPr>
          <p:cNvPr id="7" name="Text 5"/>
          <p:cNvSpPr/>
          <p:nvPr/>
        </p:nvSpPr>
        <p:spPr>
          <a:xfrm>
            <a:off x="3291840" y="2103120"/>
            <a:ext cx="2651760" cy="777240"/>
          </a:xfrm>
          <a:prstGeom prst="rect">
            <a:avLst/>
          </a:prstGeom>
          <a:noFill/>
          <a:ln/>
        </p:spPr>
        <p:txBody>
          <a:bodyPr wrap="square" lIns="0" tIns="0" rIns="0" bIns="0" rtlCol="0" anchor="ctr"/>
          <a:lstStyle/>
          <a:p>
            <a:pPr marL="0" indent="0" algn="ctr">
              <a:buNone/>
            </a:pPr>
            <a:r>
              <a:rPr lang="en-US" sz="4600" b="1" dirty="0">
                <a:solidFill>
                  <a:srgbClr val="79C0FF"/>
                </a:solidFill>
                <a:latin typeface="Consolas" pitchFamily="34" charset="0"/>
                <a:ea typeface="Consolas" pitchFamily="34" charset="-122"/>
                <a:cs typeface="Consolas" pitchFamily="34" charset="-120"/>
              </a:rPr>
              <a:t>20</a:t>
            </a:r>
            <a:endParaRPr lang="en-US" sz="4600" dirty="0"/>
          </a:p>
        </p:txBody>
      </p:sp>
      <p:sp>
        <p:nvSpPr>
          <p:cNvPr id="8" name="Text 6"/>
          <p:cNvSpPr/>
          <p:nvPr/>
        </p:nvSpPr>
        <p:spPr>
          <a:xfrm>
            <a:off x="3291840" y="288950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requêtes couvertes</a:t>
            </a:r>
            <a:endParaRPr lang="en-US" sz="1250" dirty="0"/>
          </a:p>
        </p:txBody>
      </p:sp>
      <p:sp>
        <p:nvSpPr>
          <p:cNvPr id="9" name="Text 7"/>
          <p:cNvSpPr/>
          <p:nvPr/>
        </p:nvSpPr>
        <p:spPr>
          <a:xfrm>
            <a:off x="6035040" y="2103120"/>
            <a:ext cx="2651760" cy="777240"/>
          </a:xfrm>
          <a:prstGeom prst="rect">
            <a:avLst/>
          </a:prstGeom>
          <a:noFill/>
          <a:ln/>
        </p:spPr>
        <p:txBody>
          <a:bodyPr wrap="square" lIns="0" tIns="0" rIns="0" bIns="0" rtlCol="0" anchor="ctr"/>
          <a:lstStyle/>
          <a:p>
            <a:pPr marL="0" indent="0" algn="ctr">
              <a:buNone/>
            </a:pPr>
            <a:r>
              <a:rPr lang="en-US" sz="4600" b="1" dirty="0">
                <a:solidFill>
                  <a:srgbClr val="7EE787"/>
                </a:solidFill>
                <a:latin typeface="Consolas" pitchFamily="34" charset="0"/>
                <a:ea typeface="Consolas" pitchFamily="34" charset="-122"/>
                <a:cs typeface="Consolas" pitchFamily="34" charset="-120"/>
              </a:rPr>
              <a:t>6</a:t>
            </a:r>
            <a:endParaRPr lang="en-US" sz="4600" dirty="0"/>
          </a:p>
        </p:txBody>
      </p:sp>
      <p:sp>
        <p:nvSpPr>
          <p:cNvPr id="10" name="Text 8"/>
          <p:cNvSpPr/>
          <p:nvPr/>
        </p:nvSpPr>
        <p:spPr>
          <a:xfrm>
            <a:off x="6035040" y="288950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tables reliées</a:t>
            </a:r>
            <a:endParaRPr lang="en-US" sz="1250" dirty="0"/>
          </a:p>
        </p:txBody>
      </p:sp>
      <p:sp>
        <p:nvSpPr>
          <p:cNvPr id="11" name="Shape 9"/>
          <p:cNvSpPr/>
          <p:nvPr/>
        </p:nvSpPr>
        <p:spPr>
          <a:xfrm>
            <a:off x="548640" y="3520440"/>
            <a:ext cx="11064240" cy="2880360"/>
          </a:xfrm>
          <a:prstGeom prst="roundRect">
            <a:avLst>
              <a:gd name="adj" fmla="val 1905"/>
            </a:avLst>
          </a:prstGeom>
          <a:solidFill>
            <a:srgbClr val="10151C"/>
          </a:solidFill>
          <a:ln w="12700">
            <a:solidFill>
              <a:srgbClr val="30363D"/>
            </a:solidFill>
            <a:prstDash val="solid"/>
          </a:ln>
          <a:effectLst>
            <a:outerShdw blurRad="101600" dist="38100" dir="5400000" algn="bl" rotWithShape="0">
              <a:srgbClr val="000000">
                <a:alpha val="45000"/>
              </a:srgbClr>
            </a:outerShdw>
          </a:effectLst>
        </p:spPr>
      </p:sp>
      <p:sp>
        <p:nvSpPr>
          <p:cNvPr id="12" name="Text 10"/>
          <p:cNvSpPr/>
          <p:nvPr/>
        </p:nvSpPr>
        <p:spPr>
          <a:xfrm>
            <a:off x="777240" y="3685032"/>
            <a:ext cx="10652760" cy="2560320"/>
          </a:xfrm>
          <a:prstGeom prst="rect">
            <a:avLst/>
          </a:prstGeom>
          <a:noFill/>
          <a:ln/>
        </p:spPr>
        <p:txBody>
          <a:bodyPr wrap="square" lIns="0" tIns="0" rIns="0" bIns="0" rtlCol="0" anchor="t"/>
          <a:lstStyle/>
          <a:p>
            <a:pPr marL="0" indent="0">
              <a:lnSpc>
                <a:spcPct val="118000"/>
              </a:lnSpc>
              <a:buNone/>
            </a:pPr>
            <a:r>
              <a:rPr lang="en-US" sz="1400" dirty="0">
                <a:solidFill>
                  <a:srgbClr val="7EE787"/>
                </a:solidFill>
                <a:latin typeface="Consolas" pitchFamily="34" charset="0"/>
                <a:ea typeface="Consolas" pitchFamily="34" charset="-122"/>
                <a:cs typeface="Consolas" pitchFamily="34" charset="-120"/>
              </a:rPr>
              <a:t>&gt; dotnet run</a:t>
            </a:r>
            <a:endParaRPr lang="en-US" sz="1400" dirty="0"/>
          </a:p>
          <a:p>
            <a:pPr marL="0" indent="0">
              <a:lnSpc>
                <a:spcPct val="118000"/>
              </a:lnSpc>
              <a:buNone/>
            </a:pPr>
            <a:r>
              <a:rPr lang="en-US" sz="1400" dirty="0">
                <a:solidFill>
                  <a:srgbClr val="E6EDF3"/>
                </a:solidFill>
                <a:latin typeface="Consolas" pitchFamily="34" charset="0"/>
                <a:ea typeface="Consolas" pitchFamily="34" charset="-122"/>
                <a:cs typeface="Consolas" pitchFamily="34" charset="-120"/>
              </a:rPr>
              <a:t>En cours (tous les produits)          : </a:t>
            </a:r>
            <a:r>
              <a:rPr lang="en-US" sz="1400" dirty="0">
                <a:solidFill>
                  <a:srgbClr val="E3B341"/>
                </a:solidFill>
                <a:latin typeface="Consolas" pitchFamily="34" charset="0"/>
                <a:ea typeface="Consolas" pitchFamily="34" charset="-122"/>
                <a:cs typeface="Consolas" pitchFamily="34" charset="-120"/>
              </a:rPr>
              <a:t>11 tickets</a:t>
            </a:r>
            <a:endParaRPr lang="en-US" sz="1400" dirty="0"/>
          </a:p>
          <a:p>
            <a:pPr marL="0" indent="0">
              <a:lnSpc>
                <a:spcPct val="118000"/>
              </a:lnSpc>
              <a:buNone/>
            </a:pPr>
            <a:r>
              <a:rPr lang="en-US" sz="1400" dirty="0">
                <a:solidFill>
                  <a:srgbClr val="E6EDF3"/>
                </a:solidFill>
                <a:latin typeface="Consolas" pitchFamily="34" charset="0"/>
                <a:ea typeface="Consolas" pitchFamily="34" charset="-122"/>
                <a:cs typeface="Consolas" pitchFamily="34" charset="-120"/>
              </a:rPr>
              <a:t>Résolus, Trader en Herbe, version 1.2 : </a:t>
            </a:r>
            <a:r>
              <a:rPr lang="en-US" sz="1400" dirty="0">
                <a:solidFill>
                  <a:srgbClr val="E3B341"/>
                </a:solidFill>
                <a:latin typeface="Consolas" pitchFamily="34" charset="0"/>
                <a:ea typeface="Consolas" pitchFamily="34" charset="-122"/>
                <a:cs typeface="Consolas" pitchFamily="34" charset="-120"/>
              </a:rPr>
              <a:t> 2 tickets</a:t>
            </a:r>
            <a:endParaRPr lang="en-US" sz="1400" dirty="0"/>
          </a:p>
          <a:p>
            <a:pPr marL="0" indent="0">
              <a:lnSpc>
                <a:spcPct val="118000"/>
              </a:lnSpc>
              <a:buNone/>
            </a:pPr>
            <a:r>
              <a:rPr lang="en-US" sz="1400" dirty="0">
                <a:solidFill>
                  <a:srgbClr val="E6EDF3"/>
                </a:solidFill>
                <a:latin typeface="Consolas" pitchFamily="34" charset="0"/>
                <a:ea typeface="Consolas" pitchFamily="34" charset="-122"/>
                <a:cs typeface="Consolas" pitchFamily="34" charset="-120"/>
              </a:rPr>
              <a:t>Contenant le mot-clé </a:t>
            </a:r>
            <a:r>
              <a:rPr lang="en-US" sz="1400" dirty="0">
                <a:solidFill>
                  <a:srgbClr val="79C0FF"/>
                </a:solidFill>
                <a:latin typeface="Consolas" pitchFamily="34" charset="0"/>
                <a:ea typeface="Consolas" pitchFamily="34" charset="-122"/>
                <a:cs typeface="Consolas" pitchFamily="34" charset="-120"/>
              </a:rPr>
              <a:t>"batterie"</a:t>
            </a:r>
            <a:r>
              <a:rPr lang="en-US" sz="1400" dirty="0">
                <a:solidFill>
                  <a:srgbClr val="E3B341"/>
                </a:solidFill>
                <a:latin typeface="Consolas" pitchFamily="34" charset="0"/>
                <a:ea typeface="Consolas" pitchFamily="34" charset="-122"/>
                <a:cs typeface="Consolas" pitchFamily="34" charset="-120"/>
              </a:rPr>
              <a:t>          :  1 ticket</a:t>
            </a:r>
            <a:endParaRPr lang="en-US" sz="1400" dirty="0"/>
          </a:p>
          <a:p>
            <a:pPr marL="0" indent="0">
              <a:lnSpc>
                <a:spcPct val="118000"/>
              </a:lnSpc>
              <a:buNone/>
            </a:pPr>
            <a:r>
              <a:rPr lang="en-US" sz="1400" dirty="0">
                <a:solidFill>
                  <a:srgbClr val="E6EDF3"/>
                </a:solidFill>
                <a:latin typeface="Consolas" pitchFamily="34" charset="0"/>
                <a:ea typeface="Consolas" pitchFamily="34" charset="-122"/>
                <a:cs typeface="Consolas" pitchFamily="34" charset="-120"/>
              </a:rPr>
              <a:t>Rencontrés en juin 2026               : </a:t>
            </a:r>
            <a:r>
              <a:rPr lang="en-US" sz="1400" dirty="0">
                <a:solidFill>
                  <a:srgbClr val="E3B341"/>
                </a:solidFill>
                <a:latin typeface="Consolas" pitchFamily="34" charset="0"/>
                <a:ea typeface="Consolas" pitchFamily="34" charset="-122"/>
                <a:cs typeface="Consolas" pitchFamily="34" charset="-120"/>
              </a:rPr>
              <a:t> 5 tickets</a:t>
            </a:r>
            <a:endParaRPr lang="en-US" sz="1400" dirty="0"/>
          </a:p>
          <a:p>
            <a:pPr marL="0" indent="0">
              <a:lnSpc>
                <a:spcPct val="118000"/>
              </a:lnSpc>
              <a:buNone/>
            </a:pPr>
            <a:r>
              <a:rPr lang="en-US" sz="1400" dirty="0">
                <a:solidFill>
                  <a:srgbClr val="8B949E"/>
                </a:solidFill>
                <a:latin typeface="Consolas" pitchFamily="34" charset="0"/>
                <a:ea typeface="Consolas" pitchFamily="34" charset="-122"/>
                <a:cs typeface="Consolas" pitchFamily="34" charset="-120"/>
              </a:rPr>
              <a:t>...  les 20 demandes répondent, résultats justes.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conception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 modèle entité-association</a:t>
            </a:r>
            <a:endParaRPr lang="en-US" sz="2600" dirty="0"/>
          </a:p>
        </p:txBody>
      </p:sp>
      <p:sp>
        <p:nvSpPr>
          <p:cNvPr id="4" name="Shape 2"/>
          <p:cNvSpPr/>
          <p:nvPr/>
        </p:nvSpPr>
        <p:spPr>
          <a:xfrm>
            <a:off x="603504" y="2148840"/>
            <a:ext cx="10972800" cy="4206240"/>
          </a:xfrm>
          <a:prstGeom prst="roundRect">
            <a:avLst>
              <a:gd name="adj" fmla="val 1304"/>
            </a:avLst>
          </a:prstGeom>
          <a:solidFill>
            <a:srgbClr val="FFFFFF"/>
          </a:solidFill>
          <a:ln w="12700">
            <a:solidFill>
              <a:srgbClr val="30363D"/>
            </a:solidFill>
            <a:prstDash val="solid"/>
          </a:ln>
          <a:effectLst>
            <a:outerShdw blurRad="101600" dist="38100" dir="5400000" algn="bl" rotWithShape="0">
              <a:srgbClr val="000000">
                <a:alpha val="45000"/>
              </a:srgbClr>
            </a:outerShdw>
          </a:effectLst>
        </p:spPr>
      </p:sp>
      <p:pic>
        <p:nvPicPr>
          <p:cNvPr id="5" name="Image 0" descr="schema_crop.png"/>
          <p:cNvPicPr>
            <a:picLocks noChangeAspect="1"/>
          </p:cNvPicPr>
          <p:nvPr/>
        </p:nvPicPr>
        <p:blipFill>
          <a:blip r:embed="rId3"/>
          <a:stretch>
            <a:fillRect/>
          </a:stretch>
        </p:blipFill>
        <p:spPr>
          <a:xfrm>
            <a:off x="868680" y="2514600"/>
            <a:ext cx="10424160" cy="3474720"/>
          </a:xfrm>
          <a:prstGeom prst="rect">
            <a:avLst/>
          </a:prstGeom>
        </p:spPr>
      </p:pic>
      <p:sp>
        <p:nvSpPr>
          <p:cNvPr id="6" name="Text 3"/>
          <p:cNvSpPr/>
          <p:nvPr/>
        </p:nvSpPr>
        <p:spPr>
          <a:xfrm>
            <a:off x="548640" y="6400800"/>
            <a:ext cx="11064240" cy="365760"/>
          </a:xfrm>
          <a:prstGeom prst="rect">
            <a:avLst/>
          </a:prstGeom>
          <a:noFill/>
          <a:ln/>
        </p:spPr>
        <p:txBody>
          <a:bodyPr wrap="square" lIns="0" tIns="0" rIns="0" bIns="0" rtlCol="0" anchor="ctr"/>
          <a:lstStyle/>
          <a:p>
            <a:pPr marL="0" indent="0" algn="ctr">
              <a:buNone/>
            </a:pPr>
            <a:r>
              <a:rPr lang="en-US" sz="1300" i="1" dirty="0">
                <a:solidFill>
                  <a:srgbClr val="8B949E"/>
                </a:solidFill>
                <a:latin typeface="Calibri" pitchFamily="34" charset="0"/>
                <a:ea typeface="Calibri" pitchFamily="34" charset="-122"/>
                <a:cs typeface="Calibri" pitchFamily="34" charset="-120"/>
              </a:rPr>
              <a:t>Six tables : Produit, Version, OS, Compatibilite, Statut et Ticket, reliées par leurs clés.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conception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Les choix de conception</a:t>
            </a:r>
            <a:endParaRPr lang="en-US" sz="2600" dirty="0"/>
          </a:p>
        </p:txBody>
      </p:sp>
      <p:sp>
        <p:nvSpPr>
          <p:cNvPr id="4" name="Shape 2"/>
          <p:cNvSpPr/>
          <p:nvPr/>
        </p:nvSpPr>
        <p:spPr>
          <a:xfrm>
            <a:off x="640080" y="1938528"/>
            <a:ext cx="128016" cy="128016"/>
          </a:xfrm>
          <a:prstGeom prst="rect">
            <a:avLst/>
          </a:prstGeom>
          <a:solidFill>
            <a:srgbClr val="FF7B72"/>
          </a:solidFill>
          <a:ln/>
        </p:spPr>
      </p:sp>
      <p:sp>
        <p:nvSpPr>
          <p:cNvPr id="5" name="Text 3"/>
          <p:cNvSpPr/>
          <p:nvPr/>
        </p:nvSpPr>
        <p:spPr>
          <a:xfrm>
            <a:off x="932688" y="1828800"/>
            <a:ext cx="51023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3e forme normale  </a:t>
            </a:r>
            <a:r>
              <a:rPr lang="en-US" sz="1450" dirty="0">
                <a:solidFill>
                  <a:srgbClr val="8B949E"/>
                </a:solidFill>
                <a:latin typeface="Calibri" pitchFamily="34" charset="0"/>
                <a:ea typeface="Calibri" pitchFamily="34" charset="-122"/>
                <a:cs typeface="Calibri" pitchFamily="34" charset="-120"/>
              </a:rPr>
              <a:t>le produit d'un ticket n'est pas stocké, il se déduit.</a:t>
            </a:r>
            <a:endParaRPr lang="en-US" sz="1450" dirty="0"/>
          </a:p>
        </p:txBody>
      </p:sp>
      <p:sp>
        <p:nvSpPr>
          <p:cNvPr id="6" name="Shape 4"/>
          <p:cNvSpPr/>
          <p:nvPr/>
        </p:nvSpPr>
        <p:spPr>
          <a:xfrm>
            <a:off x="640080" y="2761488"/>
            <a:ext cx="128016" cy="128016"/>
          </a:xfrm>
          <a:prstGeom prst="rect">
            <a:avLst/>
          </a:prstGeom>
          <a:solidFill>
            <a:srgbClr val="FF7B72"/>
          </a:solidFill>
          <a:ln/>
        </p:spPr>
      </p:sp>
      <p:sp>
        <p:nvSpPr>
          <p:cNvPr id="7" name="Text 5"/>
          <p:cNvSpPr/>
          <p:nvPr/>
        </p:nvSpPr>
        <p:spPr>
          <a:xfrm>
            <a:off x="932688" y="2651760"/>
            <a:ext cx="51023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Table d'association Compatibilite  </a:t>
            </a:r>
            <a:r>
              <a:rPr lang="en-US" sz="1450" dirty="0">
                <a:solidFill>
                  <a:srgbClr val="8B949E"/>
                </a:solidFill>
                <a:latin typeface="Calibri" pitchFamily="34" charset="0"/>
                <a:ea typeface="Calibri" pitchFamily="34" charset="-122"/>
                <a:cs typeface="Calibri" pitchFamily="34" charset="-120"/>
              </a:rPr>
              <a:t>pour le plusieurs-à-plusieurs version / OS.</a:t>
            </a:r>
            <a:endParaRPr lang="en-US" sz="1450" dirty="0"/>
          </a:p>
        </p:txBody>
      </p:sp>
      <p:sp>
        <p:nvSpPr>
          <p:cNvPr id="8" name="Shape 6"/>
          <p:cNvSpPr/>
          <p:nvPr/>
        </p:nvSpPr>
        <p:spPr>
          <a:xfrm>
            <a:off x="640080" y="3584448"/>
            <a:ext cx="128016" cy="128016"/>
          </a:xfrm>
          <a:prstGeom prst="rect">
            <a:avLst/>
          </a:prstGeom>
          <a:solidFill>
            <a:srgbClr val="FF7B72"/>
          </a:solidFill>
          <a:ln/>
        </p:spPr>
      </p:sp>
      <p:sp>
        <p:nvSpPr>
          <p:cNvPr id="9" name="Text 7"/>
          <p:cNvSpPr/>
          <p:nvPr/>
        </p:nvSpPr>
        <p:spPr>
          <a:xfrm>
            <a:off x="932688" y="3474720"/>
            <a:ext cx="51023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Contrainte d'unicité  </a:t>
            </a:r>
            <a:r>
              <a:rPr lang="en-US" sz="1450" dirty="0">
                <a:solidFill>
                  <a:srgbClr val="8B949E"/>
                </a:solidFill>
                <a:latin typeface="Calibri" pitchFamily="34" charset="0"/>
                <a:ea typeface="Calibri" pitchFamily="34" charset="-122"/>
                <a:cs typeface="Calibri" pitchFamily="34" charset="-120"/>
              </a:rPr>
              <a:t>interdit deux fois le même couple version + OS.</a:t>
            </a:r>
            <a:endParaRPr lang="en-US" sz="1450" dirty="0"/>
          </a:p>
        </p:txBody>
      </p:sp>
      <p:sp>
        <p:nvSpPr>
          <p:cNvPr id="10" name="Shape 8"/>
          <p:cNvSpPr/>
          <p:nvPr/>
        </p:nvSpPr>
        <p:spPr>
          <a:xfrm>
            <a:off x="640080" y="4407408"/>
            <a:ext cx="128016" cy="128016"/>
          </a:xfrm>
          <a:prstGeom prst="rect">
            <a:avLst/>
          </a:prstGeom>
          <a:solidFill>
            <a:srgbClr val="FF7B72"/>
          </a:solidFill>
          <a:ln/>
        </p:spPr>
      </p:sp>
      <p:sp>
        <p:nvSpPr>
          <p:cNvPr id="11" name="Text 9"/>
          <p:cNvSpPr/>
          <p:nvPr/>
        </p:nvSpPr>
        <p:spPr>
          <a:xfrm>
            <a:off x="932688" y="4297680"/>
            <a:ext cx="5102352" cy="548640"/>
          </a:xfrm>
          <a:prstGeom prst="rect">
            <a:avLst/>
          </a:prstGeom>
          <a:noFill/>
          <a:ln/>
        </p:spPr>
        <p:txBody>
          <a:bodyPr wrap="square" lIns="0" tIns="0" rIns="0" bIns="0" rtlCol="0" anchor="t"/>
          <a:lstStyle/>
          <a:p>
            <a:pPr marL="0" indent="0">
              <a:buNone/>
            </a:pPr>
            <a:r>
              <a:rPr lang="en-US" sz="1450" b="1">
                <a:solidFill>
                  <a:srgbClr val="E6EDF3"/>
                </a:solidFill>
                <a:latin typeface="Calibri" pitchFamily="34" charset="0"/>
                <a:ea typeface="Calibri" pitchFamily="34" charset="-122"/>
                <a:cs typeface="Calibri" pitchFamily="34" charset="-120"/>
              </a:rPr>
              <a:t>Le ticket pointe vers une compatibilité valide</a:t>
            </a:r>
            <a:r>
              <a:rPr lang="en-US" sz="1450" b="1">
                <a:solidFill>
                  <a:srgbClr val="8B949E"/>
                </a:solidFill>
                <a:latin typeface="Calibri" pitchFamily="34" charset="0"/>
                <a:ea typeface="Calibri" pitchFamily="34" charset="-122"/>
                <a:cs typeface="Calibri" pitchFamily="34" charset="-120"/>
              </a:rPr>
              <a:t>Un couple Version + OS déjà validé, donc jamais incohérent.</a:t>
            </a:r>
            <a:endParaRPr lang="en-US" sz="1450" dirty="0"/>
          </a:p>
        </p:txBody>
      </p:sp>
      <p:sp>
        <p:nvSpPr>
          <p:cNvPr id="12" name="Shape 10"/>
          <p:cNvSpPr/>
          <p:nvPr/>
        </p:nvSpPr>
        <p:spPr>
          <a:xfrm>
            <a:off x="640080" y="5230368"/>
            <a:ext cx="128016" cy="128016"/>
          </a:xfrm>
          <a:prstGeom prst="rect">
            <a:avLst/>
          </a:prstGeom>
          <a:solidFill>
            <a:srgbClr val="FF7B72"/>
          </a:solidFill>
          <a:ln/>
        </p:spPr>
      </p:sp>
      <p:sp>
        <p:nvSpPr>
          <p:cNvPr id="13" name="Text 11"/>
          <p:cNvSpPr/>
          <p:nvPr/>
        </p:nvSpPr>
        <p:spPr>
          <a:xfrm>
            <a:off x="932688" y="5120640"/>
            <a:ext cx="5102352" cy="548640"/>
          </a:xfrm>
          <a:prstGeom prst="rect">
            <a:avLst/>
          </a:prstGeom>
          <a:noFill/>
          <a:ln/>
        </p:spPr>
        <p:txBody>
          <a:bodyPr wrap="square" lIns="0" tIns="0" rIns="0" bIns="0" rtlCol="0" anchor="t"/>
          <a:lstStyle/>
          <a:p>
            <a:pPr marL="0" indent="0">
              <a:buNone/>
            </a:pPr>
            <a:r>
              <a:rPr lang="en-US" sz="1450" b="1">
                <a:solidFill>
                  <a:srgbClr val="E6EDF3"/>
                </a:solidFill>
                <a:latin typeface="Calibri" pitchFamily="34" charset="0"/>
                <a:ea typeface="Calibri" pitchFamily="34" charset="-122"/>
                <a:cs typeface="Calibri" pitchFamily="34" charset="-120"/>
              </a:rPr>
              <a:t>Numéro de Version en </a:t>
            </a:r>
            <a:r>
              <a:rPr lang="en-US" sz="1450" b="1" dirty="0">
                <a:solidFill>
                  <a:srgbClr val="E6EDF3"/>
                </a:solidFill>
                <a:latin typeface="Calibri" pitchFamily="34" charset="0"/>
                <a:ea typeface="Calibri" pitchFamily="34" charset="-122"/>
                <a:cs typeface="Calibri" pitchFamily="34" charset="-120"/>
              </a:rPr>
              <a:t>texte  </a:t>
            </a:r>
            <a:r>
              <a:rPr lang="en-US" sz="1450" dirty="0">
                <a:solidFill>
                  <a:srgbClr val="8B949E"/>
                </a:solidFill>
                <a:latin typeface="Calibri" pitchFamily="34" charset="0"/>
                <a:ea typeface="Calibri" pitchFamily="34" charset="-122"/>
                <a:cs typeface="Calibri" pitchFamily="34" charset="-120"/>
              </a:rPr>
              <a:t>« 1.2 » est une étiquette, pas un nombre.</a:t>
            </a:r>
            <a:endParaRPr lang="en-US" sz="1450" dirty="0"/>
          </a:p>
        </p:txBody>
      </p:sp>
      <p:sp>
        <p:nvSpPr>
          <p:cNvPr id="14" name="Shape 12"/>
          <p:cNvSpPr/>
          <p:nvPr/>
        </p:nvSpPr>
        <p:spPr>
          <a:xfrm>
            <a:off x="6400800" y="1828800"/>
            <a:ext cx="5212080" cy="4114800"/>
          </a:xfrm>
          <a:prstGeom prst="roundRect">
            <a:avLst>
              <a:gd name="adj" fmla="val 1333"/>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5" name="Text 13"/>
          <p:cNvSpPr/>
          <p:nvPr/>
        </p:nvSpPr>
        <p:spPr>
          <a:xfrm>
            <a:off x="6720840" y="2057400"/>
            <a:ext cx="4572000" cy="365760"/>
          </a:xfrm>
          <a:prstGeom prst="rect">
            <a:avLst/>
          </a:prstGeom>
          <a:noFill/>
          <a:ln/>
        </p:spPr>
        <p:txBody>
          <a:bodyPr wrap="square" lIns="0" tIns="0" rIns="0" bIns="0" rtlCol="0" anchor="ctr"/>
          <a:lstStyle/>
          <a:p>
            <a:pPr marL="0" indent="0">
              <a:buNone/>
            </a:pPr>
            <a:r>
              <a:rPr lang="en-US" sz="1400" dirty="0">
                <a:solidFill>
                  <a:srgbClr val="7EE787"/>
                </a:solidFill>
                <a:latin typeface="Consolas" pitchFamily="34" charset="0"/>
                <a:ea typeface="Consolas" pitchFamily="34" charset="-122"/>
                <a:cs typeface="Consolas" pitchFamily="34" charset="-120"/>
              </a:rPr>
              <a:t>// à retenir</a:t>
            </a:r>
            <a:endParaRPr lang="en-US" sz="1400" dirty="0"/>
          </a:p>
        </p:txBody>
      </p:sp>
      <p:sp>
        <p:nvSpPr>
          <p:cNvPr id="16" name="Text 14"/>
          <p:cNvSpPr/>
          <p:nvPr/>
        </p:nvSpPr>
        <p:spPr>
          <a:xfrm>
            <a:off x="6720840" y="2606040"/>
            <a:ext cx="4572000" cy="3108960"/>
          </a:xfrm>
          <a:prstGeom prst="rect">
            <a:avLst/>
          </a:prstGeom>
          <a:noFill/>
          <a:ln/>
        </p:spPr>
        <p:txBody>
          <a:bodyPr wrap="square" lIns="0" tIns="0" rIns="0" bIns="0" rtlCol="0" anchor="t"/>
          <a:lstStyle/>
          <a:p>
            <a:pPr marL="0" indent="0">
              <a:lnSpc>
                <a:spcPct val="115000"/>
              </a:lnSpc>
              <a:buNone/>
            </a:pPr>
            <a:r>
              <a:rPr lang="en-US" sz="1450" b="1" dirty="0">
                <a:solidFill>
                  <a:srgbClr val="E6EDF3"/>
                </a:solidFill>
                <a:latin typeface="Calibri" pitchFamily="34" charset="0"/>
                <a:ea typeface="Calibri" pitchFamily="34" charset="-122"/>
                <a:cs typeface="Calibri" pitchFamily="34" charset="-120"/>
              </a:rPr>
              <a:t>La 3e forme normale </a:t>
            </a:r>
            <a:r>
              <a:rPr lang="en-US" sz="1450" dirty="0">
                <a:solidFill>
                  <a:srgbClr val="8B949E"/>
                </a:solidFill>
                <a:latin typeface="Calibri" pitchFamily="34" charset="0"/>
                <a:ea typeface="Calibri" pitchFamily="34" charset="-122"/>
                <a:cs typeface="Calibri" pitchFamily="34" charset="-120"/>
              </a:rPr>
              <a:t>évite de stocker deux fois la même information : chaque donnée vit à un seul endroit.
</a:t>
            </a:r>
            <a:r>
              <a:rPr lang="en-US" sz="1450" b="1" dirty="0">
                <a:solidFill>
                  <a:srgbClr val="E6EDF3"/>
                </a:solidFill>
                <a:latin typeface="Calibri" pitchFamily="34" charset="0"/>
                <a:ea typeface="Calibri" pitchFamily="34" charset="-122"/>
                <a:cs typeface="Calibri" pitchFamily="34" charset="-120"/>
              </a:rPr>
              <a:t>Les contraintes </a:t>
            </a:r>
            <a:r>
              <a:rPr lang="en-US" sz="1450" dirty="0">
                <a:solidFill>
                  <a:srgbClr val="8B949E"/>
                </a:solidFill>
                <a:latin typeface="Calibri" pitchFamily="34" charset="0"/>
                <a:ea typeface="Calibri" pitchFamily="34" charset="-122"/>
                <a:cs typeface="Calibri" pitchFamily="34" charset="-120"/>
              </a:rPr>
              <a:t>(clé étrangère, unicité) font que la base </a:t>
            </a:r>
            <a:r>
              <a:rPr lang="en-US" sz="1450" b="1" dirty="0">
                <a:solidFill>
                  <a:srgbClr val="FF7B72"/>
                </a:solidFill>
                <a:latin typeface="Calibri" pitchFamily="34" charset="0"/>
                <a:ea typeface="Calibri" pitchFamily="34" charset="-122"/>
                <a:cs typeface="Calibri" pitchFamily="34" charset="-120"/>
              </a:rPr>
              <a:t>refuse elle-même les incohérences</a:t>
            </a:r>
            <a:r>
              <a:rPr lang="en-US" sz="1450" dirty="0">
                <a:solidFill>
                  <a:srgbClr val="8B949E"/>
                </a:solidFill>
                <a:latin typeface="Calibri" pitchFamily="34" charset="0"/>
                <a:ea typeface="Calibri" pitchFamily="34" charset="-122"/>
                <a:cs typeface="Calibri" pitchFamily="34" charset="-120"/>
              </a:rPr>
              <a:t>, sans compter sur le code.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Les 25 tickets d'exemple</a:t>
            </a:r>
            <a:endParaRPr lang="en-US" sz="2600" dirty="0"/>
          </a:p>
        </p:txBody>
      </p:sp>
      <p:sp>
        <p:nvSpPr>
          <p:cNvPr id="4" name="Text 2"/>
          <p:cNvSpPr/>
          <p:nvPr/>
        </p:nvSpPr>
        <p:spPr>
          <a:xfrm>
            <a:off x="548640" y="1645920"/>
            <a:ext cx="10972800" cy="365760"/>
          </a:xfrm>
          <a:prstGeom prst="rect">
            <a:avLst/>
          </a:prstGeom>
          <a:noFill/>
          <a:ln/>
        </p:spPr>
        <p:txBody>
          <a:bodyPr wrap="square" lIns="0" tIns="0" rIns="0" bIns="0" rtlCol="0" anchor="ctr"/>
          <a:lstStyle/>
          <a:p>
            <a:pPr marL="0" indent="0">
              <a:buNone/>
            </a:pPr>
            <a:r>
              <a:rPr lang="en-US" sz="1500" i="1" dirty="0">
                <a:solidFill>
                  <a:srgbClr val="8B949E"/>
                </a:solidFill>
                <a:latin typeface="Calibri" pitchFamily="34" charset="0"/>
                <a:ea typeface="Calibri" pitchFamily="34" charset="-122"/>
                <a:cs typeface="Calibri" pitchFamily="34" charset="-120"/>
              </a:rPr>
              <a:t>Des problèmes réalistes, couvrant largement produits, versions et OS.</a:t>
            </a:r>
            <a:endParaRPr lang="en-US" sz="1500" dirty="0"/>
          </a:p>
        </p:txBody>
      </p:sp>
      <p:sp>
        <p:nvSpPr>
          <p:cNvPr id="5" name="Text 3"/>
          <p:cNvSpPr/>
          <p:nvPr/>
        </p:nvSpPr>
        <p:spPr>
          <a:xfrm>
            <a:off x="548640" y="2240280"/>
            <a:ext cx="2651760" cy="777240"/>
          </a:xfrm>
          <a:prstGeom prst="rect">
            <a:avLst/>
          </a:prstGeom>
          <a:noFill/>
          <a:ln/>
        </p:spPr>
        <p:txBody>
          <a:bodyPr wrap="square" lIns="0" tIns="0" rIns="0" bIns="0" rtlCol="0" anchor="ctr"/>
          <a:lstStyle/>
          <a:p>
            <a:pPr marL="0" indent="0" algn="ctr">
              <a:buNone/>
            </a:pPr>
            <a:r>
              <a:rPr lang="en-US" sz="4600" b="1" dirty="0">
                <a:solidFill>
                  <a:srgbClr val="FF7B72"/>
                </a:solidFill>
                <a:latin typeface="Consolas" pitchFamily="34" charset="0"/>
                <a:ea typeface="Consolas" pitchFamily="34" charset="-122"/>
                <a:cs typeface="Consolas" pitchFamily="34" charset="-120"/>
              </a:rPr>
              <a:t>4</a:t>
            </a:r>
            <a:endParaRPr lang="en-US" sz="4600" dirty="0"/>
          </a:p>
        </p:txBody>
      </p:sp>
      <p:sp>
        <p:nvSpPr>
          <p:cNvPr id="6" name="Text 4"/>
          <p:cNvSpPr/>
          <p:nvPr/>
        </p:nvSpPr>
        <p:spPr>
          <a:xfrm>
            <a:off x="548640" y="302666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produits</a:t>
            </a:r>
            <a:endParaRPr lang="en-US" sz="1250" dirty="0"/>
          </a:p>
        </p:txBody>
      </p:sp>
      <p:sp>
        <p:nvSpPr>
          <p:cNvPr id="7" name="Text 5"/>
          <p:cNvSpPr/>
          <p:nvPr/>
        </p:nvSpPr>
        <p:spPr>
          <a:xfrm>
            <a:off x="3291840" y="2240280"/>
            <a:ext cx="2651760" cy="777240"/>
          </a:xfrm>
          <a:prstGeom prst="rect">
            <a:avLst/>
          </a:prstGeom>
          <a:noFill/>
          <a:ln/>
        </p:spPr>
        <p:txBody>
          <a:bodyPr wrap="square" lIns="0" tIns="0" rIns="0" bIns="0" rtlCol="0" anchor="ctr"/>
          <a:lstStyle/>
          <a:p>
            <a:pPr marL="0" indent="0" algn="ctr">
              <a:buNone/>
            </a:pPr>
            <a:r>
              <a:rPr lang="en-US" sz="4600" b="1" dirty="0">
                <a:solidFill>
                  <a:srgbClr val="79C0FF"/>
                </a:solidFill>
                <a:latin typeface="Consolas" pitchFamily="34" charset="0"/>
                <a:ea typeface="Consolas" pitchFamily="34" charset="-122"/>
                <a:cs typeface="Consolas" pitchFamily="34" charset="-120"/>
              </a:rPr>
              <a:t>12</a:t>
            </a:r>
            <a:endParaRPr lang="en-US" sz="4600" dirty="0"/>
          </a:p>
        </p:txBody>
      </p:sp>
      <p:sp>
        <p:nvSpPr>
          <p:cNvPr id="8" name="Text 6"/>
          <p:cNvSpPr/>
          <p:nvPr/>
        </p:nvSpPr>
        <p:spPr>
          <a:xfrm>
            <a:off x="3291840" y="302666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versions</a:t>
            </a:r>
            <a:endParaRPr lang="en-US" sz="1250" dirty="0"/>
          </a:p>
        </p:txBody>
      </p:sp>
      <p:sp>
        <p:nvSpPr>
          <p:cNvPr id="9" name="Text 7"/>
          <p:cNvSpPr/>
          <p:nvPr/>
        </p:nvSpPr>
        <p:spPr>
          <a:xfrm>
            <a:off x="6035040" y="2240280"/>
            <a:ext cx="2651760" cy="777240"/>
          </a:xfrm>
          <a:prstGeom prst="rect">
            <a:avLst/>
          </a:prstGeom>
          <a:noFill/>
          <a:ln/>
        </p:spPr>
        <p:txBody>
          <a:bodyPr wrap="square" lIns="0" tIns="0" rIns="0" bIns="0" rtlCol="0" anchor="ctr"/>
          <a:lstStyle/>
          <a:p>
            <a:pPr marL="0" indent="0" algn="ctr">
              <a:buNone/>
            </a:pPr>
            <a:r>
              <a:rPr lang="en-US" sz="4600" b="1" dirty="0">
                <a:solidFill>
                  <a:srgbClr val="D2A8FF"/>
                </a:solidFill>
                <a:latin typeface="Consolas" pitchFamily="34" charset="0"/>
                <a:ea typeface="Consolas" pitchFamily="34" charset="-122"/>
                <a:cs typeface="Consolas" pitchFamily="34" charset="-120"/>
              </a:rPr>
              <a:t>6</a:t>
            </a:r>
            <a:endParaRPr lang="en-US" sz="4600" dirty="0"/>
          </a:p>
        </p:txBody>
      </p:sp>
      <p:sp>
        <p:nvSpPr>
          <p:cNvPr id="10" name="Text 8"/>
          <p:cNvSpPr/>
          <p:nvPr/>
        </p:nvSpPr>
        <p:spPr>
          <a:xfrm>
            <a:off x="6035040" y="302666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systèmes d'OS</a:t>
            </a:r>
            <a:endParaRPr lang="en-US" sz="1250" dirty="0"/>
          </a:p>
        </p:txBody>
      </p:sp>
      <p:sp>
        <p:nvSpPr>
          <p:cNvPr id="11" name="Text 9"/>
          <p:cNvSpPr/>
          <p:nvPr/>
        </p:nvSpPr>
        <p:spPr>
          <a:xfrm>
            <a:off x="8778240" y="2240280"/>
            <a:ext cx="2834640" cy="777240"/>
          </a:xfrm>
          <a:prstGeom prst="rect">
            <a:avLst/>
          </a:prstGeom>
          <a:noFill/>
          <a:ln/>
        </p:spPr>
        <p:txBody>
          <a:bodyPr wrap="square" lIns="0" tIns="0" rIns="0" bIns="0" rtlCol="0" anchor="ctr"/>
          <a:lstStyle/>
          <a:p>
            <a:pPr marL="0" indent="0" algn="ctr">
              <a:buNone/>
            </a:pPr>
            <a:r>
              <a:rPr lang="en-US" sz="4600" b="1" dirty="0">
                <a:solidFill>
                  <a:srgbClr val="E3B341"/>
                </a:solidFill>
                <a:latin typeface="Consolas" pitchFamily="34" charset="0"/>
                <a:ea typeface="Consolas" pitchFamily="34" charset="-122"/>
                <a:cs typeface="Consolas" pitchFamily="34" charset="-120"/>
              </a:rPr>
              <a:t>25</a:t>
            </a:r>
            <a:endParaRPr lang="en-US" sz="4600" dirty="0"/>
          </a:p>
        </p:txBody>
      </p:sp>
      <p:sp>
        <p:nvSpPr>
          <p:cNvPr id="12" name="Text 10"/>
          <p:cNvSpPr/>
          <p:nvPr/>
        </p:nvSpPr>
        <p:spPr>
          <a:xfrm>
            <a:off x="8778240" y="3026664"/>
            <a:ext cx="283464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tickets</a:t>
            </a:r>
            <a:endParaRPr lang="en-US" sz="1250" dirty="0"/>
          </a:p>
        </p:txBody>
      </p:sp>
      <p:sp>
        <p:nvSpPr>
          <p:cNvPr id="13" name="Shape 11"/>
          <p:cNvSpPr/>
          <p:nvPr/>
        </p:nvSpPr>
        <p:spPr>
          <a:xfrm>
            <a:off x="548640" y="3794760"/>
            <a:ext cx="5394960" cy="2240280"/>
          </a:xfrm>
          <a:prstGeom prst="roundRect">
            <a:avLst>
              <a:gd name="adj" fmla="val 244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4" name="Text 12"/>
          <p:cNvSpPr/>
          <p:nvPr/>
        </p:nvSpPr>
        <p:spPr>
          <a:xfrm>
            <a:off x="868680" y="4114800"/>
            <a:ext cx="4572000" cy="502920"/>
          </a:xfrm>
          <a:prstGeom prst="rect">
            <a:avLst/>
          </a:prstGeom>
          <a:noFill/>
          <a:ln/>
        </p:spPr>
        <p:txBody>
          <a:bodyPr wrap="square" lIns="0" tIns="0" rIns="0" bIns="0" rtlCol="0" anchor="ctr"/>
          <a:lstStyle/>
          <a:p>
            <a:pPr marL="0" indent="0">
              <a:buNone/>
            </a:pPr>
            <a:r>
              <a:rPr lang="en-US" sz="2200" b="1" dirty="0">
                <a:solidFill>
                  <a:srgbClr val="7EE787"/>
                </a:solidFill>
                <a:latin typeface="Consolas" pitchFamily="34" charset="0"/>
                <a:ea typeface="Consolas" pitchFamily="34" charset="-122"/>
                <a:cs typeface="Consolas" pitchFamily="34" charset="-120"/>
              </a:rPr>
              <a:t>14 tickets résolus</a:t>
            </a:r>
            <a:endParaRPr lang="en-US" sz="2200" dirty="0"/>
          </a:p>
        </p:txBody>
      </p:sp>
      <p:sp>
        <p:nvSpPr>
          <p:cNvPr id="15" name="Text 13"/>
          <p:cNvSpPr/>
          <p:nvPr/>
        </p:nvSpPr>
        <p:spPr>
          <a:xfrm>
            <a:off x="868680" y="4709160"/>
            <a:ext cx="4572000" cy="45720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avec leur date et leur solution.</a:t>
            </a:r>
            <a:endParaRPr lang="en-US" sz="1400" dirty="0"/>
          </a:p>
        </p:txBody>
      </p:sp>
      <p:sp>
        <p:nvSpPr>
          <p:cNvPr id="16" name="Shape 14"/>
          <p:cNvSpPr/>
          <p:nvPr/>
        </p:nvSpPr>
        <p:spPr>
          <a:xfrm>
            <a:off x="6126480" y="3794760"/>
            <a:ext cx="5486400" cy="2240280"/>
          </a:xfrm>
          <a:prstGeom prst="roundRect">
            <a:avLst>
              <a:gd name="adj" fmla="val 244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7" name="Text 15"/>
          <p:cNvSpPr/>
          <p:nvPr/>
        </p:nvSpPr>
        <p:spPr>
          <a:xfrm>
            <a:off x="6446520" y="4114800"/>
            <a:ext cx="4572000" cy="502920"/>
          </a:xfrm>
          <a:prstGeom prst="rect">
            <a:avLst/>
          </a:prstGeom>
          <a:noFill/>
          <a:ln/>
        </p:spPr>
        <p:txBody>
          <a:bodyPr wrap="square" lIns="0" tIns="0" rIns="0" bIns="0" rtlCol="0" anchor="ctr"/>
          <a:lstStyle/>
          <a:p>
            <a:pPr marL="0" indent="0">
              <a:buNone/>
            </a:pPr>
            <a:r>
              <a:rPr lang="en-US" sz="2200" b="1" dirty="0">
                <a:solidFill>
                  <a:srgbClr val="FF7B72"/>
                </a:solidFill>
                <a:latin typeface="Consolas" pitchFamily="34" charset="0"/>
                <a:ea typeface="Consolas" pitchFamily="34" charset="-122"/>
                <a:cs typeface="Consolas" pitchFamily="34" charset="-120"/>
              </a:rPr>
              <a:t>11 tickets en cours</a:t>
            </a:r>
            <a:endParaRPr lang="en-US" sz="2200" dirty="0"/>
          </a:p>
        </p:txBody>
      </p:sp>
      <p:sp>
        <p:nvSpPr>
          <p:cNvPr id="18" name="Text 16"/>
          <p:cNvSpPr/>
          <p:nvPr/>
        </p:nvSpPr>
        <p:spPr>
          <a:xfrm>
            <a:off x="6446520" y="4709160"/>
            <a:ext cx="4846320" cy="45720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sans date ni solution de résolution.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Deux tickets expliqués</a:t>
            </a:r>
            <a:endParaRPr lang="en-US" sz="2600" dirty="0"/>
          </a:p>
        </p:txBody>
      </p:sp>
      <p:sp>
        <p:nvSpPr>
          <p:cNvPr id="4" name="Shape 2"/>
          <p:cNvSpPr/>
          <p:nvPr/>
        </p:nvSpPr>
        <p:spPr>
          <a:xfrm>
            <a:off x="548640" y="1783080"/>
            <a:ext cx="5486400" cy="4297680"/>
          </a:xfrm>
          <a:prstGeom prst="roundRect">
            <a:avLst>
              <a:gd name="adj" fmla="val 1277"/>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5" name="Text 3"/>
          <p:cNvSpPr/>
          <p:nvPr/>
        </p:nvSpPr>
        <p:spPr>
          <a:xfrm>
            <a:off x="822960" y="2011680"/>
            <a:ext cx="4937760" cy="457200"/>
          </a:xfrm>
          <a:prstGeom prst="rect">
            <a:avLst/>
          </a:prstGeom>
          <a:noFill/>
          <a:ln/>
        </p:spPr>
        <p:txBody>
          <a:bodyPr wrap="square" lIns="0" tIns="0" rIns="0" bIns="0" rtlCol="0" anchor="ctr"/>
          <a:lstStyle/>
          <a:p>
            <a:pPr marL="0" indent="0">
              <a:buNone/>
            </a:pPr>
            <a:r>
              <a:rPr lang="en-US" sz="1500" b="1" dirty="0">
                <a:solidFill>
                  <a:srgbClr val="FF7B72"/>
                </a:solidFill>
                <a:latin typeface="Consolas" pitchFamily="34" charset="0"/>
                <a:ea typeface="Consolas" pitchFamily="34" charset="-122"/>
                <a:cs typeface="Consolas" pitchFamily="34" charset="-120"/>
              </a:rPr>
              <a:t>Ticket 1 — Trader en Herbe 1.0 / Windows</a:t>
            </a:r>
            <a:endParaRPr lang="en-US" sz="1500" dirty="0"/>
          </a:p>
        </p:txBody>
      </p:sp>
      <p:sp>
        <p:nvSpPr>
          <p:cNvPr id="6" name="Text 4"/>
          <p:cNvSpPr/>
          <p:nvPr/>
        </p:nvSpPr>
        <p:spPr>
          <a:xfrm>
            <a:off x="822960" y="2560320"/>
            <a:ext cx="4983480" cy="3291840"/>
          </a:xfrm>
          <a:prstGeom prst="rect">
            <a:avLst/>
          </a:prstGeom>
          <a:noFill/>
          <a:ln/>
        </p:spPr>
        <p:txBody>
          <a:bodyPr wrap="square" lIns="0" tIns="0" rIns="0" bIns="0" rtlCol="0" anchor="t"/>
          <a:lstStyle/>
          <a:p>
            <a:pPr marL="0" indent="0">
              <a:lnSpc>
                <a:spcPct val="115000"/>
              </a:lnSpc>
              <a:buNone/>
            </a:pPr>
            <a:r>
              <a:rPr lang="en-US" sz="1400" b="1" dirty="0">
                <a:solidFill>
                  <a:srgbClr val="E6EDF3"/>
                </a:solidFill>
                <a:latin typeface="Calibri" pitchFamily="34" charset="0"/>
                <a:ea typeface="Calibri" pitchFamily="34" charset="-122"/>
                <a:cs typeface="Calibri" pitchFamily="34" charset="-120"/>
              </a:rPr>
              <a:t>Problème : </a:t>
            </a:r>
            <a:r>
              <a:rPr lang="en-US" sz="1400" dirty="0">
                <a:solidFill>
                  <a:srgbClr val="8B949E"/>
                </a:solidFill>
                <a:latin typeface="Calibri" pitchFamily="34" charset="0"/>
                <a:ea typeface="Calibri" pitchFamily="34" charset="-122"/>
                <a:cs typeface="Calibri" pitchFamily="34" charset="-120"/>
              </a:rPr>
              <a:t>sur un PC en langue française, tous les cours de bourse s'affichent à 0,00.
</a:t>
            </a:r>
            <a:r>
              <a:rPr lang="en-US" sz="1400" b="1" dirty="0">
                <a:solidFill>
                  <a:srgbClr val="7EE787"/>
                </a:solidFill>
                <a:latin typeface="Calibri" pitchFamily="34" charset="0"/>
                <a:ea typeface="Calibri" pitchFamily="34" charset="-122"/>
                <a:cs typeface="Calibri" pitchFamily="34" charset="-120"/>
              </a:rPr>
              <a:t>Solution : </a:t>
            </a:r>
            <a:r>
              <a:rPr lang="en-US" sz="1400" dirty="0">
                <a:solidFill>
                  <a:srgbClr val="8B949E"/>
                </a:solidFill>
                <a:latin typeface="Calibri" pitchFamily="34" charset="0"/>
                <a:ea typeface="Calibri" pitchFamily="34" charset="-122"/>
                <a:cs typeface="Calibri" pitchFamily="34" charset="-120"/>
              </a:rPr>
              <a:t>le programme lisait les prix au format local (virgule) alors que le service renvoie un point décimal. On force un format fixe (InvariantCulture), et les prix se lisent correctement.</a:t>
            </a:r>
            <a:endParaRPr lang="en-US" sz="1400" dirty="0"/>
          </a:p>
        </p:txBody>
      </p:sp>
      <p:sp>
        <p:nvSpPr>
          <p:cNvPr id="7" name="Shape 5"/>
          <p:cNvSpPr/>
          <p:nvPr/>
        </p:nvSpPr>
        <p:spPr>
          <a:xfrm>
            <a:off x="6172200" y="1783080"/>
            <a:ext cx="5440680" cy="4297680"/>
          </a:xfrm>
          <a:prstGeom prst="roundRect">
            <a:avLst>
              <a:gd name="adj" fmla="val 1277"/>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8" name="Text 6"/>
          <p:cNvSpPr/>
          <p:nvPr/>
        </p:nvSpPr>
        <p:spPr>
          <a:xfrm>
            <a:off x="6446520" y="2011680"/>
            <a:ext cx="5029200" cy="457200"/>
          </a:xfrm>
          <a:prstGeom prst="rect">
            <a:avLst/>
          </a:prstGeom>
          <a:noFill/>
          <a:ln/>
        </p:spPr>
        <p:txBody>
          <a:bodyPr wrap="square" lIns="0" tIns="0" rIns="0" bIns="0" rtlCol="0" anchor="ctr"/>
          <a:lstStyle/>
          <a:p>
            <a:pPr marL="0" indent="0">
              <a:buNone/>
            </a:pPr>
            <a:r>
              <a:rPr lang="en-US" sz="1500" b="1" dirty="0">
                <a:solidFill>
                  <a:srgbClr val="FF7B72"/>
                </a:solidFill>
                <a:latin typeface="Consolas" pitchFamily="34" charset="0"/>
                <a:ea typeface="Consolas" pitchFamily="34" charset="-122"/>
                <a:cs typeface="Consolas" pitchFamily="34" charset="-120"/>
              </a:rPr>
              <a:t>Ticket 6 — Trader en Herbe 1.2 / Windows Mobile</a:t>
            </a:r>
            <a:endParaRPr lang="en-US" sz="1500" dirty="0"/>
          </a:p>
        </p:txBody>
      </p:sp>
      <p:sp>
        <p:nvSpPr>
          <p:cNvPr id="9" name="Text 7"/>
          <p:cNvSpPr/>
          <p:nvPr/>
        </p:nvSpPr>
        <p:spPr>
          <a:xfrm>
            <a:off x="6446520" y="2560320"/>
            <a:ext cx="4937760" cy="3291840"/>
          </a:xfrm>
          <a:prstGeom prst="rect">
            <a:avLst/>
          </a:prstGeom>
          <a:noFill/>
          <a:ln/>
        </p:spPr>
        <p:txBody>
          <a:bodyPr wrap="square" lIns="0" tIns="0" rIns="0" bIns="0" rtlCol="0" anchor="t"/>
          <a:lstStyle/>
          <a:p>
            <a:pPr marL="0" indent="0">
              <a:lnSpc>
                <a:spcPct val="115000"/>
              </a:lnSpc>
              <a:buNone/>
            </a:pPr>
            <a:r>
              <a:rPr lang="en-US" sz="1400" b="1" dirty="0">
                <a:solidFill>
                  <a:srgbClr val="E6EDF3"/>
                </a:solidFill>
                <a:latin typeface="Calibri" pitchFamily="34" charset="0"/>
                <a:ea typeface="Calibri" pitchFamily="34" charset="-122"/>
                <a:cs typeface="Calibri" pitchFamily="34" charset="-120"/>
              </a:rPr>
              <a:t>Problème : </a:t>
            </a:r>
            <a:r>
              <a:rPr lang="en-US" sz="1400" dirty="0">
                <a:solidFill>
                  <a:srgbClr val="8B949E"/>
                </a:solidFill>
                <a:latin typeface="Calibri" pitchFamily="34" charset="0"/>
                <a:ea typeface="Calibri" pitchFamily="34" charset="-122"/>
                <a:cs typeface="Calibri" pitchFamily="34" charset="-120"/>
              </a:rPr>
              <a:t>après une vente, le solde du portefeuille ne se met pas à jour à l'écran.
</a:t>
            </a:r>
            <a:r>
              <a:rPr lang="en-US" sz="1400" b="1" dirty="0">
                <a:solidFill>
                  <a:srgbClr val="7EE787"/>
                </a:solidFill>
                <a:latin typeface="Calibri" pitchFamily="34" charset="0"/>
                <a:ea typeface="Calibri" pitchFamily="34" charset="-122"/>
                <a:cs typeface="Calibri" pitchFamily="34" charset="-120"/>
              </a:rPr>
              <a:t>Solution : </a:t>
            </a:r>
            <a:r>
              <a:rPr lang="en-US" sz="1400" dirty="0">
                <a:solidFill>
                  <a:srgbClr val="8B949E"/>
                </a:solidFill>
                <a:latin typeface="Calibri" pitchFamily="34" charset="0"/>
                <a:ea typeface="Calibri" pitchFamily="34" charset="-122"/>
                <a:cs typeface="Calibri" pitchFamily="34" charset="-120"/>
              </a:rPr>
              <a:t>la donnée changeait en mémoire mais l'écran n'était pas prévenu. On ajoute la notification de changement (INotifyPropertyChanged) et l'affichage se met à jour tout seul.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création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La création : Code-First (Entity Framework Core)</a:t>
            </a:r>
            <a:endParaRPr lang="en-US" sz="2600" dirty="0"/>
          </a:p>
        </p:txBody>
      </p:sp>
      <p:sp>
        <p:nvSpPr>
          <p:cNvPr id="4" name="Shape 2"/>
          <p:cNvSpPr/>
          <p:nvPr/>
        </p:nvSpPr>
        <p:spPr>
          <a:xfrm>
            <a:off x="640080" y="1892808"/>
            <a:ext cx="128016" cy="128016"/>
          </a:xfrm>
          <a:prstGeom prst="rect">
            <a:avLst/>
          </a:prstGeom>
          <a:solidFill>
            <a:srgbClr val="FF7B72"/>
          </a:solidFill>
          <a:ln/>
        </p:spPr>
      </p:sp>
      <p:sp>
        <p:nvSpPr>
          <p:cNvPr id="5" name="Text 3"/>
          <p:cNvSpPr/>
          <p:nvPr/>
        </p:nvSpPr>
        <p:spPr>
          <a:xfrm>
            <a:off x="932688" y="1783080"/>
            <a:ext cx="528523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Pourquoi Code-First  </a:t>
            </a:r>
            <a:r>
              <a:rPr lang="en-US" sz="1450" dirty="0">
                <a:solidFill>
                  <a:srgbClr val="8B949E"/>
                </a:solidFill>
                <a:latin typeface="Calibri" pitchFamily="34" charset="0"/>
                <a:ea typeface="Calibri" pitchFamily="34" charset="-122"/>
                <a:cs typeface="Calibri" pitchFamily="34" charset="-120"/>
              </a:rPr>
              <a:t>l'approche courante en entreprise, valorisée en entretien.</a:t>
            </a:r>
            <a:endParaRPr lang="en-US" sz="1450" dirty="0"/>
          </a:p>
        </p:txBody>
      </p:sp>
      <p:sp>
        <p:nvSpPr>
          <p:cNvPr id="6" name="Shape 4"/>
          <p:cNvSpPr/>
          <p:nvPr/>
        </p:nvSpPr>
        <p:spPr>
          <a:xfrm>
            <a:off x="640080" y="2670048"/>
            <a:ext cx="128016" cy="128016"/>
          </a:xfrm>
          <a:prstGeom prst="rect">
            <a:avLst/>
          </a:prstGeom>
          <a:solidFill>
            <a:srgbClr val="FF7B72"/>
          </a:solidFill>
          <a:ln/>
        </p:spPr>
      </p:sp>
      <p:sp>
        <p:nvSpPr>
          <p:cNvPr id="7" name="Text 5"/>
          <p:cNvSpPr/>
          <p:nvPr/>
        </p:nvSpPr>
        <p:spPr>
          <a:xfrm>
            <a:off x="932688" y="2560320"/>
            <a:ext cx="528523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Le principe  </a:t>
            </a:r>
            <a:r>
              <a:rPr lang="en-US" sz="1450" dirty="0">
                <a:solidFill>
                  <a:srgbClr val="8B949E"/>
                </a:solidFill>
                <a:latin typeface="Calibri" pitchFamily="34" charset="0"/>
                <a:ea typeface="Calibri" pitchFamily="34" charset="-122"/>
                <a:cs typeface="Calibri" pitchFamily="34" charset="-120"/>
              </a:rPr>
              <a:t>j'écris des classes C#, EF Core en génère la base.</a:t>
            </a:r>
            <a:endParaRPr lang="en-US" sz="1450" dirty="0"/>
          </a:p>
        </p:txBody>
      </p:sp>
      <p:sp>
        <p:nvSpPr>
          <p:cNvPr id="8" name="Shape 6"/>
          <p:cNvSpPr/>
          <p:nvPr/>
        </p:nvSpPr>
        <p:spPr>
          <a:xfrm>
            <a:off x="640080" y="3447288"/>
            <a:ext cx="128016" cy="128016"/>
          </a:xfrm>
          <a:prstGeom prst="rect">
            <a:avLst/>
          </a:prstGeom>
          <a:solidFill>
            <a:srgbClr val="FF7B72"/>
          </a:solidFill>
          <a:ln/>
        </p:spPr>
      </p:sp>
      <p:sp>
        <p:nvSpPr>
          <p:cNvPr id="9" name="Text 7"/>
          <p:cNvSpPr/>
          <p:nvPr/>
        </p:nvSpPr>
        <p:spPr>
          <a:xfrm>
            <a:off x="932688" y="3337560"/>
            <a:ext cx="528523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.NET 10 et EF Core 10  </a:t>
            </a:r>
            <a:r>
              <a:rPr lang="en-US" sz="1450" dirty="0">
                <a:solidFill>
                  <a:srgbClr val="8B949E"/>
                </a:solidFill>
                <a:latin typeface="Calibri" pitchFamily="34" charset="0"/>
                <a:ea typeface="Calibri" pitchFamily="34" charset="-122"/>
                <a:cs typeface="Calibri" pitchFamily="34" charset="-120"/>
              </a:rPr>
              <a:t>les versions les plus récentes.</a:t>
            </a:r>
            <a:endParaRPr lang="en-US" sz="1450" dirty="0"/>
          </a:p>
        </p:txBody>
      </p:sp>
      <p:sp>
        <p:nvSpPr>
          <p:cNvPr id="10" name="Shape 8"/>
          <p:cNvSpPr/>
          <p:nvPr/>
        </p:nvSpPr>
        <p:spPr>
          <a:xfrm>
            <a:off x="640080" y="4224528"/>
            <a:ext cx="128016" cy="128016"/>
          </a:xfrm>
          <a:prstGeom prst="rect">
            <a:avLst/>
          </a:prstGeom>
          <a:solidFill>
            <a:srgbClr val="FF7B72"/>
          </a:solidFill>
          <a:ln/>
        </p:spPr>
      </p:sp>
      <p:sp>
        <p:nvSpPr>
          <p:cNvPr id="11" name="Text 9"/>
          <p:cNvSpPr/>
          <p:nvPr/>
        </p:nvSpPr>
        <p:spPr>
          <a:xfrm>
            <a:off x="932688" y="4114800"/>
            <a:ext cx="528523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En complément  </a:t>
            </a:r>
            <a:r>
              <a:rPr lang="en-US" sz="1450" dirty="0">
                <a:solidFill>
                  <a:srgbClr val="8B949E"/>
                </a:solidFill>
                <a:latin typeface="Calibri" pitchFamily="34" charset="0"/>
                <a:ea typeface="Calibri" pitchFamily="34" charset="-122"/>
                <a:cs typeface="Calibri" pitchFamily="34" charset="-120"/>
              </a:rPr>
              <a:t>le même schéma aussi en SQL pur (SSMS).</a:t>
            </a:r>
            <a:endParaRPr lang="en-US" sz="1450" dirty="0"/>
          </a:p>
        </p:txBody>
      </p:sp>
      <p:sp>
        <p:nvSpPr>
          <p:cNvPr id="12" name="Shape 10"/>
          <p:cNvSpPr/>
          <p:nvPr/>
        </p:nvSpPr>
        <p:spPr>
          <a:xfrm>
            <a:off x="6400800" y="1828800"/>
            <a:ext cx="5212080" cy="4206240"/>
          </a:xfrm>
          <a:prstGeom prst="roundRect">
            <a:avLst>
              <a:gd name="adj" fmla="val 1304"/>
            </a:avLst>
          </a:prstGeom>
          <a:solidFill>
            <a:srgbClr val="10151C"/>
          </a:solidFill>
          <a:ln w="12700">
            <a:solidFill>
              <a:srgbClr val="30363D"/>
            </a:solidFill>
            <a:prstDash val="solid"/>
          </a:ln>
          <a:effectLst>
            <a:outerShdw blurRad="101600" dist="38100" dir="5400000" algn="bl" rotWithShape="0">
              <a:srgbClr val="000000">
                <a:alpha val="45000"/>
              </a:srgbClr>
            </a:outerShdw>
          </a:effectLst>
        </p:spPr>
      </p:sp>
      <p:sp>
        <p:nvSpPr>
          <p:cNvPr id="13" name="Text 11"/>
          <p:cNvSpPr/>
          <p:nvPr/>
        </p:nvSpPr>
        <p:spPr>
          <a:xfrm>
            <a:off x="6629400" y="1993392"/>
            <a:ext cx="4800600" cy="3886200"/>
          </a:xfrm>
          <a:prstGeom prst="rect">
            <a:avLst/>
          </a:prstGeom>
          <a:noFill/>
          <a:ln/>
        </p:spPr>
        <p:txBody>
          <a:bodyPr wrap="square" lIns="0" tIns="0" rIns="0" bIns="0" rtlCol="0" anchor="t"/>
          <a:lstStyle/>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public class </a:t>
            </a:r>
            <a:r>
              <a:rPr lang="en-US" sz="1250" dirty="0">
                <a:solidFill>
                  <a:srgbClr val="79C0FF"/>
                </a:solidFill>
                <a:latin typeface="Consolas" pitchFamily="34" charset="0"/>
                <a:ea typeface="Consolas" pitchFamily="34" charset="-122"/>
                <a:cs typeface="Consolas" pitchFamily="34" charset="-120"/>
              </a:rPr>
              <a:t>Ticket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    public int </a:t>
            </a:r>
            <a:r>
              <a:rPr lang="en-US" sz="1250" dirty="0">
                <a:solidFill>
                  <a:srgbClr val="E6EDF3"/>
                </a:solidFill>
                <a:latin typeface="Consolas" pitchFamily="34" charset="0"/>
                <a:ea typeface="Consolas" pitchFamily="34" charset="-122"/>
                <a:cs typeface="Consolas" pitchFamily="34" charset="-120"/>
              </a:rPr>
              <a:t>Id { get; set; }</a:t>
            </a:r>
            <a:endParaRPr lang="en-US" sz="1250" dirty="0"/>
          </a:p>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    public DateOnly </a:t>
            </a:r>
            <a:r>
              <a:rPr lang="en-US" sz="1250" dirty="0">
                <a:solidFill>
                  <a:srgbClr val="E6EDF3"/>
                </a:solidFill>
                <a:latin typeface="Consolas" pitchFamily="34" charset="0"/>
                <a:ea typeface="Consolas" pitchFamily="34" charset="-122"/>
                <a:cs typeface="Consolas" pitchFamily="34" charset="-120"/>
              </a:rPr>
              <a:t>DateCreation</a:t>
            </a:r>
            <a:endParaRPr lang="en-US" sz="1250" dirty="0"/>
          </a:p>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    public string </a:t>
            </a:r>
            <a:r>
              <a:rPr lang="en-US" sz="1250" dirty="0">
                <a:solidFill>
                  <a:srgbClr val="E6EDF3"/>
                </a:solidFill>
                <a:latin typeface="Consolas" pitchFamily="34" charset="0"/>
                <a:ea typeface="Consolas" pitchFamily="34" charset="-122"/>
                <a:cs typeface="Consolas" pitchFamily="34" charset="-120"/>
              </a:rPr>
              <a:t>Probleme</a:t>
            </a:r>
            <a:endParaRPr lang="en-US" sz="1250" dirty="0"/>
          </a:p>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    public int </a:t>
            </a:r>
            <a:r>
              <a:rPr lang="en-US" sz="1250" dirty="0">
                <a:solidFill>
                  <a:srgbClr val="E6EDF3"/>
                </a:solidFill>
                <a:latin typeface="Consolas" pitchFamily="34" charset="0"/>
                <a:ea typeface="Consolas" pitchFamily="34" charset="-122"/>
                <a:cs typeface="Consolas" pitchFamily="34" charset="-120"/>
              </a:rPr>
              <a:t>CompatibiliteId</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marL="0" indent="0">
              <a:lnSpc>
                <a:spcPct val="118000"/>
              </a:lnSpc>
              <a:buNone/>
            </a:pPr>
            <a:r>
              <a:rPr lang="en-US" sz="1250" dirty="0">
                <a:solidFill>
                  <a:srgbClr val="7EE787"/>
                </a:solidFill>
                <a:latin typeface="Consolas" pitchFamily="34" charset="0"/>
                <a:ea typeface="Consolas" pitchFamily="34" charset="-122"/>
                <a:cs typeface="Consolas" pitchFamily="34" charset="-120"/>
              </a:rPr>
              <a:t>&gt; dotnet ef migrations add Init</a:t>
            </a:r>
            <a:endParaRPr lang="en-US" sz="1250" dirty="0"/>
          </a:p>
          <a:p>
            <a:pPr marL="0" indent="0">
              <a:lnSpc>
                <a:spcPct val="118000"/>
              </a:lnSpc>
              <a:buNone/>
            </a:pPr>
            <a:r>
              <a:rPr lang="en-US" sz="1250" dirty="0">
                <a:solidFill>
                  <a:srgbClr val="7EE787"/>
                </a:solidFill>
                <a:latin typeface="Consolas" pitchFamily="34" charset="0"/>
                <a:ea typeface="Consolas" pitchFamily="34" charset="-122"/>
                <a:cs typeface="Consolas" pitchFamily="34" charset="-120"/>
              </a:rPr>
              <a:t>&gt; dotnet ef database update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 remplissage de la base</a:t>
            </a:r>
            <a:endParaRPr lang="en-US" sz="2600" dirty="0"/>
          </a:p>
        </p:txBody>
      </p:sp>
      <p:sp>
        <p:nvSpPr>
          <p:cNvPr id="4" name="Text 2"/>
          <p:cNvSpPr/>
          <p:nvPr/>
        </p:nvSpPr>
        <p:spPr>
          <a:xfrm>
            <a:off x="548640" y="1645920"/>
            <a:ext cx="10972800" cy="365760"/>
          </a:xfrm>
          <a:prstGeom prst="rect">
            <a:avLst/>
          </a:prstGeom>
          <a:noFill/>
          <a:ln/>
        </p:spPr>
        <p:txBody>
          <a:bodyPr wrap="square" lIns="0" tIns="0" rIns="0" bIns="0" rtlCol="0" anchor="ctr"/>
          <a:lstStyle/>
          <a:p>
            <a:pPr marL="0" indent="0">
              <a:buNone/>
            </a:pPr>
            <a:r>
              <a:rPr lang="en-US" sz="1500" i="1" dirty="0">
                <a:solidFill>
                  <a:srgbClr val="8B949E"/>
                </a:solidFill>
                <a:latin typeface="Calibri" pitchFamily="34" charset="0"/>
                <a:ea typeface="Calibri" pitchFamily="34" charset="-122"/>
                <a:cs typeface="Calibri" pitchFamily="34" charset="-120"/>
              </a:rPr>
              <a:t>Un code de remplissage crée les objets, les relie, et enregistre en une fois.</a:t>
            </a:r>
            <a:endParaRPr lang="en-US" sz="1500" dirty="0"/>
          </a:p>
        </p:txBody>
      </p:sp>
      <p:sp>
        <p:nvSpPr>
          <p:cNvPr id="5" name="Shape 3"/>
          <p:cNvSpPr/>
          <p:nvPr/>
        </p:nvSpPr>
        <p:spPr>
          <a:xfrm>
            <a:off x="548640" y="228600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6" name="Text 4"/>
          <p:cNvSpPr/>
          <p:nvPr/>
        </p:nvSpPr>
        <p:spPr>
          <a:xfrm>
            <a:off x="548640" y="2423160"/>
            <a:ext cx="3520440" cy="822960"/>
          </a:xfrm>
          <a:prstGeom prst="rect">
            <a:avLst/>
          </a:prstGeom>
          <a:noFill/>
          <a:ln/>
        </p:spPr>
        <p:txBody>
          <a:bodyPr wrap="square" lIns="0" tIns="0" rIns="0" bIns="0" rtlCol="0" anchor="ctr"/>
          <a:lstStyle/>
          <a:p>
            <a:pPr marL="0" indent="0" algn="ctr">
              <a:buNone/>
            </a:pPr>
            <a:r>
              <a:rPr lang="en-US" sz="4000" b="1" dirty="0">
                <a:solidFill>
                  <a:srgbClr val="FF7B72"/>
                </a:solidFill>
                <a:latin typeface="Consolas" pitchFamily="34" charset="0"/>
                <a:ea typeface="Consolas" pitchFamily="34" charset="-122"/>
                <a:cs typeface="Consolas" pitchFamily="34" charset="-120"/>
              </a:rPr>
              <a:t>4</a:t>
            </a:r>
            <a:endParaRPr lang="en-US" sz="4000" dirty="0"/>
          </a:p>
        </p:txBody>
      </p:sp>
      <p:sp>
        <p:nvSpPr>
          <p:cNvPr id="7" name="Text 5"/>
          <p:cNvSpPr/>
          <p:nvPr/>
        </p:nvSpPr>
        <p:spPr>
          <a:xfrm>
            <a:off x="548640" y="324612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produits</a:t>
            </a:r>
            <a:endParaRPr lang="en-US" sz="1400" dirty="0"/>
          </a:p>
        </p:txBody>
      </p:sp>
      <p:sp>
        <p:nvSpPr>
          <p:cNvPr id="8" name="Shape 6"/>
          <p:cNvSpPr/>
          <p:nvPr/>
        </p:nvSpPr>
        <p:spPr>
          <a:xfrm>
            <a:off x="4343400" y="228600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9" name="Text 7"/>
          <p:cNvSpPr/>
          <p:nvPr/>
        </p:nvSpPr>
        <p:spPr>
          <a:xfrm>
            <a:off x="4343400" y="2423160"/>
            <a:ext cx="3520440" cy="822960"/>
          </a:xfrm>
          <a:prstGeom prst="rect">
            <a:avLst/>
          </a:prstGeom>
          <a:noFill/>
          <a:ln/>
        </p:spPr>
        <p:txBody>
          <a:bodyPr wrap="square" lIns="0" tIns="0" rIns="0" bIns="0" rtlCol="0" anchor="ctr"/>
          <a:lstStyle/>
          <a:p>
            <a:pPr marL="0" indent="0" algn="ctr">
              <a:buNone/>
            </a:pPr>
            <a:r>
              <a:rPr lang="en-US" sz="4000" b="1" dirty="0">
                <a:solidFill>
                  <a:srgbClr val="79C0FF"/>
                </a:solidFill>
                <a:latin typeface="Consolas" pitchFamily="34" charset="0"/>
                <a:ea typeface="Consolas" pitchFamily="34" charset="-122"/>
                <a:cs typeface="Consolas" pitchFamily="34" charset="-120"/>
              </a:rPr>
              <a:t>6</a:t>
            </a:r>
            <a:endParaRPr lang="en-US" sz="4000" dirty="0"/>
          </a:p>
        </p:txBody>
      </p:sp>
      <p:sp>
        <p:nvSpPr>
          <p:cNvPr id="10" name="Text 8"/>
          <p:cNvSpPr/>
          <p:nvPr/>
        </p:nvSpPr>
        <p:spPr>
          <a:xfrm>
            <a:off x="4343400" y="324612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OS</a:t>
            </a:r>
            <a:endParaRPr lang="en-US" sz="1400" dirty="0"/>
          </a:p>
        </p:txBody>
      </p:sp>
      <p:sp>
        <p:nvSpPr>
          <p:cNvPr id="11" name="Shape 9"/>
          <p:cNvSpPr/>
          <p:nvPr/>
        </p:nvSpPr>
        <p:spPr>
          <a:xfrm>
            <a:off x="8138160" y="228600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2" name="Text 10"/>
          <p:cNvSpPr/>
          <p:nvPr/>
        </p:nvSpPr>
        <p:spPr>
          <a:xfrm>
            <a:off x="8138160" y="2423160"/>
            <a:ext cx="3520440" cy="822960"/>
          </a:xfrm>
          <a:prstGeom prst="rect">
            <a:avLst/>
          </a:prstGeom>
          <a:noFill/>
          <a:ln/>
        </p:spPr>
        <p:txBody>
          <a:bodyPr wrap="square" lIns="0" tIns="0" rIns="0" bIns="0" rtlCol="0" anchor="ctr"/>
          <a:lstStyle/>
          <a:p>
            <a:pPr marL="0" indent="0" algn="ctr">
              <a:buNone/>
            </a:pPr>
            <a:r>
              <a:rPr lang="en-US" sz="4000" b="1" dirty="0">
                <a:solidFill>
                  <a:srgbClr val="D2A8FF"/>
                </a:solidFill>
                <a:latin typeface="Consolas" pitchFamily="34" charset="0"/>
                <a:ea typeface="Consolas" pitchFamily="34" charset="-122"/>
                <a:cs typeface="Consolas" pitchFamily="34" charset="-120"/>
              </a:rPr>
              <a:t>2</a:t>
            </a:r>
            <a:endParaRPr lang="en-US" sz="4000" dirty="0"/>
          </a:p>
        </p:txBody>
      </p:sp>
      <p:sp>
        <p:nvSpPr>
          <p:cNvPr id="13" name="Text 11"/>
          <p:cNvSpPr/>
          <p:nvPr/>
        </p:nvSpPr>
        <p:spPr>
          <a:xfrm>
            <a:off x="8138160" y="324612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statuts</a:t>
            </a:r>
            <a:endParaRPr lang="en-US" sz="1400" dirty="0"/>
          </a:p>
        </p:txBody>
      </p:sp>
      <p:sp>
        <p:nvSpPr>
          <p:cNvPr id="14" name="Shape 12"/>
          <p:cNvSpPr/>
          <p:nvPr/>
        </p:nvSpPr>
        <p:spPr>
          <a:xfrm>
            <a:off x="548640" y="416052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5" name="Text 13"/>
          <p:cNvSpPr/>
          <p:nvPr/>
        </p:nvSpPr>
        <p:spPr>
          <a:xfrm>
            <a:off x="548640" y="4297680"/>
            <a:ext cx="3520440" cy="822960"/>
          </a:xfrm>
          <a:prstGeom prst="rect">
            <a:avLst/>
          </a:prstGeom>
          <a:noFill/>
          <a:ln/>
        </p:spPr>
        <p:txBody>
          <a:bodyPr wrap="square" lIns="0" tIns="0" rIns="0" bIns="0" rtlCol="0" anchor="ctr"/>
          <a:lstStyle/>
          <a:p>
            <a:pPr marL="0" indent="0" algn="ctr">
              <a:buNone/>
            </a:pPr>
            <a:r>
              <a:rPr lang="en-US" sz="4000" b="1" dirty="0">
                <a:solidFill>
                  <a:srgbClr val="7EE787"/>
                </a:solidFill>
                <a:latin typeface="Consolas" pitchFamily="34" charset="0"/>
                <a:ea typeface="Consolas" pitchFamily="34" charset="-122"/>
                <a:cs typeface="Consolas" pitchFamily="34" charset="-120"/>
              </a:rPr>
              <a:t>12</a:t>
            </a:r>
            <a:endParaRPr lang="en-US" sz="4000" dirty="0"/>
          </a:p>
        </p:txBody>
      </p:sp>
      <p:sp>
        <p:nvSpPr>
          <p:cNvPr id="16" name="Text 14"/>
          <p:cNvSpPr/>
          <p:nvPr/>
        </p:nvSpPr>
        <p:spPr>
          <a:xfrm>
            <a:off x="548640" y="512064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versions</a:t>
            </a:r>
            <a:endParaRPr lang="en-US" sz="1400" dirty="0"/>
          </a:p>
        </p:txBody>
      </p:sp>
      <p:sp>
        <p:nvSpPr>
          <p:cNvPr id="17" name="Shape 15"/>
          <p:cNvSpPr/>
          <p:nvPr/>
        </p:nvSpPr>
        <p:spPr>
          <a:xfrm>
            <a:off x="4343400" y="416052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8" name="Text 16"/>
          <p:cNvSpPr/>
          <p:nvPr/>
        </p:nvSpPr>
        <p:spPr>
          <a:xfrm>
            <a:off x="4343400" y="4297680"/>
            <a:ext cx="3520440" cy="822960"/>
          </a:xfrm>
          <a:prstGeom prst="rect">
            <a:avLst/>
          </a:prstGeom>
          <a:noFill/>
          <a:ln/>
        </p:spPr>
        <p:txBody>
          <a:bodyPr wrap="square" lIns="0" tIns="0" rIns="0" bIns="0" rtlCol="0" anchor="ctr"/>
          <a:lstStyle/>
          <a:p>
            <a:pPr marL="0" indent="0" algn="ctr">
              <a:buNone/>
            </a:pPr>
            <a:r>
              <a:rPr lang="en-US" sz="4000" b="1" dirty="0">
                <a:solidFill>
                  <a:srgbClr val="E3B341"/>
                </a:solidFill>
                <a:latin typeface="Consolas" pitchFamily="34" charset="0"/>
                <a:ea typeface="Consolas" pitchFamily="34" charset="-122"/>
                <a:cs typeface="Consolas" pitchFamily="34" charset="-120"/>
              </a:rPr>
              <a:t>44</a:t>
            </a:r>
            <a:endParaRPr lang="en-US" sz="4000" dirty="0"/>
          </a:p>
        </p:txBody>
      </p:sp>
      <p:sp>
        <p:nvSpPr>
          <p:cNvPr id="19" name="Text 17"/>
          <p:cNvSpPr/>
          <p:nvPr/>
        </p:nvSpPr>
        <p:spPr>
          <a:xfrm>
            <a:off x="4343400" y="512064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compatibilités</a:t>
            </a:r>
            <a:endParaRPr lang="en-US" sz="1400" dirty="0"/>
          </a:p>
        </p:txBody>
      </p:sp>
      <p:sp>
        <p:nvSpPr>
          <p:cNvPr id="20" name="Shape 18"/>
          <p:cNvSpPr/>
          <p:nvPr/>
        </p:nvSpPr>
        <p:spPr>
          <a:xfrm>
            <a:off x="8138160" y="416052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21" name="Text 19"/>
          <p:cNvSpPr/>
          <p:nvPr/>
        </p:nvSpPr>
        <p:spPr>
          <a:xfrm>
            <a:off x="8138160" y="4297680"/>
            <a:ext cx="3520440" cy="822960"/>
          </a:xfrm>
          <a:prstGeom prst="rect">
            <a:avLst/>
          </a:prstGeom>
          <a:noFill/>
          <a:ln/>
        </p:spPr>
        <p:txBody>
          <a:bodyPr wrap="square" lIns="0" tIns="0" rIns="0" bIns="0" rtlCol="0" anchor="ctr"/>
          <a:lstStyle/>
          <a:p>
            <a:pPr marL="0" indent="0" algn="ctr">
              <a:buNone/>
            </a:pPr>
            <a:r>
              <a:rPr lang="en-US" sz="4000" b="1" dirty="0">
                <a:solidFill>
                  <a:srgbClr val="FF7B72"/>
                </a:solidFill>
                <a:latin typeface="Consolas" pitchFamily="34" charset="0"/>
                <a:ea typeface="Consolas" pitchFamily="34" charset="-122"/>
                <a:cs typeface="Consolas" pitchFamily="34" charset="-120"/>
              </a:rPr>
              <a:t>25</a:t>
            </a:r>
            <a:endParaRPr lang="en-US" sz="4000" dirty="0"/>
          </a:p>
        </p:txBody>
      </p:sp>
      <p:sp>
        <p:nvSpPr>
          <p:cNvPr id="22" name="Text 20"/>
          <p:cNvSpPr/>
          <p:nvPr/>
        </p:nvSpPr>
        <p:spPr>
          <a:xfrm>
            <a:off x="8138160" y="512064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tickets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interrogation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L'optimisation des requêtes</a:t>
            </a:r>
            <a:endParaRPr lang="en-US" sz="2600" dirty="0"/>
          </a:p>
        </p:txBody>
      </p:sp>
      <p:sp>
        <p:nvSpPr>
          <p:cNvPr id="4" name="Text 2"/>
          <p:cNvSpPr/>
          <p:nvPr/>
        </p:nvSpPr>
        <p:spPr>
          <a:xfrm>
            <a:off x="548640" y="1691640"/>
            <a:ext cx="10972800" cy="548640"/>
          </a:xfrm>
          <a:prstGeom prst="rect">
            <a:avLst/>
          </a:prstGeom>
          <a:noFill/>
          <a:ln/>
        </p:spPr>
        <p:txBody>
          <a:bodyPr wrap="square" lIns="0" tIns="0" rIns="0" bIns="0" rtlCol="0" anchor="ctr"/>
          <a:lstStyle/>
          <a:p>
            <a:pPr marL="0" indent="0" algn="ctr">
              <a:buNone/>
            </a:pPr>
            <a:r>
              <a:rPr lang="en-US" sz="2400" dirty="0">
                <a:solidFill>
                  <a:srgbClr val="8B949E"/>
                </a:solidFill>
                <a:latin typeface="Consolas" pitchFamily="34" charset="0"/>
                <a:ea typeface="Consolas" pitchFamily="34" charset="-122"/>
                <a:cs typeface="Consolas" pitchFamily="34" charset="-120"/>
              </a:rPr>
              <a:t>20 demandes  </a:t>
            </a:r>
            <a:r>
              <a:rPr lang="en-US" sz="2400" b="1" dirty="0">
                <a:solidFill>
                  <a:srgbClr val="FF7B72"/>
                </a:solidFill>
                <a:latin typeface="Consolas" pitchFamily="34" charset="0"/>
                <a:ea typeface="Consolas" pitchFamily="34" charset="-122"/>
                <a:cs typeface="Consolas" pitchFamily="34" charset="-120"/>
              </a:rPr>
              <a:t>=&gt;</a:t>
            </a:r>
            <a:r>
              <a:rPr lang="en-US" sz="2400" b="1" dirty="0">
                <a:solidFill>
                  <a:srgbClr val="E6EDF3"/>
                </a:solidFill>
                <a:latin typeface="Consolas" pitchFamily="34" charset="0"/>
                <a:ea typeface="Consolas" pitchFamily="34" charset="-122"/>
                <a:cs typeface="Consolas" pitchFamily="34" charset="-120"/>
              </a:rPr>
              <a:t>  1 seule requête paramétrée</a:t>
            </a:r>
            <a:endParaRPr lang="en-US" sz="2400" dirty="0"/>
          </a:p>
        </p:txBody>
      </p:sp>
      <p:sp>
        <p:nvSpPr>
          <p:cNvPr id="5" name="Text 3"/>
          <p:cNvSpPr/>
          <p:nvPr/>
        </p:nvSpPr>
        <p:spPr>
          <a:xfrm>
            <a:off x="548640" y="2514600"/>
            <a:ext cx="10972800" cy="365760"/>
          </a:xfrm>
          <a:prstGeom prst="rect">
            <a:avLst/>
          </a:prstGeom>
          <a:noFill/>
          <a:ln/>
        </p:spPr>
        <p:txBody>
          <a:bodyPr wrap="square" lIns="0" tIns="0" rIns="0" bIns="0" rtlCol="0" anchor="ctr"/>
          <a:lstStyle/>
          <a:p>
            <a:pPr marL="0" indent="0" algn="ctr">
              <a:buNone/>
            </a:pPr>
            <a:r>
              <a:rPr lang="en-US" sz="1500" dirty="0">
                <a:solidFill>
                  <a:srgbClr val="8B949E"/>
                </a:solidFill>
                <a:latin typeface="Calibri" pitchFamily="34" charset="0"/>
                <a:ea typeface="Calibri" pitchFamily="34" charset="-122"/>
                <a:cs typeface="Calibri" pitchFamily="34" charset="-120"/>
              </a:rPr>
              <a:t>Les 20 requêtes ne diffèrent que par cinq critères, tous optionnels :</a:t>
            </a:r>
            <a:endParaRPr lang="en-US" sz="1500" dirty="0"/>
          </a:p>
        </p:txBody>
      </p:sp>
      <p:sp>
        <p:nvSpPr>
          <p:cNvPr id="6" name="Shape 4"/>
          <p:cNvSpPr/>
          <p:nvPr/>
        </p:nvSpPr>
        <p:spPr>
          <a:xfrm>
            <a:off x="685800"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7" name="Shape 5"/>
          <p:cNvSpPr/>
          <p:nvPr/>
        </p:nvSpPr>
        <p:spPr>
          <a:xfrm>
            <a:off x="1554480" y="3429000"/>
            <a:ext cx="320040" cy="320040"/>
          </a:xfrm>
          <a:prstGeom prst="ellipse">
            <a:avLst/>
          </a:prstGeom>
          <a:solidFill>
            <a:srgbClr val="FF7B72"/>
          </a:solidFill>
          <a:ln/>
        </p:spPr>
      </p:sp>
      <p:sp>
        <p:nvSpPr>
          <p:cNvPr id="8" name="Text 6"/>
          <p:cNvSpPr/>
          <p:nvPr/>
        </p:nvSpPr>
        <p:spPr>
          <a:xfrm>
            <a:off x="1554480"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1</a:t>
            </a:r>
            <a:endParaRPr lang="en-US" sz="1400" dirty="0"/>
          </a:p>
        </p:txBody>
      </p:sp>
      <p:sp>
        <p:nvSpPr>
          <p:cNvPr id="9" name="Text 7"/>
          <p:cNvSpPr/>
          <p:nvPr/>
        </p:nvSpPr>
        <p:spPr>
          <a:xfrm>
            <a:off x="685800"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Statut</a:t>
            </a:r>
            <a:endParaRPr lang="en-US" sz="1500" dirty="0"/>
          </a:p>
        </p:txBody>
      </p:sp>
      <p:sp>
        <p:nvSpPr>
          <p:cNvPr id="10" name="Shape 8"/>
          <p:cNvSpPr/>
          <p:nvPr/>
        </p:nvSpPr>
        <p:spPr>
          <a:xfrm>
            <a:off x="2953512"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1" name="Shape 9"/>
          <p:cNvSpPr/>
          <p:nvPr/>
        </p:nvSpPr>
        <p:spPr>
          <a:xfrm>
            <a:off x="3822192" y="3429000"/>
            <a:ext cx="320040" cy="320040"/>
          </a:xfrm>
          <a:prstGeom prst="ellipse">
            <a:avLst/>
          </a:prstGeom>
          <a:solidFill>
            <a:srgbClr val="FF7B72"/>
          </a:solidFill>
          <a:ln/>
        </p:spPr>
      </p:sp>
      <p:sp>
        <p:nvSpPr>
          <p:cNvPr id="12" name="Text 10"/>
          <p:cNvSpPr/>
          <p:nvPr/>
        </p:nvSpPr>
        <p:spPr>
          <a:xfrm>
            <a:off x="3822192"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2</a:t>
            </a:r>
            <a:endParaRPr lang="en-US" sz="1400" dirty="0"/>
          </a:p>
        </p:txBody>
      </p:sp>
      <p:sp>
        <p:nvSpPr>
          <p:cNvPr id="13" name="Text 11"/>
          <p:cNvSpPr/>
          <p:nvPr/>
        </p:nvSpPr>
        <p:spPr>
          <a:xfrm>
            <a:off x="2953512"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Produit</a:t>
            </a:r>
            <a:endParaRPr lang="en-US" sz="1500" dirty="0"/>
          </a:p>
        </p:txBody>
      </p:sp>
      <p:sp>
        <p:nvSpPr>
          <p:cNvPr id="14" name="Shape 12"/>
          <p:cNvSpPr/>
          <p:nvPr/>
        </p:nvSpPr>
        <p:spPr>
          <a:xfrm>
            <a:off x="5221224"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5" name="Shape 13"/>
          <p:cNvSpPr/>
          <p:nvPr/>
        </p:nvSpPr>
        <p:spPr>
          <a:xfrm>
            <a:off x="6089904" y="3429000"/>
            <a:ext cx="320040" cy="320040"/>
          </a:xfrm>
          <a:prstGeom prst="ellipse">
            <a:avLst/>
          </a:prstGeom>
          <a:solidFill>
            <a:srgbClr val="FF7B72"/>
          </a:solidFill>
          <a:ln/>
        </p:spPr>
      </p:sp>
      <p:sp>
        <p:nvSpPr>
          <p:cNvPr id="16" name="Text 14"/>
          <p:cNvSpPr/>
          <p:nvPr/>
        </p:nvSpPr>
        <p:spPr>
          <a:xfrm>
            <a:off x="6089904"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3</a:t>
            </a:r>
            <a:endParaRPr lang="en-US" sz="1400" dirty="0"/>
          </a:p>
        </p:txBody>
      </p:sp>
      <p:sp>
        <p:nvSpPr>
          <p:cNvPr id="17" name="Text 15"/>
          <p:cNvSpPr/>
          <p:nvPr/>
        </p:nvSpPr>
        <p:spPr>
          <a:xfrm>
            <a:off x="5221224"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Version</a:t>
            </a:r>
            <a:endParaRPr lang="en-US" sz="1500" dirty="0"/>
          </a:p>
        </p:txBody>
      </p:sp>
      <p:sp>
        <p:nvSpPr>
          <p:cNvPr id="18" name="Shape 16"/>
          <p:cNvSpPr/>
          <p:nvPr/>
        </p:nvSpPr>
        <p:spPr>
          <a:xfrm>
            <a:off x="7488936"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9" name="Shape 17"/>
          <p:cNvSpPr/>
          <p:nvPr/>
        </p:nvSpPr>
        <p:spPr>
          <a:xfrm>
            <a:off x="8357616" y="3429000"/>
            <a:ext cx="320040" cy="320040"/>
          </a:xfrm>
          <a:prstGeom prst="ellipse">
            <a:avLst/>
          </a:prstGeom>
          <a:solidFill>
            <a:srgbClr val="FF7B72"/>
          </a:solidFill>
          <a:ln/>
        </p:spPr>
      </p:sp>
      <p:sp>
        <p:nvSpPr>
          <p:cNvPr id="20" name="Text 18"/>
          <p:cNvSpPr/>
          <p:nvPr/>
        </p:nvSpPr>
        <p:spPr>
          <a:xfrm>
            <a:off x="8357616"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4</a:t>
            </a:r>
            <a:endParaRPr lang="en-US" sz="1400" dirty="0"/>
          </a:p>
        </p:txBody>
      </p:sp>
      <p:sp>
        <p:nvSpPr>
          <p:cNvPr id="21" name="Text 19"/>
          <p:cNvSpPr/>
          <p:nvPr/>
        </p:nvSpPr>
        <p:spPr>
          <a:xfrm>
            <a:off x="7488936"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Période</a:t>
            </a:r>
            <a:endParaRPr lang="en-US" sz="1500" dirty="0"/>
          </a:p>
        </p:txBody>
      </p:sp>
      <p:sp>
        <p:nvSpPr>
          <p:cNvPr id="22" name="Shape 20"/>
          <p:cNvSpPr/>
          <p:nvPr/>
        </p:nvSpPr>
        <p:spPr>
          <a:xfrm>
            <a:off x="9756648"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23" name="Shape 21"/>
          <p:cNvSpPr/>
          <p:nvPr/>
        </p:nvSpPr>
        <p:spPr>
          <a:xfrm>
            <a:off x="10625328" y="3429000"/>
            <a:ext cx="320040" cy="320040"/>
          </a:xfrm>
          <a:prstGeom prst="ellipse">
            <a:avLst/>
          </a:prstGeom>
          <a:solidFill>
            <a:srgbClr val="FF7B72"/>
          </a:solidFill>
          <a:ln/>
        </p:spPr>
      </p:sp>
      <p:sp>
        <p:nvSpPr>
          <p:cNvPr id="24" name="Text 22"/>
          <p:cNvSpPr/>
          <p:nvPr/>
        </p:nvSpPr>
        <p:spPr>
          <a:xfrm>
            <a:off x="10625328"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5</a:t>
            </a:r>
            <a:endParaRPr lang="en-US" sz="1400" dirty="0"/>
          </a:p>
        </p:txBody>
      </p:sp>
      <p:sp>
        <p:nvSpPr>
          <p:cNvPr id="25" name="Text 23"/>
          <p:cNvSpPr/>
          <p:nvPr/>
        </p:nvSpPr>
        <p:spPr>
          <a:xfrm>
            <a:off x="9756648"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Mots-clés</a:t>
            </a:r>
            <a:endParaRPr lang="en-US" sz="1500" dirty="0"/>
          </a:p>
        </p:txBody>
      </p:sp>
      <p:sp>
        <p:nvSpPr>
          <p:cNvPr id="26" name="Text 24"/>
          <p:cNvSpPr/>
          <p:nvPr/>
        </p:nvSpPr>
        <p:spPr>
          <a:xfrm>
            <a:off x="548640" y="5120640"/>
            <a:ext cx="10972800" cy="457200"/>
          </a:xfrm>
          <a:prstGeom prst="rect">
            <a:avLst/>
          </a:prstGeom>
          <a:noFill/>
          <a:ln/>
        </p:spPr>
        <p:txBody>
          <a:bodyPr wrap="square" lIns="0" tIns="0" rIns="0" bIns="0" rtlCol="0" anchor="ctr"/>
          <a:lstStyle/>
          <a:p>
            <a:pPr marL="0" indent="0" algn="ctr">
              <a:buNone/>
            </a:pPr>
            <a:r>
              <a:rPr lang="en-US" sz="1500" i="1" dirty="0">
                <a:solidFill>
                  <a:srgbClr val="8B949E"/>
                </a:solidFill>
                <a:latin typeface="Calibri" pitchFamily="34" charset="0"/>
                <a:ea typeface="Calibri" pitchFamily="34" charset="-122"/>
                <a:cs typeface="Calibri" pitchFamily="34" charset="-120"/>
              </a:rPr>
              <a:t>Un critère laissé vide est ignoré : une seule requête répond à toute la liste.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interrogation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Deux implémentations, mêmes résultats</a:t>
            </a:r>
            <a:endParaRPr lang="en-US" sz="2600" dirty="0"/>
          </a:p>
        </p:txBody>
      </p:sp>
      <p:sp>
        <p:nvSpPr>
          <p:cNvPr id="4" name="Text 2"/>
          <p:cNvSpPr/>
          <p:nvPr/>
        </p:nvSpPr>
        <p:spPr>
          <a:xfrm>
            <a:off x="548640" y="1691640"/>
            <a:ext cx="5486400" cy="365760"/>
          </a:xfrm>
          <a:prstGeom prst="rect">
            <a:avLst/>
          </a:prstGeom>
          <a:noFill/>
          <a:ln/>
        </p:spPr>
        <p:txBody>
          <a:bodyPr wrap="square" lIns="0" tIns="0" rIns="0" bIns="0" rtlCol="0" anchor="ctr"/>
          <a:lstStyle/>
          <a:p>
            <a:pPr marL="0" indent="0">
              <a:buNone/>
            </a:pPr>
            <a:r>
              <a:rPr lang="en-US" sz="1600" b="1" dirty="0">
                <a:solidFill>
                  <a:srgbClr val="79C0FF"/>
                </a:solidFill>
                <a:latin typeface="Consolas" pitchFamily="34" charset="0"/>
                <a:ea typeface="Consolas" pitchFamily="34" charset="-122"/>
                <a:cs typeface="Consolas" pitchFamily="34" charset="-120"/>
              </a:rPr>
              <a:t>LINQ  </a:t>
            </a:r>
            <a:endParaRPr lang="en-US" sz="1600" dirty="0"/>
          </a:p>
        </p:txBody>
      </p:sp>
      <p:sp>
        <p:nvSpPr>
          <p:cNvPr id="5" name="Shape 3"/>
          <p:cNvSpPr/>
          <p:nvPr/>
        </p:nvSpPr>
        <p:spPr>
          <a:xfrm>
            <a:off x="548640" y="2057400"/>
            <a:ext cx="5486400" cy="2743200"/>
          </a:xfrm>
          <a:prstGeom prst="roundRect">
            <a:avLst>
              <a:gd name="adj" fmla="val 2000"/>
            </a:avLst>
          </a:prstGeom>
          <a:solidFill>
            <a:srgbClr val="10151C"/>
          </a:solidFill>
          <a:ln w="12700">
            <a:solidFill>
              <a:srgbClr val="30363D"/>
            </a:solidFill>
            <a:prstDash val="solid"/>
          </a:ln>
          <a:effectLst>
            <a:outerShdw blurRad="101600" dist="38100" dir="5400000" algn="bl" rotWithShape="0">
              <a:srgbClr val="000000">
                <a:alpha val="45000"/>
              </a:srgbClr>
            </a:outerShdw>
          </a:effectLst>
        </p:spPr>
      </p:sp>
      <p:sp>
        <p:nvSpPr>
          <p:cNvPr id="6" name="Text 4"/>
          <p:cNvSpPr/>
          <p:nvPr/>
        </p:nvSpPr>
        <p:spPr>
          <a:xfrm>
            <a:off x="777240" y="2221992"/>
            <a:ext cx="5074920" cy="2423160"/>
          </a:xfrm>
          <a:prstGeom prst="rect">
            <a:avLst/>
          </a:prstGeom>
          <a:noFill/>
          <a:ln/>
        </p:spPr>
        <p:txBody>
          <a:bodyPr wrap="square" lIns="0" tIns="0" rIns="0" bIns="0" rtlCol="0" anchor="t"/>
          <a:lstStyle/>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var q = context.Ticket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.Where(t =&gt; </a:t>
            </a:r>
            <a:r>
              <a:rPr lang="en-US" sz="1250" dirty="0">
                <a:solidFill>
                  <a:srgbClr val="D2A8FF"/>
                </a:solidFill>
                <a:latin typeface="Consolas" pitchFamily="34" charset="0"/>
                <a:ea typeface="Consolas" pitchFamily="34" charset="-122"/>
                <a:cs typeface="Consolas" pitchFamily="34" charset="-120"/>
              </a:rPr>
              <a:t>statut</a:t>
            </a:r>
            <a:r>
              <a:rPr lang="en-US" sz="1250" dirty="0">
                <a:solidFill>
                  <a:srgbClr val="E6EDF3"/>
                </a:solidFill>
                <a:latin typeface="Consolas" pitchFamily="34" charset="0"/>
                <a:ea typeface="Consolas" pitchFamily="34" charset="-122"/>
                <a:cs typeface="Consolas" pitchFamily="34" charset="-120"/>
              </a:rPr>
              <a:t> == null</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 t.Statut.Nom == </a:t>
            </a:r>
            <a:r>
              <a:rPr lang="en-US" sz="1250" dirty="0">
                <a:solidFill>
                  <a:srgbClr val="D2A8FF"/>
                </a:solidFill>
                <a:latin typeface="Consolas" pitchFamily="34" charset="0"/>
                <a:ea typeface="Consolas" pitchFamily="34" charset="-122"/>
                <a:cs typeface="Consolas" pitchFamily="34" charset="-120"/>
              </a:rPr>
              <a:t>statut</a:t>
            </a:r>
            <a:r>
              <a:rPr lang="en-US" sz="1250" dirty="0">
                <a:solidFill>
                  <a:srgbClr val="E6EDF3"/>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.Where(t =&gt; t.Probleme</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.Contains(</a:t>
            </a:r>
            <a:r>
              <a:rPr lang="en-US" sz="1250" dirty="0">
                <a:solidFill>
                  <a:srgbClr val="D2A8FF"/>
                </a:solidFill>
                <a:latin typeface="Consolas" pitchFamily="34" charset="0"/>
                <a:ea typeface="Consolas" pitchFamily="34" charset="-122"/>
                <a:cs typeface="Consolas" pitchFamily="34" charset="-120"/>
              </a:rPr>
              <a:t>mot</a:t>
            </a:r>
            <a:r>
              <a:rPr lang="en-US" sz="1250" dirty="0">
                <a:solidFill>
                  <a:srgbClr val="E6EDF3"/>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.ToList();</a:t>
            </a:r>
            <a:endParaRPr lang="en-US" sz="1250" dirty="0"/>
          </a:p>
        </p:txBody>
      </p:sp>
      <p:sp>
        <p:nvSpPr>
          <p:cNvPr id="7" name="Text 5"/>
          <p:cNvSpPr/>
          <p:nvPr/>
        </p:nvSpPr>
        <p:spPr>
          <a:xfrm>
            <a:off x="6172200" y="1691640"/>
            <a:ext cx="5486400" cy="365760"/>
          </a:xfrm>
          <a:prstGeom prst="rect">
            <a:avLst/>
          </a:prstGeom>
          <a:noFill/>
          <a:ln/>
        </p:spPr>
        <p:txBody>
          <a:bodyPr wrap="square" lIns="0" tIns="0" rIns="0" bIns="0" rtlCol="0" anchor="ctr"/>
          <a:lstStyle/>
          <a:p>
            <a:pPr marL="0" indent="0">
              <a:buNone/>
            </a:pPr>
            <a:r>
              <a:rPr lang="en-US" sz="1600" b="1" dirty="0">
                <a:solidFill>
                  <a:srgbClr val="7EE787"/>
                </a:solidFill>
                <a:latin typeface="Consolas" pitchFamily="34" charset="0"/>
                <a:ea typeface="Consolas" pitchFamily="34" charset="-122"/>
                <a:cs typeface="Consolas" pitchFamily="34" charset="-120"/>
              </a:rPr>
              <a:t>Procédure stockée  </a:t>
            </a:r>
            <a:endParaRPr lang="en-US" sz="1600" dirty="0"/>
          </a:p>
        </p:txBody>
      </p:sp>
      <p:sp>
        <p:nvSpPr>
          <p:cNvPr id="8" name="Shape 6"/>
          <p:cNvSpPr/>
          <p:nvPr/>
        </p:nvSpPr>
        <p:spPr>
          <a:xfrm>
            <a:off x="6172200" y="2057400"/>
            <a:ext cx="5440680" cy="2743200"/>
          </a:xfrm>
          <a:prstGeom prst="roundRect">
            <a:avLst>
              <a:gd name="adj" fmla="val 2000"/>
            </a:avLst>
          </a:prstGeom>
          <a:solidFill>
            <a:srgbClr val="10151C"/>
          </a:solidFill>
          <a:ln w="12700">
            <a:solidFill>
              <a:srgbClr val="30363D"/>
            </a:solidFill>
            <a:prstDash val="solid"/>
          </a:ln>
          <a:effectLst>
            <a:outerShdw blurRad="101600" dist="38100" dir="5400000" algn="bl" rotWithShape="0">
              <a:srgbClr val="000000">
                <a:alpha val="45000"/>
              </a:srgbClr>
            </a:outerShdw>
          </a:effectLst>
        </p:spPr>
      </p:sp>
      <p:sp>
        <p:nvSpPr>
          <p:cNvPr id="9" name="Text 7"/>
          <p:cNvSpPr/>
          <p:nvPr/>
        </p:nvSpPr>
        <p:spPr>
          <a:xfrm>
            <a:off x="6400800" y="2221992"/>
            <a:ext cx="5029200" cy="2423160"/>
          </a:xfrm>
          <a:prstGeom prst="rect">
            <a:avLst/>
          </a:prstGeom>
          <a:noFill/>
          <a:ln/>
        </p:spPr>
        <p:txBody>
          <a:bodyPr wrap="square" lIns="0" tIns="0" rIns="0" bIns="0" rtlCol="0" anchor="t"/>
          <a:lstStyle/>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CREATE PROCEDURE </a:t>
            </a:r>
            <a:r>
              <a:rPr lang="en-US" sz="1250" dirty="0">
                <a:solidFill>
                  <a:srgbClr val="79C0FF"/>
                </a:solidFill>
                <a:latin typeface="Consolas" pitchFamily="34" charset="0"/>
                <a:ea typeface="Consolas" pitchFamily="34" charset="-122"/>
                <a:cs typeface="Consolas" pitchFamily="34" charset="-120"/>
              </a:rPr>
              <a:t>ObtenirTickets</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@Statut NVARCHAR(50) = </a:t>
            </a:r>
            <a:r>
              <a:rPr lang="en-US" sz="1250" dirty="0">
                <a:solidFill>
                  <a:srgbClr val="FF7B72"/>
                </a:solidFill>
                <a:latin typeface="Consolas" pitchFamily="34" charset="0"/>
                <a:ea typeface="Consolas" pitchFamily="34" charset="-122"/>
                <a:cs typeface="Consolas" pitchFamily="34" charset="-120"/>
              </a:rPr>
              <a:t>NULL</a:t>
            </a:r>
            <a:r>
              <a:rPr lang="en-US" sz="1250" dirty="0">
                <a:solidFill>
                  <a:srgbClr val="E6EDF3"/>
                </a:solidFill>
                <a:latin typeface="Consolas" pitchFamily="34" charset="0"/>
                <a:ea typeface="Consolas" pitchFamily="34" charset="-122"/>
                <a:cs typeface="Consolas" pitchFamily="34" charset="-120"/>
              </a:rPr>
              <a:t>, ...</a:t>
            </a:r>
            <a:endParaRPr lang="en-US" sz="1250" dirty="0"/>
          </a:p>
          <a:p>
            <a:pPr marL="0" indent="0">
              <a:lnSpc>
                <a:spcPct val="118000"/>
              </a:lnSpc>
              <a:buNone/>
            </a:pPr>
            <a:r>
              <a:rPr lang="en-US" sz="1250" dirty="0">
                <a:solidFill>
                  <a:srgbClr val="8B949E"/>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WHERE (</a:t>
            </a:r>
            <a:r>
              <a:rPr lang="en-US" sz="1250" dirty="0">
                <a:solidFill>
                  <a:srgbClr val="FF7B72"/>
                </a:solidFill>
                <a:latin typeface="Consolas" pitchFamily="34" charset="0"/>
                <a:ea typeface="Consolas" pitchFamily="34" charset="-122"/>
                <a:cs typeface="Consolas" pitchFamily="34" charset="-120"/>
              </a:rPr>
              <a:t>@Statut IS NULL</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OR s.Nom = @Statut)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AND (@MotCle IS NULL OR ...)</a:t>
            </a:r>
            <a:endParaRPr lang="en-US" sz="1250" dirty="0"/>
          </a:p>
        </p:txBody>
      </p:sp>
      <p:sp>
        <p:nvSpPr>
          <p:cNvPr id="10" name="Shape 8"/>
          <p:cNvSpPr/>
          <p:nvPr/>
        </p:nvSpPr>
        <p:spPr>
          <a:xfrm>
            <a:off x="640080" y="5184648"/>
            <a:ext cx="128016" cy="128016"/>
          </a:xfrm>
          <a:prstGeom prst="rect">
            <a:avLst/>
          </a:prstGeom>
          <a:solidFill>
            <a:srgbClr val="FF7B72"/>
          </a:solidFill>
          <a:ln/>
        </p:spPr>
      </p:sp>
      <p:sp>
        <p:nvSpPr>
          <p:cNvPr id="11" name="Text 9"/>
          <p:cNvSpPr/>
          <p:nvPr/>
        </p:nvSpPr>
        <p:spPr>
          <a:xfrm>
            <a:off x="932688" y="5074920"/>
            <a:ext cx="1068019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Mêmes résultats  </a:t>
            </a:r>
            <a:r>
              <a:rPr lang="en-US" sz="1450" dirty="0">
                <a:solidFill>
                  <a:srgbClr val="8B949E"/>
                </a:solidFill>
                <a:latin typeface="Calibri" pitchFamily="34" charset="0"/>
                <a:ea typeface="Calibri" pitchFamily="34" charset="-122"/>
                <a:cs typeface="Calibri" pitchFamily="34" charset="-120"/>
              </a:rPr>
              <a:t>les deux approches renvoient exactement 11, 2, 1, 5 ... pour les 20 demandes.</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livrables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Documentation et sauvegarde</a:t>
            </a:r>
            <a:endParaRPr lang="en-US" sz="2600" dirty="0"/>
          </a:p>
        </p:txBody>
      </p:sp>
      <p:sp>
        <p:nvSpPr>
          <p:cNvPr id="4" name="Shape 2"/>
          <p:cNvSpPr/>
          <p:nvPr/>
        </p:nvSpPr>
        <p:spPr>
          <a:xfrm>
            <a:off x="548640" y="1828800"/>
            <a:ext cx="5486400" cy="4023360"/>
          </a:xfrm>
          <a:prstGeom prst="roundRect">
            <a:avLst>
              <a:gd name="adj" fmla="val 1364"/>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5" name="Text 3"/>
          <p:cNvSpPr/>
          <p:nvPr/>
        </p:nvSpPr>
        <p:spPr>
          <a:xfrm>
            <a:off x="822960" y="2103120"/>
            <a:ext cx="4937760" cy="457200"/>
          </a:xfrm>
          <a:prstGeom prst="rect">
            <a:avLst/>
          </a:prstGeom>
          <a:noFill/>
          <a:ln/>
        </p:spPr>
        <p:txBody>
          <a:bodyPr wrap="square" lIns="0" tIns="0" rIns="0" bIns="0" rtlCol="0" anchor="ctr"/>
          <a:lstStyle/>
          <a:p>
            <a:pPr marL="0" indent="0">
              <a:buNone/>
            </a:pPr>
            <a:r>
              <a:rPr lang="en-US" sz="1600" b="1" dirty="0">
                <a:solidFill>
                  <a:srgbClr val="FF7B72"/>
                </a:solidFill>
                <a:latin typeface="Consolas" pitchFamily="34" charset="0"/>
                <a:ea typeface="Consolas" pitchFamily="34" charset="-122"/>
                <a:cs typeface="Consolas" pitchFamily="34" charset="-120"/>
              </a:rPr>
              <a:t>Documentation des requêtes</a:t>
            </a:r>
            <a:endParaRPr lang="en-US" sz="1600" dirty="0"/>
          </a:p>
        </p:txBody>
      </p:sp>
      <p:sp>
        <p:nvSpPr>
          <p:cNvPr id="6" name="Text 4"/>
          <p:cNvSpPr/>
          <p:nvPr/>
        </p:nvSpPr>
        <p:spPr>
          <a:xfrm>
            <a:off x="822960" y="2697480"/>
            <a:ext cx="4937760" cy="2926080"/>
          </a:xfrm>
          <a:prstGeom prst="rect">
            <a:avLst/>
          </a:prstGeom>
          <a:noFill/>
          <a:ln/>
        </p:spPr>
        <p:txBody>
          <a:bodyPr wrap="square" lIns="0" tIns="0" rIns="0" bIns="0" rtlCol="0" anchor="t"/>
          <a:lstStyle/>
          <a:p>
            <a:pPr marL="0" indent="0">
              <a:lnSpc>
                <a:spcPct val="115000"/>
              </a:lnSpc>
              <a:buNone/>
            </a:pPr>
            <a:r>
              <a:rPr lang="en-US" sz="1450" dirty="0">
                <a:solidFill>
                  <a:srgbClr val="8B949E"/>
                </a:solidFill>
                <a:latin typeface="Calibri" pitchFamily="34" charset="0"/>
                <a:ea typeface="Calibri" pitchFamily="34" charset="-122"/>
                <a:cs typeface="Calibri" pitchFamily="34" charset="-120"/>
              </a:rPr>
              <a:t>Un fichier Excel documente les 20 demandes : </a:t>
            </a:r>
            <a:r>
              <a:rPr lang="en-US" sz="1450" b="1" dirty="0">
                <a:solidFill>
                  <a:srgbClr val="E6EDF3"/>
                </a:solidFill>
                <a:latin typeface="Calibri" pitchFamily="34" charset="0"/>
                <a:ea typeface="Calibri" pitchFamily="34" charset="-122"/>
                <a:cs typeface="Calibri" pitchFamily="34" charset="-120"/>
              </a:rPr>
              <a:t>but, paramètres, résultat escompté et résultat obtenu </a:t>
            </a:r>
            <a:r>
              <a:rPr lang="en-US" sz="1450" dirty="0">
                <a:solidFill>
                  <a:srgbClr val="8B949E"/>
                </a:solidFill>
                <a:latin typeface="Calibri" pitchFamily="34" charset="0"/>
                <a:ea typeface="Calibri" pitchFamily="34" charset="-122"/>
                <a:cs typeface="Calibri" pitchFamily="34" charset="-120"/>
              </a:rPr>
              <a:t>(les vrais comptes sur la base).</a:t>
            </a:r>
            <a:endParaRPr lang="en-US" sz="1450" dirty="0"/>
          </a:p>
        </p:txBody>
      </p:sp>
      <p:sp>
        <p:nvSpPr>
          <p:cNvPr id="7" name="Shape 5"/>
          <p:cNvSpPr/>
          <p:nvPr/>
        </p:nvSpPr>
        <p:spPr>
          <a:xfrm>
            <a:off x="6172200" y="1828800"/>
            <a:ext cx="5440680" cy="4023360"/>
          </a:xfrm>
          <a:prstGeom prst="roundRect">
            <a:avLst>
              <a:gd name="adj" fmla="val 1364"/>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8" name="Text 6"/>
          <p:cNvSpPr/>
          <p:nvPr/>
        </p:nvSpPr>
        <p:spPr>
          <a:xfrm>
            <a:off x="6446520" y="2103120"/>
            <a:ext cx="4937760" cy="457200"/>
          </a:xfrm>
          <a:prstGeom prst="rect">
            <a:avLst/>
          </a:prstGeom>
          <a:noFill/>
          <a:ln/>
        </p:spPr>
        <p:txBody>
          <a:bodyPr wrap="square" lIns="0" tIns="0" rIns="0" bIns="0" rtlCol="0" anchor="ctr"/>
          <a:lstStyle/>
          <a:p>
            <a:pPr marL="0" indent="0">
              <a:buNone/>
            </a:pPr>
            <a:r>
              <a:rPr lang="en-US" sz="1600" b="1" dirty="0">
                <a:solidFill>
                  <a:srgbClr val="FF7B72"/>
                </a:solidFill>
                <a:latin typeface="Consolas" pitchFamily="34" charset="0"/>
                <a:ea typeface="Consolas" pitchFamily="34" charset="-122"/>
                <a:cs typeface="Consolas" pitchFamily="34" charset="-120"/>
              </a:rPr>
              <a:t>Sauvegarde complète (dump)</a:t>
            </a:r>
            <a:endParaRPr lang="en-US" sz="1600" dirty="0"/>
          </a:p>
        </p:txBody>
      </p:sp>
      <p:sp>
        <p:nvSpPr>
          <p:cNvPr id="9" name="Text 7"/>
          <p:cNvSpPr/>
          <p:nvPr/>
        </p:nvSpPr>
        <p:spPr>
          <a:xfrm>
            <a:off x="6446520" y="2697480"/>
            <a:ext cx="4937760" cy="2926080"/>
          </a:xfrm>
          <a:prstGeom prst="rect">
            <a:avLst/>
          </a:prstGeom>
          <a:noFill/>
          <a:ln/>
        </p:spPr>
        <p:txBody>
          <a:bodyPr wrap="square" lIns="0" tIns="0" rIns="0" bIns="0" rtlCol="0" anchor="t"/>
          <a:lstStyle/>
          <a:p>
            <a:pPr marL="0" indent="0">
              <a:lnSpc>
                <a:spcPct val="115000"/>
              </a:lnSpc>
              <a:buNone/>
            </a:pPr>
            <a:r>
              <a:rPr lang="en-US" sz="1450" dirty="0">
                <a:solidFill>
                  <a:srgbClr val="8B949E"/>
                </a:solidFill>
                <a:latin typeface="Calibri" pitchFamily="34" charset="0"/>
                <a:ea typeface="Calibri" pitchFamily="34" charset="-122"/>
                <a:cs typeface="Calibri" pitchFamily="34" charset="-120"/>
              </a:rPr>
              <a:t>Une copie intégrale de la base au format </a:t>
            </a:r>
            <a:r>
              <a:rPr lang="en-US" sz="1450" b="1" dirty="0">
                <a:solidFill>
                  <a:srgbClr val="79C0FF"/>
                </a:solidFill>
                <a:latin typeface="Calibri" pitchFamily="34" charset="0"/>
                <a:ea typeface="Calibri" pitchFamily="34" charset="-122"/>
                <a:cs typeface="Calibri" pitchFamily="34" charset="-120"/>
              </a:rPr>
              <a:t>.bak</a:t>
            </a:r>
            <a:r>
              <a:rPr lang="en-US" sz="1450" dirty="0">
                <a:solidFill>
                  <a:srgbClr val="8B949E"/>
                </a:solidFill>
                <a:latin typeface="Calibri" pitchFamily="34" charset="0"/>
                <a:ea typeface="Calibri" pitchFamily="34" charset="-122"/>
                <a:cs typeface="Calibri" pitchFamily="34" charset="-120"/>
              </a:rPr>
              <a:t>, restaurable sur n'importe quel serveur SQL Server, déposée sur GitHub avec tout le projet.</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731520" y="640080"/>
            <a:ext cx="10058400" cy="365760"/>
          </a:xfrm>
          <a:prstGeom prst="rect">
            <a:avLst/>
          </a:prstGeom>
          <a:noFill/>
          <a:ln/>
        </p:spPr>
        <p:txBody>
          <a:bodyPr wrap="square" lIns="0" tIns="0" rIns="0" bIns="0" rtlCol="0" anchor="ctr"/>
          <a:lstStyle/>
          <a:p>
            <a:pPr marL="0" indent="0">
              <a:buNone/>
            </a:pPr>
            <a:r>
              <a:rPr lang="en-US" sz="1500" dirty="0">
                <a:solidFill>
                  <a:srgbClr val="7EE787"/>
                </a:solidFill>
                <a:latin typeface="Consolas" pitchFamily="34" charset="0"/>
                <a:ea typeface="Consolas" pitchFamily="34" charset="-122"/>
                <a:cs typeface="Consolas" pitchFamily="34" charset="-120"/>
              </a:rPr>
              <a:t>// bilan</a:t>
            </a:r>
            <a:endParaRPr lang="en-US" sz="1500" dirty="0"/>
          </a:p>
        </p:txBody>
      </p:sp>
      <p:sp>
        <p:nvSpPr>
          <p:cNvPr id="3" name="Text 1"/>
          <p:cNvSpPr/>
          <p:nvPr/>
        </p:nvSpPr>
        <p:spPr>
          <a:xfrm>
            <a:off x="731520" y="1005840"/>
            <a:ext cx="10515600" cy="73152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Ce que ce projet m'a apporté</a:t>
            </a:r>
            <a:endParaRPr lang="en-US" sz="3000" dirty="0"/>
          </a:p>
        </p:txBody>
      </p:sp>
      <p:sp>
        <p:nvSpPr>
          <p:cNvPr id="4" name="Shape 2"/>
          <p:cNvSpPr/>
          <p:nvPr/>
        </p:nvSpPr>
        <p:spPr>
          <a:xfrm>
            <a:off x="777240" y="2359152"/>
            <a:ext cx="128016" cy="128016"/>
          </a:xfrm>
          <a:prstGeom prst="rect">
            <a:avLst/>
          </a:prstGeom>
          <a:solidFill>
            <a:srgbClr val="FF7B72"/>
          </a:solidFill>
          <a:ln/>
        </p:spPr>
      </p:sp>
      <p:sp>
        <p:nvSpPr>
          <p:cNvPr id="5" name="Text 3"/>
          <p:cNvSpPr/>
          <p:nvPr/>
        </p:nvSpPr>
        <p:spPr>
          <a:xfrm>
            <a:off x="1097280" y="2258568"/>
            <a:ext cx="10332720" cy="548640"/>
          </a:xfrm>
          <a:prstGeom prst="rect">
            <a:avLst/>
          </a:prstGeom>
          <a:noFill/>
          <a:ln/>
        </p:spPr>
        <p:txBody>
          <a:bodyPr wrap="square" lIns="0" tIns="0" rIns="0" bIns="0" rtlCol="0" anchor="t"/>
          <a:lstStyle/>
          <a:p>
            <a:pPr marL="0" indent="0">
              <a:buNone/>
            </a:pPr>
            <a:r>
              <a:rPr lang="en-US" sz="1600" b="1" dirty="0">
                <a:solidFill>
                  <a:srgbClr val="E6EDF3"/>
                </a:solidFill>
                <a:latin typeface="Calibri" pitchFamily="34" charset="0"/>
                <a:ea typeface="Calibri" pitchFamily="34" charset="-122"/>
                <a:cs typeface="Calibri" pitchFamily="34" charset="-120"/>
              </a:rPr>
              <a:t>Modélisation  </a:t>
            </a:r>
            <a:r>
              <a:rPr lang="en-US" sz="1600" dirty="0">
                <a:solidFill>
                  <a:srgbClr val="8B949E"/>
                </a:solidFill>
                <a:latin typeface="Calibri" pitchFamily="34" charset="0"/>
                <a:ea typeface="Calibri" pitchFamily="34" charset="-122"/>
                <a:cs typeface="Calibri" pitchFamily="34" charset="-120"/>
              </a:rPr>
              <a:t>concevoir un schéma normalisé (3e forme normale) à partir d'un besoin.</a:t>
            </a:r>
            <a:endParaRPr lang="en-US" sz="1600" dirty="0"/>
          </a:p>
        </p:txBody>
      </p:sp>
      <p:sp>
        <p:nvSpPr>
          <p:cNvPr id="6" name="Shape 4"/>
          <p:cNvSpPr/>
          <p:nvPr/>
        </p:nvSpPr>
        <p:spPr>
          <a:xfrm>
            <a:off x="777240" y="3273552"/>
            <a:ext cx="128016" cy="128016"/>
          </a:xfrm>
          <a:prstGeom prst="rect">
            <a:avLst/>
          </a:prstGeom>
          <a:solidFill>
            <a:srgbClr val="FF7B72"/>
          </a:solidFill>
          <a:ln/>
        </p:spPr>
      </p:sp>
      <p:sp>
        <p:nvSpPr>
          <p:cNvPr id="7" name="Text 5"/>
          <p:cNvSpPr/>
          <p:nvPr/>
        </p:nvSpPr>
        <p:spPr>
          <a:xfrm>
            <a:off x="1097280" y="3172968"/>
            <a:ext cx="10332720" cy="548640"/>
          </a:xfrm>
          <a:prstGeom prst="rect">
            <a:avLst/>
          </a:prstGeom>
          <a:noFill/>
          <a:ln/>
        </p:spPr>
        <p:txBody>
          <a:bodyPr wrap="square" lIns="0" tIns="0" rIns="0" bIns="0" rtlCol="0" anchor="t"/>
          <a:lstStyle/>
          <a:p>
            <a:pPr marL="0" indent="0">
              <a:buNone/>
            </a:pPr>
            <a:r>
              <a:rPr lang="en-US" sz="1600" b="1" dirty="0">
                <a:solidFill>
                  <a:srgbClr val="E6EDF3"/>
                </a:solidFill>
                <a:latin typeface="Calibri" pitchFamily="34" charset="0"/>
                <a:ea typeface="Calibri" pitchFamily="34" charset="-122"/>
                <a:cs typeface="Calibri" pitchFamily="34" charset="-120"/>
              </a:rPr>
              <a:t>Code-First avec EF Core  </a:t>
            </a:r>
            <a:r>
              <a:rPr lang="en-US" sz="1600" dirty="0">
                <a:solidFill>
                  <a:srgbClr val="8B949E"/>
                </a:solidFill>
                <a:latin typeface="Calibri" pitchFamily="34" charset="0"/>
                <a:ea typeface="Calibri" pitchFamily="34" charset="-122"/>
                <a:cs typeface="Calibri" pitchFamily="34" charset="-120"/>
              </a:rPr>
              <a:t>des classes C# à la vraie base de données.</a:t>
            </a:r>
            <a:endParaRPr lang="en-US" sz="1600" dirty="0"/>
          </a:p>
        </p:txBody>
      </p:sp>
      <p:sp>
        <p:nvSpPr>
          <p:cNvPr id="8" name="Shape 6"/>
          <p:cNvSpPr/>
          <p:nvPr/>
        </p:nvSpPr>
        <p:spPr>
          <a:xfrm>
            <a:off x="777240" y="4187952"/>
            <a:ext cx="128016" cy="128016"/>
          </a:xfrm>
          <a:prstGeom prst="rect">
            <a:avLst/>
          </a:prstGeom>
          <a:solidFill>
            <a:srgbClr val="FF7B72"/>
          </a:solidFill>
          <a:ln/>
        </p:spPr>
      </p:sp>
      <p:sp>
        <p:nvSpPr>
          <p:cNvPr id="9" name="Text 7"/>
          <p:cNvSpPr/>
          <p:nvPr/>
        </p:nvSpPr>
        <p:spPr>
          <a:xfrm>
            <a:off x="1097280" y="4087368"/>
            <a:ext cx="10332720" cy="548640"/>
          </a:xfrm>
          <a:prstGeom prst="rect">
            <a:avLst/>
          </a:prstGeom>
          <a:noFill/>
          <a:ln/>
        </p:spPr>
        <p:txBody>
          <a:bodyPr wrap="square" lIns="0" tIns="0" rIns="0" bIns="0" rtlCol="0" anchor="t"/>
          <a:lstStyle/>
          <a:p>
            <a:pPr marL="0" indent="0">
              <a:buNone/>
            </a:pPr>
            <a:r>
              <a:rPr lang="en-US" sz="1600" b="1" dirty="0">
                <a:solidFill>
                  <a:srgbClr val="E6EDF3"/>
                </a:solidFill>
                <a:latin typeface="Calibri" pitchFamily="34" charset="0"/>
                <a:ea typeface="Calibri" pitchFamily="34" charset="-122"/>
                <a:cs typeface="Calibri" pitchFamily="34" charset="-120"/>
              </a:rPr>
              <a:t>Interrogation  </a:t>
            </a:r>
            <a:r>
              <a:rPr lang="en-US" sz="1600" dirty="0">
                <a:solidFill>
                  <a:srgbClr val="8B949E"/>
                </a:solidFill>
                <a:latin typeface="Calibri" pitchFamily="34" charset="0"/>
                <a:ea typeface="Calibri" pitchFamily="34" charset="-122"/>
                <a:cs typeface="Calibri" pitchFamily="34" charset="-120"/>
              </a:rPr>
              <a:t>LINQ et SQL, </a:t>
            </a:r>
            <a:r>
              <a:rPr lang="en-US" sz="1600">
                <a:solidFill>
                  <a:srgbClr val="8B949E"/>
                </a:solidFill>
                <a:latin typeface="Calibri" pitchFamily="34" charset="0"/>
                <a:ea typeface="Calibri" pitchFamily="34" charset="-122"/>
                <a:cs typeface="Calibri" pitchFamily="34" charset="-120"/>
              </a:rPr>
              <a:t>et l'optimisation </a:t>
            </a:r>
            <a:r>
              <a:rPr lang="en-US" sz="1600" dirty="0">
                <a:solidFill>
                  <a:srgbClr val="8B949E"/>
                </a:solidFill>
                <a:latin typeface="Calibri" pitchFamily="34" charset="0"/>
                <a:ea typeface="Calibri" pitchFamily="34" charset="-122"/>
                <a:cs typeface="Calibri" pitchFamily="34" charset="-120"/>
              </a:rPr>
              <a:t>des requêtes.</a:t>
            </a:r>
            <a:endParaRPr lang="en-US" sz="1600" dirty="0"/>
          </a:p>
        </p:txBody>
      </p:sp>
      <p:sp>
        <p:nvSpPr>
          <p:cNvPr id="10" name="Shape 8"/>
          <p:cNvSpPr/>
          <p:nvPr/>
        </p:nvSpPr>
        <p:spPr>
          <a:xfrm>
            <a:off x="777240" y="5102352"/>
            <a:ext cx="128016" cy="128016"/>
          </a:xfrm>
          <a:prstGeom prst="rect">
            <a:avLst/>
          </a:prstGeom>
          <a:solidFill>
            <a:srgbClr val="FF7B72"/>
          </a:solidFill>
          <a:ln/>
        </p:spPr>
      </p:sp>
      <p:sp>
        <p:nvSpPr>
          <p:cNvPr id="11" name="Text 9"/>
          <p:cNvSpPr/>
          <p:nvPr/>
        </p:nvSpPr>
        <p:spPr>
          <a:xfrm>
            <a:off x="1097280" y="5001768"/>
            <a:ext cx="10332720" cy="548640"/>
          </a:xfrm>
          <a:prstGeom prst="rect">
            <a:avLst/>
          </a:prstGeom>
          <a:noFill/>
          <a:ln/>
        </p:spPr>
        <p:txBody>
          <a:bodyPr wrap="square" lIns="0" tIns="0" rIns="0" bIns="0" rtlCol="0" anchor="t"/>
          <a:lstStyle/>
          <a:p>
            <a:pPr marL="0" indent="0">
              <a:buNone/>
            </a:pPr>
            <a:r>
              <a:rPr lang="en-US" sz="1600" b="1">
                <a:solidFill>
                  <a:srgbClr val="E6EDF3"/>
                </a:solidFill>
                <a:latin typeface="Calibri" pitchFamily="34" charset="0"/>
                <a:ea typeface="Calibri" pitchFamily="34" charset="-122"/>
                <a:cs typeface="Calibri" pitchFamily="34" charset="-120"/>
              </a:rPr>
              <a:t>Livrables  </a:t>
            </a:r>
            <a:r>
              <a:rPr lang="en-US" sz="1600" dirty="0">
                <a:solidFill>
                  <a:srgbClr val="8B949E"/>
                </a:solidFill>
                <a:latin typeface="Calibri" pitchFamily="34" charset="0"/>
                <a:ea typeface="Calibri" pitchFamily="34" charset="-122"/>
                <a:cs typeface="Calibri" pitchFamily="34" charset="-120"/>
              </a:rPr>
              <a:t>documentation, sauvegarde, et un dépôt GitHub clair.</a:t>
            </a:r>
            <a:endParaRPr lang="en-US" sz="1600" dirty="0"/>
          </a:p>
        </p:txBody>
      </p:sp>
      <p:sp>
        <p:nvSpPr>
          <p:cNvPr id="12" name="Text 10"/>
          <p:cNvSpPr/>
          <p:nvPr/>
        </p:nvSpPr>
        <p:spPr>
          <a:xfrm>
            <a:off x="731520" y="6126480"/>
            <a:ext cx="10698480" cy="457200"/>
          </a:xfrm>
          <a:prstGeom prst="rect">
            <a:avLst/>
          </a:prstGeom>
          <a:noFill/>
          <a:ln/>
        </p:spPr>
        <p:txBody>
          <a:bodyPr wrap="square" lIns="0" tIns="0" rIns="0" bIns="0" rtlCol="0" anchor="ctr"/>
          <a:lstStyle/>
          <a:p>
            <a:pPr marL="0" indent="0" algn="ctr">
              <a:buNone/>
            </a:pPr>
            <a:r>
              <a:rPr lang="en-US" sz="2000" b="1" dirty="0">
                <a:solidFill>
                  <a:srgbClr val="7EE787"/>
                </a:solidFill>
                <a:latin typeface="Consolas" pitchFamily="34" charset="0"/>
                <a:ea typeface="Consolas" pitchFamily="34" charset="-122"/>
                <a:cs typeface="Consolas" pitchFamily="34" charset="-120"/>
              </a:rPr>
              <a:t>&gt; </a:t>
            </a:r>
            <a:r>
              <a:rPr lang="en-US" sz="2000" b="1" dirty="0">
                <a:solidFill>
                  <a:srgbClr val="E6EDF3"/>
                </a:solidFill>
                <a:latin typeface="Consolas" pitchFamily="34" charset="0"/>
                <a:ea typeface="Consolas" pitchFamily="34" charset="-122"/>
                <a:cs typeface="Consolas" pitchFamily="34" charset="-120"/>
              </a:rPr>
              <a:t>merci de votre attention  —  vos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468</TotalTime>
  <Words>1721</Words>
  <Application>Microsoft Office PowerPoint</Application>
  <PresentationFormat>Grand écran</PresentationFormat>
  <Paragraphs>169</Paragraphs>
  <Slides>13</Slides>
  <Notes>13</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13</vt:i4>
      </vt:variant>
    </vt:vector>
  </HeadingPairs>
  <TitlesOfParts>
    <vt:vector size="17" baseType="lpstr">
      <vt:lpstr>Arial</vt:lpstr>
      <vt:lpstr>Calibri</vt:lpstr>
      <vt:lpstr>Consolas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NexaWorks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NexaWorks - Base de données de suivi des problèmes</dc:title>
  <dc:subject>PptxGenJS Presentation</dc:subject>
  <dc:creator>Dominique</dc:creator>
  <cp:lastModifiedBy>dominique</cp:lastModifiedBy>
  <cp:revision>18</cp:revision>
  <dcterms:created xsi:type="dcterms:W3CDTF">2026-08-11T17:57:56Z</dcterms:created>
  <dcterms:modified xsi:type="dcterms:W3CDTF">2026-08-12T15:37:31Z</dcterms:modified>
</cp:coreProperties>
</file>